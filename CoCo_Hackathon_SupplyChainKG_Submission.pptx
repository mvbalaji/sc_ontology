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Lst>
  <p:sldSz cy="5143500" cx="9144000"/>
  <p:notesSz cx="6858000" cy="9144000"/>
  <p:embeddedFontLst>
    <p:embeddedFont>
      <p:font typeface="Manrope SemiBold"/>
      <p:regular r:id="rId12"/>
      <p:bold r:id="rId13"/>
    </p:embeddedFont>
    <p:embeddedFont>
      <p:font typeface="Manrope"/>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12" Type="http://schemas.openxmlformats.org/officeDocument/2006/relationships/font" Target="fonts/ManropeSemiBold-regular.fntdata"/><Relationship Id="rId13" Type="http://schemas.openxmlformats.org/officeDocument/2006/relationships/font" Target="fonts/ManropeSemiBold-bold.fntdata"/><Relationship Id="rId14" Type="http://schemas.openxmlformats.org/officeDocument/2006/relationships/font" Target="fonts/Manrope-regular.fntdata"/><Relationship Id="rId15" Type="http://schemas.openxmlformats.org/officeDocument/2006/relationships/font" Target="fonts/Manrope-bold.fntdata"/><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00C2B2"/>
              </a:solidFill>
              <a:ln>
                <a:noFill/>
              </a:ln>
            </c:spPr>
          </c:dPt>
          <c:dPt>
            <c:idx val="1"/>
            <c:spPr>
              <a:solidFill>
                <a:srgbClr val="00C2B2"/>
              </a:solidFill>
              <a:ln>
                <a:noFill/>
              </a:ln>
            </c:spPr>
          </c:dPt>
          <c:dPt>
            <c:idx val="2"/>
            <c:spPr>
              <a:solidFill>
                <a:srgbClr val="00C2B2"/>
              </a:solidFill>
              <a:ln>
                <a:noFill/>
              </a:ln>
            </c:spPr>
          </c:dPt>
          <c:dPt>
            <c:idx val="3"/>
            <c:spPr>
              <a:solidFill>
                <a:srgbClr val="00C2B2"/>
              </a:solidFill>
              <a:ln>
                <a:noFill/>
              </a:ln>
            </c:spPr>
          </c:dPt>
          <c:dPt>
            <c:idx val="4"/>
            <c:spPr>
              <a:solidFill>
                <a:srgbClr val="00C2B2"/>
              </a:solidFill>
              <a:ln>
                <a:noFill/>
              </a:ln>
            </c:spPr>
          </c:dPt>
          <c:dPt>
            <c:idx val="5"/>
            <c:spPr>
              <a:solidFill>
                <a:srgbClr val="00C2B2"/>
              </a:solidFill>
              <a:ln>
                <a:noFill/>
              </a:ln>
            </c:spPr>
          </c:dPt>
          <c:dPt>
            <c:idx val="6"/>
            <c:spPr>
              <a:solidFill>
                <a:srgbClr val="00C2B2"/>
              </a:solidFill>
              <a:ln>
                <a:noFill/>
              </a:ln>
            </c:spPr>
          </c:dPt>
          <c:dPt>
            <c:idx val="7"/>
            <c:spPr>
              <a:solidFill>
                <a:srgbClr val="00C2B2"/>
              </a:solidFill>
              <a:ln>
                <a:noFill/>
              </a:ln>
            </c:spPr>
          </c:dPt>
          <c:dPt>
            <c:idx val="8"/>
            <c:spPr>
              <a:solidFill>
                <a:srgbClr val="00C2B2"/>
              </a:solidFill>
              <a:ln>
                <a:noFill/>
              </a:ln>
            </c:spPr>
          </c:dPt>
          <c:dPt>
            <c:idx val="9"/>
            <c:spPr>
              <a:solidFill>
                <a:srgbClr val="00C2B2"/>
              </a:solidFill>
              <a:ln>
                <a:noFill/>
              </a:ln>
            </c:spPr>
          </c:dPt>
          <c:cat>
            <c:strRef>
              <c:f>Sheet1!$A$2:$A$11</c:f>
              <c:strCache>
                <c:ptCount val="10"/>
                <c:pt idx="0">
                  <c:v>Po Header</c:v>
                </c:pt>
                <c:pt idx="1">
                  <c:v>Dim Part</c:v>
                </c:pt>
                <c:pt idx="2">
                  <c:v>Sales Order Line</c:v>
                </c:pt>
                <c:pt idx="3">
                  <c:v>Supplier Part Approval</c:v>
                </c:pt>
                <c:pt idx="4">
                  <c:v>Po Line</c:v>
                </c:pt>
                <c:pt idx="5">
                  <c:v>Shipment Line</c:v>
                </c:pt>
                <c:pt idx="6">
                  <c:v>Goods Receipt</c:v>
                </c:pt>
                <c:pt idx="7">
                  <c:v>Shipment Milestone Event</c:v>
                </c:pt>
                <c:pt idx="8">
                  <c:v>Iot Sensor Reading</c:v>
                </c:pt>
                <c:pt idx="9">
                  <c:v>Fact Inventory Snapshot</c:v>
                </c:pt>
              </c:strCache>
            </c:strRef>
          </c:cat>
          <c:val>
            <c:numRef>
              <c:f>Sheet1!$B$2:$B$11</c:f>
              <c:numCache>
                <c:formatCode>General</c:formatCode>
                <c:ptCount val="10"/>
                <c:pt idx="0">
                  <c:v>20000</c:v>
                </c:pt>
                <c:pt idx="1">
                  <c:v>30000</c:v>
                </c:pt>
                <c:pt idx="2">
                  <c:v>40000</c:v>
                </c:pt>
                <c:pt idx="3">
                  <c:v>40000</c:v>
                </c:pt>
                <c:pt idx="4">
                  <c:v>60000</c:v>
                </c:pt>
                <c:pt idx="5">
                  <c:v>60000</c:v>
                </c:pt>
                <c:pt idx="6">
                  <c:v>90000</c:v>
                </c:pt>
                <c:pt idx="7">
                  <c:v>252000</c:v>
                </c:pt>
                <c:pt idx="8">
                  <c:v>500000</c:v>
                </c:pt>
                <c:pt idx="9">
                  <c:v>1200000</c:v>
                </c:pt>
              </c:numCache>
            </c:numRef>
          </c:val>
        </c:ser>
        <c:dLbls>
          <c:numFmt formatCode="#,##0" sourceLinked="0"/>
          <c:txPr>
            <a:bodyPr/>
            <a:lstStyle/>
            <a:p>
              <a:pPr>
                <a:defRPr sz="850" b="1">
                  <a:solidFill>
                    <a:srgbClr val="0B122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5DEE9"/>
            </a:solidFill>
          </a:ln>
        </c:spPr>
        <c:txPr>
          <a:bodyPr/>
          <a:lstStyle/>
          <a:p>
            <a:pPr>
              <a:defRPr sz="850">
                <a:solidFill>
                  <a:srgbClr val="0B1220"/>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85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18A0FB"/>
              </a:solidFill>
              <a:ln>
                <a:noFill/>
              </a:ln>
            </c:spPr>
          </c:dPt>
          <c:dPt>
            <c:idx val="1"/>
            <c:spPr>
              <a:solidFill>
                <a:srgbClr val="18A0FB"/>
              </a:solidFill>
              <a:ln>
                <a:noFill/>
              </a:ln>
            </c:spPr>
          </c:dPt>
          <c:dPt>
            <c:idx val="2"/>
            <c:spPr>
              <a:solidFill>
                <a:srgbClr val="18A0FB"/>
              </a:solidFill>
              <a:ln>
                <a:noFill/>
              </a:ln>
            </c:spPr>
          </c:dPt>
          <c:dPt>
            <c:idx val="3"/>
            <c:spPr>
              <a:solidFill>
                <a:srgbClr val="18A0FB"/>
              </a:solidFill>
              <a:ln>
                <a:noFill/>
              </a:ln>
            </c:spPr>
          </c:dPt>
          <c:dPt>
            <c:idx val="4"/>
            <c:spPr>
              <a:solidFill>
                <a:srgbClr val="18A0FB"/>
              </a:solidFill>
              <a:ln>
                <a:noFill/>
              </a:ln>
            </c:spPr>
          </c:dPt>
          <c:dPt>
            <c:idx val="5"/>
            <c:spPr>
              <a:solidFill>
                <a:srgbClr val="18A0FB"/>
              </a:solidFill>
              <a:ln>
                <a:noFill/>
              </a:ln>
            </c:spPr>
          </c:dPt>
          <c:dPt>
            <c:idx val="6"/>
            <c:spPr>
              <a:solidFill>
                <a:srgbClr val="18A0FB"/>
              </a:solidFill>
              <a:ln>
                <a:noFill/>
              </a:ln>
            </c:spPr>
          </c:dPt>
          <c:dPt>
            <c:idx val="7"/>
            <c:spPr>
              <a:solidFill>
                <a:srgbClr val="18A0FB"/>
              </a:solidFill>
              <a:ln>
                <a:noFill/>
              </a:ln>
            </c:spPr>
          </c:dPt>
          <c:dPt>
            <c:idx val="8"/>
            <c:spPr>
              <a:solidFill>
                <a:srgbClr val="18A0FB"/>
              </a:solidFill>
              <a:ln>
                <a:noFill/>
              </a:ln>
            </c:spPr>
          </c:dPt>
          <c:dPt>
            <c:idx val="9"/>
            <c:spPr>
              <a:solidFill>
                <a:srgbClr val="18A0FB"/>
              </a:solidFill>
              <a:ln>
                <a:noFill/>
              </a:ln>
            </c:spPr>
          </c:dPt>
          <c:dPt>
            <c:idx val="10"/>
            <c:spPr>
              <a:solidFill>
                <a:srgbClr val="18A0FB"/>
              </a:solidFill>
              <a:ln>
                <a:noFill/>
              </a:ln>
            </c:spPr>
          </c:dPt>
          <c:dPt>
            <c:idx val="11"/>
            <c:spPr>
              <a:solidFill>
                <a:srgbClr val="18A0FB"/>
              </a:solidFill>
              <a:ln>
                <a:noFill/>
              </a:ln>
            </c:spPr>
          </c:dPt>
          <c:cat>
            <c:strRef>
              <c:f>Sheet1!$A$2:$A$13</c:f>
              <c:strCache>
                <c:ptCount val="12"/>
                <c:pt idx="0">
                  <c:v>Commodity</c:v>
                </c:pt>
                <c:pt idx="1">
                  <c:v>Plant</c:v>
                </c:pt>
                <c:pt idx="2">
                  <c:v>Carrier</c:v>
                </c:pt>
                <c:pt idx="3">
                  <c:v>Country</c:v>
                </c:pt>
                <c:pt idx="4">
                  <c:v>Warehouse</c:v>
                </c:pt>
                <c:pt idx="5">
                  <c:v>Port</c:v>
                </c:pt>
                <c:pt idx="6">
                  <c:v>Customer</c:v>
                </c:pt>
                <c:pt idx="7">
                  <c:v>Lane</c:v>
                </c:pt>
                <c:pt idx="8">
                  <c:v>Supplier</c:v>
                </c:pt>
                <c:pt idx="9">
                  <c:v>Product</c:v>
                </c:pt>
                <c:pt idx="10">
                  <c:v>Supplier Site</c:v>
                </c:pt>
                <c:pt idx="11">
                  <c:v>Part</c:v>
                </c:pt>
              </c:strCache>
            </c:strRef>
          </c:cat>
          <c:val>
            <c:numRef>
              <c:f>Sheet1!$B$2:$B$13</c:f>
              <c:numCache>
                <c:formatCode>General</c:formatCode>
                <c:ptCount val="12"/>
                <c:pt idx="0">
                  <c:v>12</c:v>
                </c:pt>
                <c:pt idx="1">
                  <c:v>12</c:v>
                </c:pt>
                <c:pt idx="2">
                  <c:v>20</c:v>
                </c:pt>
                <c:pt idx="3">
                  <c:v>24</c:v>
                </c:pt>
                <c:pt idx="4">
                  <c:v>25</c:v>
                </c:pt>
                <c:pt idx="5">
                  <c:v>40</c:v>
                </c:pt>
                <c:pt idx="6">
                  <c:v>80</c:v>
                </c:pt>
                <c:pt idx="7">
                  <c:v>200</c:v>
                </c:pt>
                <c:pt idx="8">
                  <c:v>500</c:v>
                </c:pt>
                <c:pt idx="9">
                  <c:v>500</c:v>
                </c:pt>
                <c:pt idx="10">
                  <c:v>1200</c:v>
                </c:pt>
                <c:pt idx="11">
                  <c:v>5000</c:v>
                </c:pt>
              </c:numCache>
            </c:numRef>
          </c:val>
        </c:ser>
        <c:dLbls>
          <c:numFmt formatCode="#,##0" sourceLinked="0"/>
          <c:txPr>
            <a:bodyPr/>
            <a:lstStyle/>
            <a:p>
              <a:pPr>
                <a:defRPr sz="850" b="1">
                  <a:solidFill>
                    <a:srgbClr val="0B122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5DEE9"/>
            </a:solidFill>
          </a:ln>
        </c:spPr>
        <c:txPr>
          <a:bodyPr/>
          <a:lstStyle/>
          <a:p>
            <a:pPr>
              <a:defRPr sz="850">
                <a:solidFill>
                  <a:srgbClr val="0B1220"/>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85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8A5CF6"/>
              </a:solidFill>
              <a:ln>
                <a:noFill/>
              </a:ln>
            </c:spPr>
          </c:dPt>
          <c:dPt>
            <c:idx val="1"/>
            <c:spPr>
              <a:solidFill>
                <a:srgbClr val="8A5CF6"/>
              </a:solidFill>
              <a:ln>
                <a:noFill/>
              </a:ln>
            </c:spPr>
          </c:dPt>
          <c:dPt>
            <c:idx val="2"/>
            <c:spPr>
              <a:solidFill>
                <a:srgbClr val="8A5CF6"/>
              </a:solidFill>
              <a:ln>
                <a:noFill/>
              </a:ln>
            </c:spPr>
          </c:dPt>
          <c:dPt>
            <c:idx val="3"/>
            <c:spPr>
              <a:solidFill>
                <a:srgbClr val="8A5CF6"/>
              </a:solidFill>
              <a:ln>
                <a:noFill/>
              </a:ln>
            </c:spPr>
          </c:dPt>
          <c:dPt>
            <c:idx val="4"/>
            <c:spPr>
              <a:solidFill>
                <a:srgbClr val="8A5CF6"/>
              </a:solidFill>
              <a:ln>
                <a:noFill/>
              </a:ln>
            </c:spPr>
          </c:dPt>
          <c:dPt>
            <c:idx val="5"/>
            <c:spPr>
              <a:solidFill>
                <a:srgbClr val="8A5CF6"/>
              </a:solidFill>
              <a:ln>
                <a:noFill/>
              </a:ln>
            </c:spPr>
          </c:dPt>
          <c:dPt>
            <c:idx val="6"/>
            <c:spPr>
              <a:solidFill>
                <a:srgbClr val="8A5CF6"/>
              </a:solidFill>
              <a:ln>
                <a:noFill/>
              </a:ln>
            </c:spPr>
          </c:dPt>
          <c:dPt>
            <c:idx val="7"/>
            <c:spPr>
              <a:solidFill>
                <a:srgbClr val="8A5CF6"/>
              </a:solidFill>
              <a:ln>
                <a:noFill/>
              </a:ln>
            </c:spPr>
          </c:dPt>
          <c:dPt>
            <c:idx val="8"/>
            <c:spPr>
              <a:solidFill>
                <a:srgbClr val="8A5CF6"/>
              </a:solidFill>
              <a:ln>
                <a:noFill/>
              </a:ln>
            </c:spPr>
          </c:dPt>
          <c:dPt>
            <c:idx val="9"/>
            <c:spPr>
              <a:solidFill>
                <a:srgbClr val="8A5CF6"/>
              </a:solidFill>
              <a:ln>
                <a:noFill/>
              </a:ln>
            </c:spPr>
          </c:dPt>
          <c:cat>
            <c:strRef>
              <c:f>Sheet1!$A$2:$A$11</c:f>
              <c:strCache>
                <c:ptCount val="10"/>
                <c:pt idx="0">
                  <c:v>Lane To Dest</c:v>
                </c:pt>
                <c:pt idx="1">
                  <c:v>Origin Of Lane</c:v>
                </c:pt>
                <c:pt idx="2">
                  <c:v>Supplier In Country</c:v>
                </c:pt>
                <c:pt idx="3">
                  <c:v>Ships To</c:v>
                </c:pt>
                <c:pt idx="4">
                  <c:v>Has Site</c:v>
                </c:pt>
                <c:pt idx="5">
                  <c:v>Component Of</c:v>
                </c:pt>
                <c:pt idx="6">
                  <c:v>Operates Lane</c:v>
                </c:pt>
                <c:pt idx="7">
                  <c:v>Classified As</c:v>
                </c:pt>
                <c:pt idx="8">
                  <c:v>Supplies To</c:v>
                </c:pt>
                <c:pt idx="9">
                  <c:v>Approved Source</c:v>
                </c:pt>
              </c:strCache>
            </c:strRef>
          </c:cat>
          <c:val>
            <c:numRef>
              <c:f>Sheet1!$B$2:$B$11</c:f>
              <c:numCache>
                <c:formatCode>General</c:formatCode>
                <c:ptCount val="10"/>
                <c:pt idx="0">
                  <c:v>200</c:v>
                </c:pt>
                <c:pt idx="1">
                  <c:v>200</c:v>
                </c:pt>
                <c:pt idx="2">
                  <c:v>500</c:v>
                </c:pt>
                <c:pt idx="3">
                  <c:v>960</c:v>
                </c:pt>
                <c:pt idx="4">
                  <c:v>1200</c:v>
                </c:pt>
                <c:pt idx="5">
                  <c:v>2508</c:v>
                </c:pt>
                <c:pt idx="6">
                  <c:v>3323</c:v>
                </c:pt>
                <c:pt idx="7">
                  <c:v>5000</c:v>
                </c:pt>
                <c:pt idx="8">
                  <c:v>5811</c:v>
                </c:pt>
                <c:pt idx="9">
                  <c:v>6678</c:v>
                </c:pt>
              </c:numCache>
            </c:numRef>
          </c:val>
        </c:ser>
        <c:dLbls>
          <c:numFmt formatCode="#,##0" sourceLinked="0"/>
          <c:txPr>
            <a:bodyPr/>
            <a:lstStyle/>
            <a:p>
              <a:pPr>
                <a:defRPr sz="850" b="1">
                  <a:solidFill>
                    <a:srgbClr val="0B122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5DEE9"/>
            </a:solidFill>
          </a:ln>
        </c:spPr>
        <c:txPr>
          <a:bodyPr/>
          <a:lstStyle/>
          <a:p>
            <a:pPr>
              <a:defRPr sz="850">
                <a:solidFill>
                  <a:srgbClr val="0B1220"/>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85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c:v>
                </c:pt>
              </c:strCache>
            </c:strRef>
          </c:tx>
          <c:dPt>
            <c:idx val="0"/>
            <c:spPr>
              <a:solidFill>
                <a:srgbClr val="F5A623"/>
              </a:solidFill>
              <a:ln>
                <a:noFill/>
              </a:ln>
            </c:spPr>
          </c:dPt>
          <c:dPt>
            <c:idx val="1"/>
            <c:spPr>
              <a:solidFill>
                <a:srgbClr val="E4572E"/>
              </a:solidFill>
              <a:ln>
                <a:noFill/>
              </a:ln>
            </c:spPr>
          </c:dPt>
          <c:dPt>
            <c:idx val="2"/>
            <c:spPr>
              <a:solidFill>
                <a:srgbClr val="8A5CF6"/>
              </a:solidFill>
              <a:ln>
                <a:noFill/>
              </a:ln>
            </c:spPr>
          </c:dPt>
          <c:dPt>
            <c:idx val="3"/>
            <c:spPr>
              <a:solidFill>
                <a:srgbClr val="18A0FB"/>
              </a:solidFill>
              <a:ln>
                <a:noFill/>
              </a:ln>
            </c:spPr>
          </c:dPt>
          <c:dPt>
            <c:idx val="4"/>
            <c:spPr>
              <a:solidFill>
                <a:srgbClr val="00C2B2"/>
              </a:solidFill>
              <a:ln>
                <a:noFill/>
              </a:ln>
            </c:spPr>
          </c:dPt>
          <c:cat>
            <c:strRef>
              <c:f>Sheet1!$A$2:$A$6</c:f>
              <c:strCache>
                <c:ptCount val="5"/>
                <c:pt idx="0">
                  <c:v>Contract</c:v>
                </c:pt>
                <c:pt idx="1">
                  <c:v>Ncr</c:v>
                </c:pt>
                <c:pt idx="2">
                  <c:v>Scorecard</c:v>
                </c:pt>
                <c:pt idx="3">
                  <c:v>Alert</c:v>
                </c:pt>
                <c:pt idx="4">
                  <c:v>Eco</c:v>
                </c:pt>
              </c:strCache>
            </c:strRef>
          </c:cat>
          <c:val>
            <c:numRef>
              <c:f>Sheet1!$B$2:$B$6</c:f>
              <c:numCache>
                <c:formatCode>General</c:formatCode>
                <c:ptCount val="5"/>
                <c:pt idx="0">
                  <c:v>3</c:v>
                </c:pt>
                <c:pt idx="1">
                  <c:v>2</c:v>
                </c:pt>
                <c:pt idx="2">
                  <c:v>2</c:v>
                </c:pt>
                <c:pt idx="3">
                  <c:v>2</c:v>
                </c:pt>
                <c:pt idx="4">
                  <c:v>1</c:v>
                </c:pt>
              </c:numCache>
            </c:numRef>
          </c:val>
        </c:ser>
        <c:dLbls>
          <c:numFmt formatCode="#,##0" sourceLinked="0"/>
          <c:txPr>
            <a:bodyPr/>
            <a:lstStyle/>
            <a:p>
              <a:pPr>
                <a:defRPr sz="850" b="1">
                  <a:solidFill>
                    <a:srgbClr val="0B122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E9"/>
            </a:solidFill>
          </a:ln>
        </c:spPr>
        <c:txPr>
          <a:bodyPr/>
          <a:lstStyle/>
          <a:p>
            <a:pPr>
              <a:defRPr sz="800">
                <a:solidFill>
                  <a:srgbClr val="0B1220"/>
                </a:solidFill>
                <a:latin typeface="Calibri"/>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85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0B6FC4"/>
              </a:solidFill>
              <a:ln>
                <a:noFill/>
              </a:ln>
            </c:spPr>
          </c:dPt>
          <c:dPt>
            <c:idx val="1"/>
            <c:spPr>
              <a:solidFill>
                <a:srgbClr val="0B6FC4"/>
              </a:solidFill>
              <a:ln>
                <a:noFill/>
              </a:ln>
            </c:spPr>
          </c:dPt>
          <c:dPt>
            <c:idx val="2"/>
            <c:spPr>
              <a:solidFill>
                <a:srgbClr val="0B6FC4"/>
              </a:solidFill>
              <a:ln>
                <a:noFill/>
              </a:ln>
            </c:spPr>
          </c:dPt>
          <c:dPt>
            <c:idx val="3"/>
            <c:spPr>
              <a:solidFill>
                <a:srgbClr val="0B6FC4"/>
              </a:solidFill>
              <a:ln>
                <a:noFill/>
              </a:ln>
            </c:spPr>
          </c:dPt>
          <c:dPt>
            <c:idx val="4"/>
            <c:spPr>
              <a:solidFill>
                <a:srgbClr val="0B6FC4"/>
              </a:solidFill>
              <a:ln>
                <a:noFill/>
              </a:ln>
            </c:spPr>
          </c:dPt>
          <c:dPt>
            <c:idx val="5"/>
            <c:spPr>
              <a:solidFill>
                <a:srgbClr val="E4572E"/>
              </a:solidFill>
              <a:ln>
                <a:noFill/>
              </a:ln>
            </c:spPr>
          </c:dPt>
          <c:dPt>
            <c:idx val="6"/>
            <c:spPr>
              <a:solidFill>
                <a:srgbClr val="E4572E"/>
              </a:solidFill>
              <a:ln>
                <a:noFill/>
              </a:ln>
            </c:spPr>
          </c:dPt>
          <c:dPt>
            <c:idx val="7"/>
            <c:spPr>
              <a:solidFill>
                <a:srgbClr val="E4572E"/>
              </a:solidFill>
              <a:ln>
                <a:noFill/>
              </a:ln>
            </c:spPr>
          </c:dPt>
          <c:dPt>
            <c:idx val="8"/>
            <c:spPr>
              <a:solidFill>
                <a:srgbClr val="E4572E"/>
              </a:solidFill>
              <a:ln>
                <a:noFill/>
              </a:ln>
            </c:spPr>
          </c:dPt>
          <c:dPt>
            <c:idx val="9"/>
            <c:spPr>
              <a:solidFill>
                <a:srgbClr val="E4572E"/>
              </a:solidFill>
              <a:ln>
                <a:noFill/>
              </a:ln>
            </c:spPr>
          </c:dPt>
          <c:cat>
            <c:strRef>
              <c:f>Sheet1!$A$2:$A$11</c:f>
              <c:strCache>
                <c:ptCount val="10"/>
                <c:pt idx="0">
                  <c:v>TORUS TECHNOLOGIES - Hsinchu</c:v>
                </c:pt>
                <c:pt idx="1">
                  <c:v>COBALT PRECISION - Milan</c:v>
                </c:pt>
                <c:pt idx="2">
                  <c:v>VERTEX MATERIALS - Beijing</c:v>
                </c:pt>
                <c:pt idx="3">
                  <c:v>VERTEX TECHNOLOGIES - Chennai</c:v>
                </c:pt>
                <c:pt idx="4">
                  <c:v>SIGMA COMPONENTS - Buenos Aires</c:v>
                </c:pt>
                <c:pt idx="5">
                  <c:v>CREST SOLUTIONS - Guadalajara</c:v>
                </c:pt>
                <c:pt idx="6">
                  <c:v>CREST MANUFACTURING - Manila</c:v>
                </c:pt>
                <c:pt idx="7">
                  <c:v>QUANTUM COMPONENTS - Stuttgart</c:v>
                </c:pt>
                <c:pt idx="8">
                  <c:v>LAMBDA SEMICONDUCTORS - Guadalajara</c:v>
                </c:pt>
                <c:pt idx="9">
                  <c:v>KAPPA INDUSTRIES - Bogota</c:v>
                </c:pt>
              </c:strCache>
            </c:strRef>
          </c:cat>
          <c:val>
            <c:numRef>
              <c:f>Sheet1!$B$2:$B$11</c:f>
              <c:numCache>
                <c:formatCode>General</c:formatCode>
                <c:ptCount val="10"/>
                <c:pt idx="0">
                  <c:v>12</c:v>
                </c:pt>
                <c:pt idx="1">
                  <c:v>13</c:v>
                </c:pt>
                <c:pt idx="2">
                  <c:v>13</c:v>
                </c:pt>
                <c:pt idx="3">
                  <c:v>13</c:v>
                </c:pt>
                <c:pt idx="4">
                  <c:v>13</c:v>
                </c:pt>
                <c:pt idx="5">
                  <c:v>13</c:v>
                </c:pt>
                <c:pt idx="6">
                  <c:v>14</c:v>
                </c:pt>
                <c:pt idx="7">
                  <c:v>14</c:v>
                </c:pt>
                <c:pt idx="8">
                  <c:v>14</c:v>
                </c:pt>
                <c:pt idx="9">
                  <c:v>15</c:v>
                </c:pt>
              </c:numCache>
            </c:numRef>
          </c:val>
        </c:ser>
        <c:dLbls>
          <c:numFmt formatCode="#,##0" sourceLinked="0"/>
          <c:txPr>
            <a:bodyPr/>
            <a:lstStyle/>
            <a:p>
              <a:pPr>
                <a:defRPr sz="850" b="1">
                  <a:solidFill>
                    <a:srgbClr val="0B122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5DEE9"/>
            </a:solidFill>
          </a:ln>
        </c:spPr>
        <c:txPr>
          <a:bodyPr/>
          <a:lstStyle/>
          <a:p>
            <a:pPr>
              <a:defRPr sz="850">
                <a:solidFill>
                  <a:srgbClr val="0B1220"/>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85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v</c:v>
                </c:pt>
              </c:strCache>
            </c:strRef>
          </c:tx>
          <c:dPt>
            <c:idx val="0"/>
            <c:spPr>
              <a:solidFill>
                <a:srgbClr val="18A0FB"/>
              </a:solidFill>
              <a:ln w="19050">
                <a:solidFill>
                  <a:srgbClr val="FFFFFF"/>
                </a:solidFill>
              </a:ln>
            </c:spPr>
          </c:dPt>
          <c:dPt>
            <c:idx val="1"/>
            <c:spPr>
              <a:solidFill>
                <a:srgbClr val="F5A623"/>
              </a:solidFill>
              <a:ln w="19050">
                <a:solidFill>
                  <a:srgbClr val="FFFFFF"/>
                </a:solidFill>
              </a:ln>
            </c:spPr>
          </c:dPt>
          <c:cat>
            <c:strRef>
              <c:f>Sheet1!$A$2:$A$3</c:f>
              <c:strCache>
                <c:ptCount val="2"/>
                <c:pt idx="0">
                  <c:v>Main component (7,596)</c:v>
                </c:pt>
                <c:pt idx="1">
                  <c:v>17 fragments (17)</c:v>
                </c:pt>
              </c:strCache>
            </c:strRef>
          </c:cat>
          <c:val>
            <c:numRef>
              <c:f>Sheet1!$B$2:$B$3</c:f>
              <c:numCache>
                <c:formatCode>General</c:formatCode>
                <c:ptCount val="2"/>
                <c:pt idx="0">
                  <c:v>7596</c:v>
                </c:pt>
                <c:pt idx="1">
                  <c:v>17</c:v>
                </c:pt>
              </c:numCache>
            </c:numRef>
          </c:val>
        </c:ser>
        <c:dLbls>
          <c:numFmt formatCode="0.0%" sourceLinked="0"/>
          <c:txPr>
            <a:bodyPr/>
            <a:lstStyle/>
            <a:p>
              <a:pPr>
                <a:defRPr sz="900" b="1">
                  <a:solidFill>
                    <a:srgbClr val="FFFFFF"/>
                  </a:solidFill>
                </a:defRPr>
              </a:pPr>
            </a:p>
          </c:txPr>
          <c:showLegendKey val="0"/>
          <c:showVal val="0"/>
          <c:showCatName val="0"/>
          <c:showSerName val="0"/>
          <c:showPercent val="1"/>
          <c:showBubbleSize val="0"/>
          <c:showLeaderLines val="1"/>
        </c:dLbls>
        <c:firstSliceAng val="0"/>
        <c:holeSize val="50"/>
      </c:doughnutChart>
    </c:plotArea>
    <c:legend>
      <c:legendPos val="b"/>
      <c:layout/>
      <c:overlay val="0"/>
    </c:legend>
    <c:plotVisOnly val="1"/>
    <c:dispBlanksAs val="gap"/>
    <c:showDLblsOverMax val="0"/>
  </c:chart>
  <c:txPr>
    <a:bodyPr/>
    <a:lstStyle/>
    <a:p>
      <a:pPr>
        <a:defRPr sz="900">
          <a:latin typeface="Calibri"/>
        </a:defRPr>
      </a:pPr>
      <a:endParaR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18A0FB"/>
              </a:solidFill>
              <a:ln>
                <a:noFill/>
              </a:ln>
            </c:spPr>
          </c:dPt>
          <c:dPt>
            <c:idx val="1"/>
            <c:spPr>
              <a:solidFill>
                <a:srgbClr val="18A0FB"/>
              </a:solidFill>
              <a:ln>
                <a:noFill/>
              </a:ln>
            </c:spPr>
          </c:dPt>
          <c:dPt>
            <c:idx val="2"/>
            <c:spPr>
              <a:solidFill>
                <a:srgbClr val="18A0FB"/>
              </a:solidFill>
              <a:ln>
                <a:noFill/>
              </a:ln>
            </c:spPr>
          </c:dPt>
          <c:dPt>
            <c:idx val="3"/>
            <c:spPr>
              <a:solidFill>
                <a:srgbClr val="18A0FB"/>
              </a:solidFill>
              <a:ln>
                <a:noFill/>
              </a:ln>
            </c:spPr>
          </c:dPt>
          <c:dPt>
            <c:idx val="4"/>
            <c:spPr>
              <a:solidFill>
                <a:srgbClr val="18A0FB"/>
              </a:solidFill>
              <a:ln>
                <a:noFill/>
              </a:ln>
            </c:spPr>
          </c:dPt>
          <c:dPt>
            <c:idx val="5"/>
            <c:spPr>
              <a:solidFill>
                <a:srgbClr val="18A0FB"/>
              </a:solidFill>
              <a:ln>
                <a:noFill/>
              </a:ln>
            </c:spPr>
          </c:dPt>
          <c:dPt>
            <c:idx val="6"/>
            <c:spPr>
              <a:solidFill>
                <a:srgbClr val="18A0FB"/>
              </a:solidFill>
              <a:ln>
                <a:noFill/>
              </a:ln>
            </c:spPr>
          </c:dPt>
          <c:dPt>
            <c:idx val="7"/>
            <c:spPr>
              <a:solidFill>
                <a:srgbClr val="18A0FB"/>
              </a:solidFill>
              <a:ln>
                <a:noFill/>
              </a:ln>
            </c:spPr>
          </c:dPt>
          <c:dPt>
            <c:idx val="8"/>
            <c:spPr>
              <a:solidFill>
                <a:srgbClr val="18A0FB"/>
              </a:solidFill>
              <a:ln>
                <a:noFill/>
              </a:ln>
            </c:spPr>
          </c:dPt>
          <c:dPt>
            <c:idx val="9"/>
            <c:spPr>
              <a:solidFill>
                <a:srgbClr val="18A0FB"/>
              </a:solidFill>
              <a:ln>
                <a:noFill/>
              </a:ln>
            </c:spPr>
          </c:dPt>
          <c:dPt>
            <c:idx val="10"/>
            <c:spPr>
              <a:solidFill>
                <a:srgbClr val="18A0FB"/>
              </a:solidFill>
              <a:ln>
                <a:noFill/>
              </a:ln>
            </c:spPr>
          </c:dPt>
          <c:dPt>
            <c:idx val="11"/>
            <c:spPr>
              <a:solidFill>
                <a:srgbClr val="E4572E"/>
              </a:solidFill>
              <a:ln>
                <a:noFill/>
              </a:ln>
            </c:spPr>
          </c:dPt>
          <c:cat>
            <c:strRef>
              <c:f>Sheet1!$A$2:$A$13</c:f>
              <c:strCache>
                <c:ptCount val="12"/>
                <c:pt idx="0">
                  <c:v>Warehouse</c:v>
                </c:pt>
                <c:pt idx="1">
                  <c:v>Part</c:v>
                </c:pt>
                <c:pt idx="2">
                  <c:v>Product</c:v>
                </c:pt>
                <c:pt idx="3">
                  <c:v>Supplier Site</c:v>
                </c:pt>
                <c:pt idx="4">
                  <c:v>Port</c:v>
                </c:pt>
                <c:pt idx="5">
                  <c:v>Customer</c:v>
                </c:pt>
                <c:pt idx="6">
                  <c:v>Supplier</c:v>
                </c:pt>
                <c:pt idx="7">
                  <c:v>Lane</c:v>
                </c:pt>
                <c:pt idx="8">
                  <c:v>Country</c:v>
                </c:pt>
                <c:pt idx="9">
                  <c:v>Carrier</c:v>
                </c:pt>
                <c:pt idx="10">
                  <c:v>Commodity</c:v>
                </c:pt>
                <c:pt idx="11">
                  <c:v>Plant</c:v>
                </c:pt>
              </c:strCache>
            </c:strRef>
          </c:cat>
          <c:val>
            <c:numRef>
              <c:f>Sheet1!$B$2:$B$13</c:f>
              <c:numCache>
                <c:formatCode>General</c:formatCode>
                <c:ptCount val="12"/>
                <c:pt idx="0">
                  <c:v>0.5</c:v>
                </c:pt>
                <c:pt idx="1">
                  <c:v>2.8</c:v>
                </c:pt>
                <c:pt idx="2">
                  <c:v>5.0</c:v>
                </c:pt>
                <c:pt idx="3">
                  <c:v>6.6</c:v>
                </c:pt>
                <c:pt idx="4">
                  <c:v>11.0</c:v>
                </c:pt>
                <c:pt idx="5">
                  <c:v>13.0</c:v>
                </c:pt>
                <c:pt idx="6">
                  <c:v>15.0</c:v>
                </c:pt>
                <c:pt idx="7">
                  <c:v>18.6</c:v>
                </c:pt>
                <c:pt idx="8">
                  <c:v>26.3</c:v>
                </c:pt>
                <c:pt idx="9">
                  <c:v>166.2</c:v>
                </c:pt>
                <c:pt idx="10">
                  <c:v>416.7</c:v>
                </c:pt>
                <c:pt idx="11">
                  <c:v>566.3</c:v>
                </c:pt>
              </c:numCache>
            </c:numRef>
          </c:val>
        </c:ser>
        <c:dLbls>
          <c:numFmt formatCode="#,##0" sourceLinked="0"/>
          <c:txPr>
            <a:bodyPr/>
            <a:lstStyle/>
            <a:p>
              <a:pPr>
                <a:defRPr sz="850" b="1">
                  <a:solidFill>
                    <a:srgbClr val="0B1220"/>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5DEE9"/>
            </a:solidFill>
          </a:ln>
        </c:spPr>
        <c:txPr>
          <a:bodyPr/>
          <a:lstStyle/>
          <a:p>
            <a:pPr>
              <a:defRPr sz="850">
                <a:solidFill>
                  <a:srgbClr val="0B1220"/>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85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v</c:v>
                </c:pt>
              </c:strCache>
            </c:strRef>
          </c:tx>
          <c:dPt>
            <c:idx val="0"/>
            <c:spPr>
              <a:solidFill>
                <a:srgbClr val="2E9E5B"/>
              </a:solidFill>
              <a:ln w="19050">
                <a:solidFill>
                  <a:srgbClr val="FFFFFF"/>
                </a:solidFill>
              </a:ln>
            </c:spPr>
          </c:dPt>
          <c:dPt>
            <c:idx val="1"/>
            <c:spPr>
              <a:solidFill>
                <a:srgbClr val="F5A623"/>
              </a:solidFill>
              <a:ln w="19050">
                <a:solidFill>
                  <a:srgbClr val="FFFFFF"/>
                </a:solidFill>
              </a:ln>
            </c:spPr>
          </c:dPt>
          <c:cat>
            <c:strRef>
              <c:f>Sheet1!$A$2:$A$3</c:f>
              <c:strCache>
                <c:ptCount val="2"/>
                <c:pt idx="0">
                  <c:v>Exactly correct (9)</c:v>
                </c:pt>
                <c:pt idx="1">
                  <c:v>Off by 2 (1)</c:v>
                </c:pt>
              </c:strCache>
            </c:strRef>
          </c:cat>
          <c:val>
            <c:numRef>
              <c:f>Sheet1!$B$2:$B$3</c:f>
              <c:numCache>
                <c:formatCode>General</c:formatCode>
                <c:ptCount val="2"/>
                <c:pt idx="0">
                  <c:v>9</c:v>
                </c:pt>
                <c:pt idx="1">
                  <c:v>1</c:v>
                </c:pt>
              </c:numCache>
            </c:numRef>
          </c:val>
        </c:ser>
        <c:dLbls>
          <c:numFmt formatCode="0.0%" sourceLinked="0"/>
          <c:txPr>
            <a:bodyPr/>
            <a:lstStyle/>
            <a:p>
              <a:pPr>
                <a:defRPr sz="900" b="1">
                  <a:solidFill>
                    <a:srgbClr val="FFFFFF"/>
                  </a:solidFill>
                </a:defRPr>
              </a:pPr>
            </a:p>
          </c:txPr>
          <c:showLegendKey val="0"/>
          <c:showVal val="0"/>
          <c:showCatName val="0"/>
          <c:showSerName val="0"/>
          <c:showPercent val="1"/>
          <c:showBubbleSize val="0"/>
          <c:showLeaderLines val="1"/>
        </c:dLbls>
        <c:firstSliceAng val="0"/>
        <c:holeSize val="50"/>
      </c:doughnutChart>
    </c:plotArea>
    <c:legend>
      <c:legendPos val="b"/>
      <c:layout/>
      <c:overlay val="0"/>
    </c:legend>
    <c:plotVisOnly val="1"/>
    <c:dispBlanksAs val="gap"/>
    <c:showDLblsOverMax val="0"/>
  </c:chart>
  <c:txPr>
    <a:bodyPr/>
    <a:lstStyle/>
    <a:p>
      <a:pPr>
        <a:defRPr sz="900">
          <a:latin typeface="Calibri"/>
        </a:defRPr>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Opening. Name the idea in one line: a knowledge graph that lives inside Snowflake as ordinary tables.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whole idea on one slide.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Roadmap for the deck.</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Ground the problem in a concrete, expensive scenario.</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named users, each with a question the graph answers.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Pre-empt the obvious question: why not Neo4j? We tried.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Define the term precisely — three properties.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architecture diagram required by the submission template.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Walk one question end to end, with the real timing.</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Which CoCo CLI capabilities did the work. Required by the template.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full base-table inventory with row counts.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How rows become nodes and edges — the core mechanic.</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Headline graph statistics.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Entity mix.</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Relationship mix — this is where the value is.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Explicitly answers: what derived columns were calculated on nodes.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Edge-level derived columns and the analytical views built on them.</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Make the four algorithms legible to a business audience.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semantic view is what makes text-to-SQL reliable.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unstructured half — Cortex Search.</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real slice of the graph, laid out by networkx and drawn natively.</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Criticality evidence 1 — the chokepoints.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Criticality evidence 2 — isolation.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Criticality evidence 3 — where load concentrates.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Direct comparison: SQL-only vs graph.</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What each tool does and what it points at.</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design decision judges should notice.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Conversation memory — how follow-ups resolve.</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landing page: dashboard read straight from the star schema.</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complete answer: prose, table, chart.</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Transparency: the SQL, the rows, and the subgraph.</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unstructured path, same chat.</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Verified question/answer pairs, graph questions.</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Document questions plus the one miss.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accuracy headline, honestly framed.</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Agents 1-6 that can run on this graph.</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Agents 7-10, plus what they share.</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Measurable outcomes — required by the submission template.</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How this scales, and what it costs to scale.</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Honest roadmap: what is built, what is next, what is known-limited.</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Close the credibility loop: what we verified and what we found.</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Close on the single idea.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7.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0.xml"/><Relationship Id="rId4"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1.xml"/><Relationship Id="rId4"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6.xml"/><Relationship Id="rId4" Type="http://schemas.openxmlformats.org/officeDocument/2006/relationships/chart" Target="../charts/char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8.xml"/><Relationship Id="rId4" Type="http://schemas.openxmlformats.org/officeDocument/2006/relationships/chart" Target="../charts/char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9.xml"/><Relationship Id="rId4" Type="http://schemas.openxmlformats.org/officeDocument/2006/relationships/chart" Target="../charts/char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0.xml"/><Relationship Id="rId4" Type="http://schemas.openxmlformats.org/officeDocument/2006/relationships/chart" Target="../charts/char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5.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7.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8.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1.xml"/><Relationship Id="rId4" Type="http://schemas.openxmlformats.org/officeDocument/2006/relationships/chart" Target="../charts/char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48.xml"/></Relationships>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02336" y="3054096"/>
            <a:ext cx="8321040" cy="274320"/>
          </a:xfrm>
          <a:prstGeom prst="rect">
            <a:avLst/>
          </a:prstGeom>
          <a:noFill/>
        </p:spPr>
        <p:txBody>
          <a:bodyPr wrap="square" lIns="0" rIns="0" tIns="0" bIns="0">
            <a:spAutoFit/>
          </a:bodyPr>
          <a:lstStyle/>
          <a:p>
            <a:pPr>
              <a:lnSpc>
                <a:spcPct val="100000"/>
              </a:lnSpc>
              <a:spcAft>
                <a:spcPts val="500"/>
              </a:spcAft>
            </a:pPr>
            <a:r>
              <a:rPr sz="1300" b="1">
                <a:solidFill>
                  <a:srgbClr val="5A6B80"/>
                </a:solidFill>
                <a:latin typeface="Calibri"/>
              </a:rPr>
              <a:t>Team Name :  </a:t>
            </a:r>
            <a:r>
              <a:rPr sz="1300" b="1">
                <a:solidFill>
                  <a:srgbClr val="0B1220"/>
                </a:solidFill>
                <a:latin typeface="Calibri"/>
              </a:rPr>
              <a:t>Graph Runners</a:t>
            </a:r>
          </a:p>
        </p:txBody>
      </p:sp>
      <p:sp>
        <p:nvSpPr>
          <p:cNvPr id="4" name="TextBox 3"/>
          <p:cNvSpPr txBox="1"/>
          <p:nvPr/>
        </p:nvSpPr>
        <p:spPr>
          <a:xfrm>
            <a:off x="402336" y="3383280"/>
            <a:ext cx="8321040" cy="274320"/>
          </a:xfrm>
          <a:prstGeom prst="rect">
            <a:avLst/>
          </a:prstGeom>
          <a:noFill/>
        </p:spPr>
        <p:txBody>
          <a:bodyPr wrap="square" lIns="0" rIns="0" tIns="0" bIns="0">
            <a:spAutoFit/>
          </a:bodyPr>
          <a:lstStyle/>
          <a:p>
            <a:pPr>
              <a:lnSpc>
                <a:spcPct val="100000"/>
              </a:lnSpc>
              <a:spcAft>
                <a:spcPts val="500"/>
              </a:spcAft>
            </a:pPr>
            <a:r>
              <a:rPr sz="1300" b="1">
                <a:solidFill>
                  <a:srgbClr val="5A6B80"/>
                </a:solidFill>
                <a:latin typeface="Calibri"/>
              </a:rPr>
              <a:t>Team Leader Name :  </a:t>
            </a:r>
            <a:r>
              <a:rPr sz="1300" b="1">
                <a:solidFill>
                  <a:srgbClr val="0B1220"/>
                </a:solidFill>
                <a:latin typeface="Calibri"/>
              </a:rPr>
              <a:t>Balaji Venkateswaran</a:t>
            </a:r>
          </a:p>
        </p:txBody>
      </p:sp>
      <p:sp>
        <p:nvSpPr>
          <p:cNvPr id="5" name="TextBox 4"/>
          <p:cNvSpPr txBox="1"/>
          <p:nvPr/>
        </p:nvSpPr>
        <p:spPr>
          <a:xfrm>
            <a:off x="402336" y="3712463"/>
            <a:ext cx="8321040" cy="274320"/>
          </a:xfrm>
          <a:prstGeom prst="rect">
            <a:avLst/>
          </a:prstGeom>
          <a:noFill/>
        </p:spPr>
        <p:txBody>
          <a:bodyPr wrap="square" lIns="0" rIns="0" tIns="0" bIns="0">
            <a:spAutoFit/>
          </a:bodyPr>
          <a:lstStyle/>
          <a:p>
            <a:pPr>
              <a:lnSpc>
                <a:spcPct val="100000"/>
              </a:lnSpc>
              <a:spcAft>
                <a:spcPts val="500"/>
              </a:spcAft>
            </a:pPr>
            <a:r>
              <a:rPr sz="1300" b="1">
                <a:solidFill>
                  <a:srgbClr val="5A6B80"/>
                </a:solidFill>
                <a:latin typeface="Calibri"/>
              </a:rPr>
              <a:t>Team Size :  </a:t>
            </a:r>
            <a:r>
              <a:rPr sz="1300" b="1">
                <a:solidFill>
                  <a:srgbClr val="0B1220"/>
                </a:solidFill>
                <a:latin typeface="Calibri"/>
              </a:rPr>
              <a:t>1</a:t>
            </a:r>
          </a:p>
        </p:txBody>
      </p:sp>
      <p:sp>
        <p:nvSpPr>
          <p:cNvPr id="6" name="TextBox 5"/>
          <p:cNvSpPr txBox="1"/>
          <p:nvPr/>
        </p:nvSpPr>
        <p:spPr>
          <a:xfrm>
            <a:off x="402336" y="4041648"/>
            <a:ext cx="8321040" cy="566928"/>
          </a:xfrm>
          <a:prstGeom prst="rect">
            <a:avLst/>
          </a:prstGeom>
          <a:noFill/>
        </p:spPr>
        <p:txBody>
          <a:bodyPr wrap="square" lIns="0" rIns="0" tIns="0" bIns="0">
            <a:spAutoFit/>
          </a:bodyPr>
          <a:lstStyle/>
          <a:p>
            <a:pPr>
              <a:lnSpc>
                <a:spcPct val="122000"/>
              </a:lnSpc>
              <a:spcAft>
                <a:spcPts val="500"/>
              </a:spcAft>
            </a:pPr>
            <a:r>
              <a:rPr sz="1200" b="1">
                <a:solidFill>
                  <a:srgbClr val="5A6B80"/>
                </a:solidFill>
                <a:latin typeface="Calibri"/>
              </a:rPr>
              <a:t>Problem Statement :  </a:t>
            </a:r>
            <a:r>
              <a:rPr sz="1200" b="0">
                <a:solidFill>
                  <a:srgbClr val="0B1220"/>
                </a:solidFill>
                <a:latin typeface="Calibri"/>
              </a:rPr>
              <a:t>Building a virtual supply-chain knowledge graph on Snowflake with CoCo — no graph database, no data movement.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A knowledge graph with no graph database</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Two Snowflake tables, graph analytics precomputed in SQL, and an agent that speaks English</a:t>
            </a:r>
          </a:p>
        </p:txBody>
      </p:sp>
      <p:sp>
        <p:nvSpPr>
          <p:cNvPr id="5" name="Rounded Rectangle 4"/>
          <p:cNvSpPr/>
          <p:nvPr/>
        </p:nvSpPr>
        <p:spPr>
          <a:xfrm>
            <a:off x="411480" y="1481328"/>
            <a:ext cx="8321040" cy="1170432"/>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645920"/>
            <a:ext cx="7772400" cy="868680"/>
          </a:xfrm>
          <a:prstGeom prst="rect">
            <a:avLst/>
          </a:prstGeom>
          <a:noFill/>
        </p:spPr>
        <p:txBody>
          <a:bodyPr wrap="square" lIns="0" rIns="0" tIns="0" bIns="0" anchor="t">
            <a:spAutoFit/>
          </a:bodyPr>
          <a:lstStyle/>
          <a:p>
            <a:pPr algn="ctr">
              <a:spcAft>
                <a:spcPts val="400"/>
              </a:spcAft>
            </a:pPr>
            <a:r>
              <a:rPr sz="2100" b="1" i="0">
                <a:solidFill>
                  <a:srgbClr val="FFFFFF"/>
                </a:solidFill>
                <a:latin typeface="Cambria"/>
              </a:rPr>
              <a:t>“Which supplier sites are single points of failure?”</a:t>
            </a:r>
          </a:p>
        </p:txBody>
      </p:sp>
      <p:sp>
        <p:nvSpPr>
          <p:cNvPr id="7" name="TextBox 6"/>
          <p:cNvSpPr txBox="1"/>
          <p:nvPr/>
        </p:nvSpPr>
        <p:spPr>
          <a:xfrm>
            <a:off x="685800" y="2212848"/>
            <a:ext cx="7772400" cy="329184"/>
          </a:xfrm>
          <a:prstGeom prst="rect">
            <a:avLst/>
          </a:prstGeom>
          <a:noFill/>
        </p:spPr>
        <p:txBody>
          <a:bodyPr wrap="square" lIns="0" rIns="0" tIns="0" bIns="0" anchor="t">
            <a:spAutoFit/>
          </a:bodyPr>
          <a:lstStyle/>
          <a:p>
            <a:pPr algn="ctr">
              <a:spcAft>
                <a:spcPts val="400"/>
              </a:spcAft>
            </a:pPr>
            <a:r>
              <a:rPr sz="1100" b="0" i="1">
                <a:solidFill>
                  <a:srgbClr val="00C2B2"/>
                </a:solidFill>
                <a:latin typeface="Calibri"/>
              </a:rPr>
              <a:t>Asked in plain English. Answered from 26,524 real relationships, in 20 seconds.</a:t>
            </a:r>
          </a:p>
        </p:txBody>
      </p:sp>
      <p:sp>
        <p:nvSpPr>
          <p:cNvPr id="8" name="Rounded Rectangle 7"/>
          <p:cNvSpPr/>
          <p:nvPr/>
        </p:nvSpPr>
        <p:spPr>
          <a:xfrm>
            <a:off x="411480" y="2834640"/>
            <a:ext cx="1977390" cy="86868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02920" y="2926080"/>
            <a:ext cx="1794510" cy="402336"/>
          </a:xfrm>
          <a:prstGeom prst="rect">
            <a:avLst/>
          </a:prstGeom>
          <a:noFill/>
        </p:spPr>
        <p:txBody>
          <a:bodyPr wrap="square" lIns="0" rIns="0" tIns="0" bIns="0" anchor="t">
            <a:spAutoFit/>
          </a:bodyPr>
          <a:lstStyle/>
          <a:p>
            <a:pPr algn="ctr">
              <a:spcAft>
                <a:spcPts val="400"/>
              </a:spcAft>
            </a:pPr>
            <a:r>
              <a:rPr sz="2700" b="1" i="0">
                <a:solidFill>
                  <a:srgbClr val="18A0FB"/>
                </a:solidFill>
                <a:latin typeface="Cambria"/>
              </a:rPr>
              <a:t>37</a:t>
            </a:r>
          </a:p>
        </p:txBody>
      </p:sp>
      <p:sp>
        <p:nvSpPr>
          <p:cNvPr id="10" name="TextBox 9"/>
          <p:cNvSpPr txBox="1"/>
          <p:nvPr/>
        </p:nvSpPr>
        <p:spPr>
          <a:xfrm>
            <a:off x="484632" y="3392424"/>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source tables</a:t>
            </a:r>
          </a:p>
        </p:txBody>
      </p:sp>
      <p:sp>
        <p:nvSpPr>
          <p:cNvPr id="11" name="Rounded Rectangle 10"/>
          <p:cNvSpPr/>
          <p:nvPr/>
        </p:nvSpPr>
        <p:spPr>
          <a:xfrm>
            <a:off x="2526030" y="2834640"/>
            <a:ext cx="1977390" cy="86868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617470" y="2926080"/>
            <a:ext cx="1794510" cy="402336"/>
          </a:xfrm>
          <a:prstGeom prst="rect">
            <a:avLst/>
          </a:prstGeom>
          <a:noFill/>
        </p:spPr>
        <p:txBody>
          <a:bodyPr wrap="square" lIns="0" rIns="0" tIns="0" bIns="0" anchor="t">
            <a:spAutoFit/>
          </a:bodyPr>
          <a:lstStyle/>
          <a:p>
            <a:pPr algn="ctr">
              <a:spcAft>
                <a:spcPts val="400"/>
              </a:spcAft>
            </a:pPr>
            <a:r>
              <a:rPr sz="2700" b="1" i="0">
                <a:solidFill>
                  <a:srgbClr val="0B6FC4"/>
                </a:solidFill>
                <a:latin typeface="Cambria"/>
              </a:rPr>
              <a:t>2.36M</a:t>
            </a:r>
          </a:p>
        </p:txBody>
      </p:sp>
      <p:sp>
        <p:nvSpPr>
          <p:cNvPr id="13" name="TextBox 12"/>
          <p:cNvSpPr txBox="1"/>
          <p:nvPr/>
        </p:nvSpPr>
        <p:spPr>
          <a:xfrm>
            <a:off x="2599182" y="3392424"/>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rows projected</a:t>
            </a:r>
          </a:p>
        </p:txBody>
      </p:sp>
      <p:sp>
        <p:nvSpPr>
          <p:cNvPr id="14" name="Rounded Rectangle 13"/>
          <p:cNvSpPr/>
          <p:nvPr/>
        </p:nvSpPr>
        <p:spPr>
          <a:xfrm>
            <a:off x="4640580" y="2834640"/>
            <a:ext cx="1977390" cy="86868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32020" y="2926080"/>
            <a:ext cx="1794510" cy="402336"/>
          </a:xfrm>
          <a:prstGeom prst="rect">
            <a:avLst/>
          </a:prstGeom>
          <a:noFill/>
        </p:spPr>
        <p:txBody>
          <a:bodyPr wrap="square" lIns="0" rIns="0" tIns="0" bIns="0" anchor="t">
            <a:spAutoFit/>
          </a:bodyPr>
          <a:lstStyle/>
          <a:p>
            <a:pPr algn="ctr">
              <a:spcAft>
                <a:spcPts val="400"/>
              </a:spcAft>
            </a:pPr>
            <a:r>
              <a:rPr sz="2700" b="1" i="0">
                <a:solidFill>
                  <a:srgbClr val="00C2B2"/>
                </a:solidFill>
                <a:latin typeface="Cambria"/>
              </a:rPr>
              <a:t>7,613</a:t>
            </a:r>
          </a:p>
        </p:txBody>
      </p:sp>
      <p:sp>
        <p:nvSpPr>
          <p:cNvPr id="16" name="TextBox 15"/>
          <p:cNvSpPr txBox="1"/>
          <p:nvPr/>
        </p:nvSpPr>
        <p:spPr>
          <a:xfrm>
            <a:off x="4713732" y="3392424"/>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graph nodes</a:t>
            </a:r>
          </a:p>
        </p:txBody>
      </p:sp>
      <p:sp>
        <p:nvSpPr>
          <p:cNvPr id="17" name="Rounded Rectangle 16"/>
          <p:cNvSpPr/>
          <p:nvPr/>
        </p:nvSpPr>
        <p:spPr>
          <a:xfrm>
            <a:off x="6755130" y="2834640"/>
            <a:ext cx="1977390" cy="86868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46570" y="2926080"/>
            <a:ext cx="1794510" cy="402336"/>
          </a:xfrm>
          <a:prstGeom prst="rect">
            <a:avLst/>
          </a:prstGeom>
          <a:noFill/>
        </p:spPr>
        <p:txBody>
          <a:bodyPr wrap="square" lIns="0" rIns="0" tIns="0" bIns="0" anchor="t">
            <a:spAutoFit/>
          </a:bodyPr>
          <a:lstStyle/>
          <a:p>
            <a:pPr algn="ctr">
              <a:spcAft>
                <a:spcPts val="400"/>
              </a:spcAft>
            </a:pPr>
            <a:r>
              <a:rPr sz="2700" b="1" i="0">
                <a:solidFill>
                  <a:srgbClr val="8A5CF6"/>
                </a:solidFill>
                <a:latin typeface="Cambria"/>
              </a:rPr>
              <a:t>26,524</a:t>
            </a:r>
          </a:p>
        </p:txBody>
      </p:sp>
      <p:sp>
        <p:nvSpPr>
          <p:cNvPr id="19" name="TextBox 18"/>
          <p:cNvSpPr txBox="1"/>
          <p:nvPr/>
        </p:nvSpPr>
        <p:spPr>
          <a:xfrm>
            <a:off x="6828282" y="3392424"/>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graph edges</a:t>
            </a:r>
          </a:p>
        </p:txBody>
      </p:sp>
      <p:sp>
        <p:nvSpPr>
          <p:cNvPr id="20" name="TextBox 19"/>
          <p:cNvSpPr txBox="1"/>
          <p:nvPr/>
        </p:nvSpPr>
        <p:spPr>
          <a:xfrm>
            <a:off x="411480" y="3913632"/>
            <a:ext cx="8321040" cy="731520"/>
          </a:xfrm>
          <a:prstGeom prst="rect">
            <a:avLst/>
          </a:prstGeom>
          <a:noFill/>
        </p:spPr>
        <p:txBody>
          <a:bodyPr wrap="square" lIns="0" rIns="0" tIns="0" bIns="0" anchor="t">
            <a:spAutoFit/>
          </a:bodyPr>
          <a:lstStyle/>
          <a:p>
            <a:pPr algn="ctr">
              <a:spcAft>
                <a:spcPts val="400"/>
              </a:spcAft>
            </a:pPr>
            <a:r>
              <a:rPr sz="1200" b="0" i="1">
                <a:solidFill>
                  <a:srgbClr val="0B1220"/>
                </a:solidFill>
                <a:latin typeface="Calibri"/>
              </a:rPr>
              <a:t>The graph is not a copy of the warehouse. It is a projection of it — built by SQL, refreshed by SQL, and queried where the data already lives.</a:t>
            </a:r>
          </a:p>
        </p:txBody>
      </p:sp>
      <p:sp>
        <p:nvSpPr>
          <p:cNvPr id="21" name="TextBox 20"/>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All data synthetic · generated from a fixed seed · no real supplier or customer information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What this deck covers</a:t>
            </a:r>
          </a:p>
        </p:txBody>
      </p:sp>
      <p:sp>
        <p:nvSpPr>
          <p:cNvPr id="4" name="Rounded Rectangle 3"/>
          <p:cNvSpPr/>
          <p:nvPr/>
        </p:nvSpPr>
        <p:spPr>
          <a:xfrm>
            <a:off x="411480" y="1225296"/>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57784" y="1316736"/>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01  The problem</a:t>
            </a:r>
          </a:p>
        </p:txBody>
      </p:sp>
      <p:sp>
        <p:nvSpPr>
          <p:cNvPr id="6" name="TextBox 5"/>
          <p:cNvSpPr txBox="1"/>
          <p:nvPr/>
        </p:nvSpPr>
        <p:spPr>
          <a:xfrm>
            <a:off x="557784" y="1572768"/>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Why supply-chain questions take days to answer</a:t>
            </a:r>
          </a:p>
        </p:txBody>
      </p:sp>
      <p:sp>
        <p:nvSpPr>
          <p:cNvPr id="7" name="Rounded Rectangle 6"/>
          <p:cNvSpPr/>
          <p:nvPr/>
        </p:nvSpPr>
        <p:spPr>
          <a:xfrm>
            <a:off x="4672584" y="1225296"/>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18888" y="1316736"/>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02  The idea</a:t>
            </a:r>
          </a:p>
        </p:txBody>
      </p:sp>
      <p:sp>
        <p:nvSpPr>
          <p:cNvPr id="9" name="TextBox 8"/>
          <p:cNvSpPr txBox="1"/>
          <p:nvPr/>
        </p:nvSpPr>
        <p:spPr>
          <a:xfrm>
            <a:off x="4818888" y="1572768"/>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A virtual knowledge graph, built in place</a:t>
            </a:r>
          </a:p>
        </p:txBody>
      </p:sp>
      <p:sp>
        <p:nvSpPr>
          <p:cNvPr id="10" name="Rounded Rectangle 9"/>
          <p:cNvSpPr/>
          <p:nvPr/>
        </p:nvSpPr>
        <p:spPr>
          <a:xfrm>
            <a:off x="411480" y="2029968"/>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7784" y="2121408"/>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03  The data</a:t>
            </a:r>
          </a:p>
        </p:txBody>
      </p:sp>
      <p:sp>
        <p:nvSpPr>
          <p:cNvPr id="12" name="TextBox 11"/>
          <p:cNvSpPr txBox="1"/>
          <p:nvPr/>
        </p:nvSpPr>
        <p:spPr>
          <a:xfrm>
            <a:off x="557784" y="2377440"/>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37 tables and 2.36M rows projected into a graph</a:t>
            </a:r>
          </a:p>
        </p:txBody>
      </p:sp>
      <p:sp>
        <p:nvSpPr>
          <p:cNvPr id="13" name="Rounded Rectangle 12"/>
          <p:cNvSpPr/>
          <p:nvPr/>
        </p:nvSpPr>
        <p:spPr>
          <a:xfrm>
            <a:off x="4672584" y="2029968"/>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818888" y="2121408"/>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04  Criticality</a:t>
            </a:r>
          </a:p>
        </p:txBody>
      </p:sp>
      <p:sp>
        <p:nvSpPr>
          <p:cNvPr id="15" name="TextBox 14"/>
          <p:cNvSpPr txBox="1"/>
          <p:nvPr/>
        </p:nvSpPr>
        <p:spPr>
          <a:xfrm>
            <a:off x="4818888" y="2377440"/>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What the graph reveals that the warehouse cannot</a:t>
            </a:r>
          </a:p>
        </p:txBody>
      </p:sp>
      <p:sp>
        <p:nvSpPr>
          <p:cNvPr id="16" name="Rounded Rectangle 15"/>
          <p:cNvSpPr/>
          <p:nvPr/>
        </p:nvSpPr>
        <p:spPr>
          <a:xfrm>
            <a:off x="411480" y="2834640"/>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57784" y="2926080"/>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05  The agent</a:t>
            </a:r>
          </a:p>
        </p:txBody>
      </p:sp>
      <p:sp>
        <p:nvSpPr>
          <p:cNvPr id="18" name="TextBox 17"/>
          <p:cNvSpPr txBox="1"/>
          <p:nvPr/>
        </p:nvSpPr>
        <p:spPr>
          <a:xfrm>
            <a:off x="557784" y="3182112"/>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Cortex tools, wiring, and conversation memory</a:t>
            </a:r>
          </a:p>
        </p:txBody>
      </p:sp>
      <p:sp>
        <p:nvSpPr>
          <p:cNvPr id="19" name="Rounded Rectangle 18"/>
          <p:cNvSpPr/>
          <p:nvPr/>
        </p:nvSpPr>
        <p:spPr>
          <a:xfrm>
            <a:off x="4672584" y="2834640"/>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818888" y="2926080"/>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06  The demo</a:t>
            </a:r>
          </a:p>
        </p:txBody>
      </p:sp>
      <p:sp>
        <p:nvSpPr>
          <p:cNvPr id="21" name="TextBox 20"/>
          <p:cNvSpPr txBox="1"/>
          <p:nvPr/>
        </p:nvSpPr>
        <p:spPr>
          <a:xfrm>
            <a:off x="4818888" y="3182112"/>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Screenshots, real questions, verified answers</a:t>
            </a:r>
          </a:p>
        </p:txBody>
      </p:sp>
      <p:sp>
        <p:nvSpPr>
          <p:cNvPr id="22" name="Rounded Rectangle 21"/>
          <p:cNvSpPr/>
          <p:nvPr/>
        </p:nvSpPr>
        <p:spPr>
          <a:xfrm>
            <a:off x="411480" y="3639312"/>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7784" y="3730752"/>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07  The agent fleet</a:t>
            </a:r>
          </a:p>
        </p:txBody>
      </p:sp>
      <p:sp>
        <p:nvSpPr>
          <p:cNvPr id="24" name="TextBox 23"/>
          <p:cNvSpPr txBox="1"/>
          <p:nvPr/>
        </p:nvSpPr>
        <p:spPr>
          <a:xfrm>
            <a:off x="557784" y="3986784"/>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Ten agents this graph can carry</a:t>
            </a:r>
          </a:p>
        </p:txBody>
      </p:sp>
      <p:sp>
        <p:nvSpPr>
          <p:cNvPr id="25" name="Rounded Rectangle 24"/>
          <p:cNvSpPr/>
          <p:nvPr/>
        </p:nvSpPr>
        <p:spPr>
          <a:xfrm>
            <a:off x="4672584" y="3639312"/>
            <a:ext cx="4059936" cy="676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818888" y="3730752"/>
            <a:ext cx="3785616" cy="237744"/>
          </a:xfrm>
          <a:prstGeom prst="rect">
            <a:avLst/>
          </a:prstGeom>
          <a:noFill/>
        </p:spPr>
        <p:txBody>
          <a:bodyPr wrap="square" lIns="0" rIns="0" tIns="0" bIns="0" anchor="t">
            <a:spAutoFit/>
          </a:bodyPr>
          <a:lstStyle/>
          <a:p>
            <a:pPr algn="l">
              <a:spcAft>
                <a:spcPts val="400"/>
              </a:spcAft>
            </a:pPr>
            <a:r>
              <a:rPr sz="1250" b="1" i="0">
                <a:solidFill>
                  <a:srgbClr val="0B6FC4"/>
                </a:solidFill>
                <a:latin typeface="Cambria"/>
              </a:rPr>
              <a:t>08  Impact</a:t>
            </a:r>
          </a:p>
        </p:txBody>
      </p:sp>
      <p:sp>
        <p:nvSpPr>
          <p:cNvPr id="27" name="TextBox 26"/>
          <p:cNvSpPr txBox="1"/>
          <p:nvPr/>
        </p:nvSpPr>
        <p:spPr>
          <a:xfrm>
            <a:off x="4818888" y="3986784"/>
            <a:ext cx="3785616" cy="256032"/>
          </a:xfrm>
          <a:prstGeom prst="rect">
            <a:avLst/>
          </a:prstGeom>
          <a:noFill/>
        </p:spPr>
        <p:txBody>
          <a:bodyPr wrap="square" lIns="0" rIns="0" tIns="0" bIns="0" anchor="t">
            <a:spAutoFit/>
          </a:bodyPr>
          <a:lstStyle/>
          <a:p>
            <a:pPr algn="l">
              <a:spcAft>
                <a:spcPts val="400"/>
              </a:spcAft>
            </a:pPr>
            <a:r>
              <a:rPr sz="1000" b="0" i="0">
                <a:solidFill>
                  <a:srgbClr val="5A6B80"/>
                </a:solidFill>
                <a:latin typeface="Calibri"/>
              </a:rPr>
              <a:t>Measurable outcomes and what comes next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1</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PROBLEM BRIEF</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Supply chains are graphs.
Warehouses are not.</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Every real supply-chain question is a question about relationships — who feeds whom, what breaks if this stops, where is there no second source. Relational warehouses answer those badly, and slowly.</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3–5 days</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typical answer turnaround</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11 joins</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to trace one part</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0</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analysts who write recursive CTEs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business problem</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A component goes end-of-life. What breaks?</a:t>
            </a:r>
          </a:p>
        </p:txBody>
      </p:sp>
      <p:sp>
        <p:nvSpPr>
          <p:cNvPr id="5" name="Rounded Rectangle 4"/>
          <p:cNvSpPr/>
          <p:nvPr/>
        </p:nvSpPr>
        <p:spPr>
          <a:xfrm>
            <a:off x="411480" y="1261872"/>
            <a:ext cx="8321040" cy="960120"/>
          </a:xfrm>
          <a:prstGeom prst="roundRect">
            <a:avLst>
              <a:gd name="adj" fmla="val 6000"/>
            </a:avLst>
          </a:prstGeom>
          <a:solidFill>
            <a:srgbClr val="E6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12648" y="1371600"/>
            <a:ext cx="7918704" cy="731520"/>
          </a:xfrm>
          <a:prstGeom prst="rect">
            <a:avLst/>
          </a:prstGeom>
          <a:noFill/>
        </p:spPr>
        <p:txBody>
          <a:bodyPr wrap="square" lIns="0" rIns="0" tIns="0" bIns="0" anchor="t">
            <a:spAutoFit/>
          </a:bodyPr>
          <a:lstStyle/>
          <a:p>
            <a:pPr algn="l">
              <a:lnSpc>
                <a:spcPct val="122000"/>
              </a:lnSpc>
              <a:spcAft>
                <a:spcPts val="400"/>
              </a:spcAft>
            </a:pPr>
            <a:r>
              <a:rPr sz="1200" b="0" i="0">
                <a:solidFill>
                  <a:srgbClr val="0B1220"/>
                </a:solidFill>
                <a:latin typeface="Calibri"/>
              </a:rPr>
              <a:t>A supplier announces end-of-life on one connector. To size the exposure you must trace that part to every approved source, every BOM it appears in, every product built from those BOMs, every plant that builds them, and every customer waiting on the result — then do it again for the alternates.</a:t>
            </a:r>
          </a:p>
        </p:txBody>
      </p:sp>
      <p:sp>
        <p:nvSpPr>
          <p:cNvPr id="7" name="Rounded Rectangle 6"/>
          <p:cNvSpPr/>
          <p:nvPr/>
        </p:nvSpPr>
        <p:spPr>
          <a:xfrm>
            <a:off x="411480" y="2395728"/>
            <a:ext cx="2682240" cy="153619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57784" y="2523744"/>
            <a:ext cx="256032" cy="256032"/>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9" name="TextBox 8"/>
          <p:cNvSpPr txBox="1"/>
          <p:nvPr/>
        </p:nvSpPr>
        <p:spPr>
          <a:xfrm>
            <a:off x="886968" y="2523744"/>
            <a:ext cx="2042160" cy="237744"/>
          </a:xfrm>
          <a:prstGeom prst="rect">
            <a:avLst/>
          </a:prstGeom>
          <a:noFill/>
        </p:spPr>
        <p:txBody>
          <a:bodyPr wrap="square" lIns="0" rIns="0" tIns="0" bIns="0" anchor="t">
            <a:spAutoFit/>
          </a:bodyPr>
          <a:lstStyle/>
          <a:p>
            <a:pPr algn="l">
              <a:spcAft>
                <a:spcPts val="400"/>
              </a:spcAft>
            </a:pPr>
            <a:r>
              <a:rPr sz="1250" b="1" i="0">
                <a:solidFill>
                  <a:srgbClr val="E4572E"/>
                </a:solidFill>
                <a:latin typeface="Cambria"/>
              </a:rPr>
              <a:t>Today</a:t>
            </a:r>
          </a:p>
        </p:txBody>
      </p:sp>
      <p:sp>
        <p:nvSpPr>
          <p:cNvPr id="10" name="TextBox 9"/>
          <p:cNvSpPr txBox="1"/>
          <p:nvPr/>
        </p:nvSpPr>
        <p:spPr>
          <a:xfrm>
            <a:off x="557784" y="2852928"/>
            <a:ext cx="2389632" cy="960120"/>
          </a:xfrm>
          <a:prstGeom prst="rect">
            <a:avLst/>
          </a:prstGeom>
          <a:noFill/>
        </p:spPr>
        <p:txBody>
          <a:bodyPr wrap="square" lIns="0" rIns="0" tIns="0" bIns="0" anchor="t">
            <a:spAutoFit/>
          </a:bodyPr>
          <a:lstStyle/>
          <a:p>
            <a:pPr algn="l">
              <a:lnSpc>
                <a:spcPct val="118000"/>
              </a:lnSpc>
              <a:spcAft>
                <a:spcPts val="400"/>
              </a:spcAft>
            </a:pPr>
            <a:r>
              <a:rPr sz="1050" b="0" i="0">
                <a:solidFill>
                  <a:srgbClr val="5A6B80"/>
                </a:solidFill>
                <a:latin typeface="Calibri"/>
              </a:rPr>
              <a:t>A senior analyst writes nested joins across eight tables. Three to five days. The answer is stale before it is read.</a:t>
            </a:r>
          </a:p>
        </p:txBody>
      </p:sp>
      <p:sp>
        <p:nvSpPr>
          <p:cNvPr id="11" name="Rounded Rectangle 10"/>
          <p:cNvSpPr/>
          <p:nvPr/>
        </p:nvSpPr>
        <p:spPr>
          <a:xfrm>
            <a:off x="3230880" y="2395728"/>
            <a:ext cx="2682240" cy="153619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377184" y="2523744"/>
            <a:ext cx="256032" cy="25603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3" name="TextBox 12"/>
          <p:cNvSpPr txBox="1"/>
          <p:nvPr/>
        </p:nvSpPr>
        <p:spPr>
          <a:xfrm>
            <a:off x="3706368" y="2523744"/>
            <a:ext cx="2042160" cy="237744"/>
          </a:xfrm>
          <a:prstGeom prst="rect">
            <a:avLst/>
          </a:prstGeom>
          <a:noFill/>
        </p:spPr>
        <p:txBody>
          <a:bodyPr wrap="square" lIns="0" rIns="0" tIns="0" bIns="0" anchor="t">
            <a:spAutoFit/>
          </a:bodyPr>
          <a:lstStyle/>
          <a:p>
            <a:pPr algn="l">
              <a:spcAft>
                <a:spcPts val="400"/>
              </a:spcAft>
            </a:pPr>
            <a:r>
              <a:rPr sz="1250" b="1" i="0">
                <a:solidFill>
                  <a:srgbClr val="F5A623"/>
                </a:solidFill>
                <a:latin typeface="Cambria"/>
              </a:rPr>
              <a:t>The hidden cost</a:t>
            </a:r>
          </a:p>
        </p:txBody>
      </p:sp>
      <p:sp>
        <p:nvSpPr>
          <p:cNvPr id="14" name="TextBox 13"/>
          <p:cNvSpPr txBox="1"/>
          <p:nvPr/>
        </p:nvSpPr>
        <p:spPr>
          <a:xfrm>
            <a:off x="3377184" y="2852928"/>
            <a:ext cx="2389632" cy="960120"/>
          </a:xfrm>
          <a:prstGeom prst="rect">
            <a:avLst/>
          </a:prstGeom>
          <a:noFill/>
        </p:spPr>
        <p:txBody>
          <a:bodyPr wrap="square" lIns="0" rIns="0" tIns="0" bIns="0" anchor="t">
            <a:spAutoFit/>
          </a:bodyPr>
          <a:lstStyle/>
          <a:p>
            <a:pPr algn="l">
              <a:lnSpc>
                <a:spcPct val="118000"/>
              </a:lnSpc>
              <a:spcAft>
                <a:spcPts val="400"/>
              </a:spcAft>
            </a:pPr>
            <a:r>
              <a:rPr sz="1050" b="0" i="0">
                <a:solidFill>
                  <a:srgbClr val="5A6B80"/>
                </a:solidFill>
                <a:latin typeface="Calibri"/>
              </a:rPr>
              <a:t>Because it is expensive, the question gets asked only after a disruption — never as prevention.</a:t>
            </a:r>
          </a:p>
        </p:txBody>
      </p:sp>
      <p:sp>
        <p:nvSpPr>
          <p:cNvPr id="15" name="Rounded Rectangle 14"/>
          <p:cNvSpPr/>
          <p:nvPr/>
        </p:nvSpPr>
        <p:spPr>
          <a:xfrm>
            <a:off x="6050280" y="2395728"/>
            <a:ext cx="2682240" cy="153619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196584" y="2523744"/>
            <a:ext cx="256032" cy="2560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
            </a:r>
          </a:p>
        </p:txBody>
      </p:sp>
      <p:sp>
        <p:nvSpPr>
          <p:cNvPr id="17" name="TextBox 16"/>
          <p:cNvSpPr txBox="1"/>
          <p:nvPr/>
        </p:nvSpPr>
        <p:spPr>
          <a:xfrm>
            <a:off x="6525768" y="2523744"/>
            <a:ext cx="2042160" cy="237744"/>
          </a:xfrm>
          <a:prstGeom prst="rect">
            <a:avLst/>
          </a:prstGeom>
          <a:noFill/>
        </p:spPr>
        <p:txBody>
          <a:bodyPr wrap="square" lIns="0" rIns="0" tIns="0" bIns="0" anchor="t">
            <a:spAutoFit/>
          </a:bodyPr>
          <a:lstStyle/>
          <a:p>
            <a:pPr algn="l">
              <a:spcAft>
                <a:spcPts val="400"/>
              </a:spcAft>
            </a:pPr>
            <a:r>
              <a:rPr sz="1250" b="1" i="0">
                <a:solidFill>
                  <a:srgbClr val="2E9E5B"/>
                </a:solidFill>
                <a:latin typeface="Cambria"/>
              </a:rPr>
              <a:t>With the graph</a:t>
            </a:r>
          </a:p>
        </p:txBody>
      </p:sp>
      <p:sp>
        <p:nvSpPr>
          <p:cNvPr id="18" name="TextBox 17"/>
          <p:cNvSpPr txBox="1"/>
          <p:nvPr/>
        </p:nvSpPr>
        <p:spPr>
          <a:xfrm>
            <a:off x="6196584" y="2852928"/>
            <a:ext cx="2389632" cy="960120"/>
          </a:xfrm>
          <a:prstGeom prst="rect">
            <a:avLst/>
          </a:prstGeom>
          <a:noFill/>
        </p:spPr>
        <p:txBody>
          <a:bodyPr wrap="square" lIns="0" rIns="0" tIns="0" bIns="0" anchor="t">
            <a:spAutoFit/>
          </a:bodyPr>
          <a:lstStyle/>
          <a:p>
            <a:pPr algn="l">
              <a:lnSpc>
                <a:spcPct val="118000"/>
              </a:lnSpc>
              <a:spcAft>
                <a:spcPts val="400"/>
              </a:spcAft>
            </a:pPr>
            <a:r>
              <a:rPr sz="1050" b="0" i="0">
                <a:solidFill>
                  <a:srgbClr val="5A6B80"/>
                </a:solidFill>
                <a:latin typeface="Calibri"/>
              </a:rPr>
              <a:t>One English question. Twenty seconds. The same query runs for every part, every week, automatically.</a:t>
            </a:r>
          </a:p>
        </p:txBody>
      </p:sp>
      <p:sp>
        <p:nvSpPr>
          <p:cNvPr id="19" name="TextBox 18"/>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Asterion Devices — a synthetic electronics manufacturer used throughout this prototype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Who this is for</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Four personas, four questions that previously needed an analyst</a:t>
            </a:r>
          </a:p>
        </p:txBody>
      </p:sp>
      <p:sp>
        <p:nvSpPr>
          <p:cNvPr id="5" name="Rounded Rectangle 4"/>
          <p:cNvSpPr/>
          <p:nvPr/>
        </p:nvSpPr>
        <p:spPr>
          <a:xfrm>
            <a:off x="411480" y="1225296"/>
            <a:ext cx="4059936"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371600"/>
            <a:ext cx="310896" cy="310896"/>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S</a:t>
            </a:r>
          </a:p>
        </p:txBody>
      </p:sp>
      <p:sp>
        <p:nvSpPr>
          <p:cNvPr id="7" name="TextBox 6"/>
          <p:cNvSpPr txBox="1"/>
          <p:nvPr/>
        </p:nvSpPr>
        <p:spPr>
          <a:xfrm>
            <a:off x="960120" y="1389888"/>
            <a:ext cx="3346704" cy="237744"/>
          </a:xfrm>
          <a:prstGeom prst="rect">
            <a:avLst/>
          </a:prstGeom>
          <a:noFill/>
        </p:spPr>
        <p:txBody>
          <a:bodyPr wrap="square" lIns="0" rIns="0" tIns="0" bIns="0" anchor="t">
            <a:spAutoFit/>
          </a:bodyPr>
          <a:lstStyle/>
          <a:p>
            <a:pPr algn="l">
              <a:spcAft>
                <a:spcPts val="400"/>
              </a:spcAft>
            </a:pPr>
            <a:r>
              <a:rPr sz="1250" b="1" i="0">
                <a:solidFill>
                  <a:srgbClr val="0B1220"/>
                </a:solidFill>
                <a:latin typeface="Cambria"/>
              </a:rPr>
              <a:t>Supply Risk Manager</a:t>
            </a:r>
          </a:p>
        </p:txBody>
      </p:sp>
      <p:sp>
        <p:nvSpPr>
          <p:cNvPr id="8" name="TextBox 7"/>
          <p:cNvSpPr txBox="1"/>
          <p:nvPr/>
        </p:nvSpPr>
        <p:spPr>
          <a:xfrm>
            <a:off x="557784" y="1773936"/>
            <a:ext cx="3767328" cy="384048"/>
          </a:xfrm>
          <a:prstGeom prst="rect">
            <a:avLst/>
          </a:prstGeom>
          <a:noFill/>
        </p:spPr>
        <p:txBody>
          <a:bodyPr wrap="square" lIns="0" rIns="0" tIns="0" bIns="0" anchor="t">
            <a:spAutoFit/>
          </a:bodyPr>
          <a:lstStyle/>
          <a:p>
            <a:pPr algn="l">
              <a:spcAft>
                <a:spcPts val="400"/>
              </a:spcAft>
            </a:pPr>
            <a:r>
              <a:rPr sz="1100" b="1" i="1">
                <a:solidFill>
                  <a:srgbClr val="E4572E"/>
                </a:solidFill>
                <a:latin typeface="Calibri"/>
              </a:rPr>
              <a:t>“Which sites are single points of failure?”</a:t>
            </a:r>
          </a:p>
        </p:txBody>
      </p:sp>
      <p:sp>
        <p:nvSpPr>
          <p:cNvPr id="9" name="TextBox 8"/>
          <p:cNvSpPr txBox="1"/>
          <p:nvPr/>
        </p:nvSpPr>
        <p:spPr>
          <a:xfrm>
            <a:off x="557784" y="2194560"/>
            <a:ext cx="3767328" cy="329184"/>
          </a:xfrm>
          <a:prstGeom prst="rect">
            <a:avLst/>
          </a:prstGeom>
          <a:noFill/>
        </p:spPr>
        <p:txBody>
          <a:bodyPr wrap="square" lIns="0" rIns="0" tIns="0" bIns="0" anchor="t">
            <a:spAutoFit/>
          </a:bodyPr>
          <a:lstStyle/>
          <a:p>
            <a:pPr algn="l">
              <a:spcAft>
                <a:spcPts val="400"/>
              </a:spcAft>
            </a:pPr>
            <a:r>
              <a:rPr sz="950" b="0" i="0">
                <a:solidFill>
                  <a:srgbClr val="5A6B80"/>
                </a:solidFill>
                <a:latin typeface="Calibri"/>
              </a:rPr>
              <a:t>Needs the answer weekly, not after an incident.</a:t>
            </a:r>
          </a:p>
        </p:txBody>
      </p:sp>
      <p:sp>
        <p:nvSpPr>
          <p:cNvPr id="10" name="Rounded Rectangle 9"/>
          <p:cNvSpPr/>
          <p:nvPr/>
        </p:nvSpPr>
        <p:spPr>
          <a:xfrm>
            <a:off x="4672584" y="1225296"/>
            <a:ext cx="4059936"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18888" y="1371600"/>
            <a:ext cx="310896" cy="31089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C</a:t>
            </a:r>
          </a:p>
        </p:txBody>
      </p:sp>
      <p:sp>
        <p:nvSpPr>
          <p:cNvPr id="12" name="TextBox 11"/>
          <p:cNvSpPr txBox="1"/>
          <p:nvPr/>
        </p:nvSpPr>
        <p:spPr>
          <a:xfrm>
            <a:off x="5221224" y="1389888"/>
            <a:ext cx="3346704" cy="237744"/>
          </a:xfrm>
          <a:prstGeom prst="rect">
            <a:avLst/>
          </a:prstGeom>
          <a:noFill/>
        </p:spPr>
        <p:txBody>
          <a:bodyPr wrap="square" lIns="0" rIns="0" tIns="0" bIns="0" anchor="t">
            <a:spAutoFit/>
          </a:bodyPr>
          <a:lstStyle/>
          <a:p>
            <a:pPr algn="l">
              <a:spcAft>
                <a:spcPts val="400"/>
              </a:spcAft>
            </a:pPr>
            <a:r>
              <a:rPr sz="1250" b="1" i="0">
                <a:solidFill>
                  <a:srgbClr val="0B1220"/>
                </a:solidFill>
                <a:latin typeface="Cambria"/>
              </a:rPr>
              <a:t>Commodity Buyer</a:t>
            </a:r>
          </a:p>
        </p:txBody>
      </p:sp>
      <p:sp>
        <p:nvSpPr>
          <p:cNvPr id="13" name="TextBox 12"/>
          <p:cNvSpPr txBox="1"/>
          <p:nvPr/>
        </p:nvSpPr>
        <p:spPr>
          <a:xfrm>
            <a:off x="4818888" y="1773936"/>
            <a:ext cx="3767328" cy="384048"/>
          </a:xfrm>
          <a:prstGeom prst="rect">
            <a:avLst/>
          </a:prstGeom>
          <a:noFill/>
        </p:spPr>
        <p:txBody>
          <a:bodyPr wrap="square" lIns="0" rIns="0" tIns="0" bIns="0" anchor="t">
            <a:spAutoFit/>
          </a:bodyPr>
          <a:lstStyle/>
          <a:p>
            <a:pPr algn="l">
              <a:spcAft>
                <a:spcPts val="400"/>
              </a:spcAft>
            </a:pPr>
            <a:r>
              <a:rPr sz="1100" b="1" i="1">
                <a:solidFill>
                  <a:srgbClr val="18A0FB"/>
                </a:solidFill>
                <a:latin typeface="Calibri"/>
              </a:rPr>
              <a:t>“Which parts have only one approved source?”</a:t>
            </a:r>
          </a:p>
        </p:txBody>
      </p:sp>
      <p:sp>
        <p:nvSpPr>
          <p:cNvPr id="14" name="TextBox 13"/>
          <p:cNvSpPr txBox="1"/>
          <p:nvPr/>
        </p:nvSpPr>
        <p:spPr>
          <a:xfrm>
            <a:off x="4818888" y="2194560"/>
            <a:ext cx="3767328" cy="329184"/>
          </a:xfrm>
          <a:prstGeom prst="rect">
            <a:avLst/>
          </a:prstGeom>
          <a:noFill/>
        </p:spPr>
        <p:txBody>
          <a:bodyPr wrap="square" lIns="0" rIns="0" tIns="0" bIns="0" anchor="t">
            <a:spAutoFit/>
          </a:bodyPr>
          <a:lstStyle/>
          <a:p>
            <a:pPr algn="l">
              <a:spcAft>
                <a:spcPts val="400"/>
              </a:spcAft>
            </a:pPr>
            <a:r>
              <a:rPr sz="950" b="0" i="0">
                <a:solidFill>
                  <a:srgbClr val="5A6B80"/>
                </a:solidFill>
                <a:latin typeface="Calibri"/>
              </a:rPr>
              <a:t>Drives dual-sourcing and negotiation leverage.</a:t>
            </a:r>
          </a:p>
        </p:txBody>
      </p:sp>
      <p:sp>
        <p:nvSpPr>
          <p:cNvPr id="15" name="Rounded Rectangle 14"/>
          <p:cNvSpPr/>
          <p:nvPr/>
        </p:nvSpPr>
        <p:spPr>
          <a:xfrm>
            <a:off x="411480" y="2798064"/>
            <a:ext cx="4059936"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57784" y="2944368"/>
            <a:ext cx="310896" cy="310896"/>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Q</a:t>
            </a:r>
          </a:p>
        </p:txBody>
      </p:sp>
      <p:sp>
        <p:nvSpPr>
          <p:cNvPr id="17" name="TextBox 16"/>
          <p:cNvSpPr txBox="1"/>
          <p:nvPr/>
        </p:nvSpPr>
        <p:spPr>
          <a:xfrm>
            <a:off x="960120" y="2962656"/>
            <a:ext cx="3346704" cy="237744"/>
          </a:xfrm>
          <a:prstGeom prst="rect">
            <a:avLst/>
          </a:prstGeom>
          <a:noFill/>
        </p:spPr>
        <p:txBody>
          <a:bodyPr wrap="square" lIns="0" rIns="0" tIns="0" bIns="0" anchor="t">
            <a:spAutoFit/>
          </a:bodyPr>
          <a:lstStyle/>
          <a:p>
            <a:pPr algn="l">
              <a:spcAft>
                <a:spcPts val="400"/>
              </a:spcAft>
            </a:pPr>
            <a:r>
              <a:rPr sz="1250" b="1" i="0">
                <a:solidFill>
                  <a:srgbClr val="0B1220"/>
                </a:solidFill>
                <a:latin typeface="Cambria"/>
              </a:rPr>
              <a:t>Quality Lead</a:t>
            </a:r>
          </a:p>
        </p:txBody>
      </p:sp>
      <p:sp>
        <p:nvSpPr>
          <p:cNvPr id="18" name="TextBox 17"/>
          <p:cNvSpPr txBox="1"/>
          <p:nvPr/>
        </p:nvSpPr>
        <p:spPr>
          <a:xfrm>
            <a:off x="557784" y="3346704"/>
            <a:ext cx="3767328" cy="384048"/>
          </a:xfrm>
          <a:prstGeom prst="rect">
            <a:avLst/>
          </a:prstGeom>
          <a:noFill/>
        </p:spPr>
        <p:txBody>
          <a:bodyPr wrap="square" lIns="0" rIns="0" tIns="0" bIns="0" anchor="t">
            <a:spAutoFit/>
          </a:bodyPr>
          <a:lstStyle/>
          <a:p>
            <a:pPr algn="l">
              <a:spcAft>
                <a:spcPts val="400"/>
              </a:spcAft>
            </a:pPr>
            <a:r>
              <a:rPr sz="1100" b="1" i="1">
                <a:solidFill>
                  <a:srgbClr val="8A5CF6"/>
                </a:solidFill>
                <a:latin typeface="Calibri"/>
              </a:rPr>
              <a:t>“Which suppliers breach PPM targets, and why?”</a:t>
            </a:r>
          </a:p>
        </p:txBody>
      </p:sp>
      <p:sp>
        <p:nvSpPr>
          <p:cNvPr id="19" name="TextBox 18"/>
          <p:cNvSpPr txBox="1"/>
          <p:nvPr/>
        </p:nvSpPr>
        <p:spPr>
          <a:xfrm>
            <a:off x="557784" y="3767328"/>
            <a:ext cx="3767328" cy="329184"/>
          </a:xfrm>
          <a:prstGeom prst="rect">
            <a:avLst/>
          </a:prstGeom>
          <a:noFill/>
        </p:spPr>
        <p:txBody>
          <a:bodyPr wrap="square" lIns="0" rIns="0" tIns="0" bIns="0" anchor="t">
            <a:spAutoFit/>
          </a:bodyPr>
          <a:lstStyle/>
          <a:p>
            <a:pPr algn="l">
              <a:spcAft>
                <a:spcPts val="400"/>
              </a:spcAft>
            </a:pPr>
            <a:r>
              <a:rPr sz="950" b="0" i="0">
                <a:solidFill>
                  <a:srgbClr val="5A6B80"/>
                </a:solidFill>
                <a:latin typeface="Calibri"/>
              </a:rPr>
              <a:t>Joins scorecards and NCRs to the network.</a:t>
            </a:r>
          </a:p>
        </p:txBody>
      </p:sp>
      <p:sp>
        <p:nvSpPr>
          <p:cNvPr id="20" name="Rounded Rectangle 19"/>
          <p:cNvSpPr/>
          <p:nvPr/>
        </p:nvSpPr>
        <p:spPr>
          <a:xfrm>
            <a:off x="4672584" y="2798064"/>
            <a:ext cx="4059936"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18888" y="2944368"/>
            <a:ext cx="310896" cy="310896"/>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P</a:t>
            </a:r>
          </a:p>
        </p:txBody>
      </p:sp>
      <p:sp>
        <p:nvSpPr>
          <p:cNvPr id="22" name="TextBox 21"/>
          <p:cNvSpPr txBox="1"/>
          <p:nvPr/>
        </p:nvSpPr>
        <p:spPr>
          <a:xfrm>
            <a:off x="5221224" y="2962656"/>
            <a:ext cx="3346704" cy="237744"/>
          </a:xfrm>
          <a:prstGeom prst="rect">
            <a:avLst/>
          </a:prstGeom>
          <a:noFill/>
        </p:spPr>
        <p:txBody>
          <a:bodyPr wrap="square" lIns="0" rIns="0" tIns="0" bIns="0" anchor="t">
            <a:spAutoFit/>
          </a:bodyPr>
          <a:lstStyle/>
          <a:p>
            <a:pPr algn="l">
              <a:spcAft>
                <a:spcPts val="400"/>
              </a:spcAft>
            </a:pPr>
            <a:r>
              <a:rPr sz="1250" b="1" i="0">
                <a:solidFill>
                  <a:srgbClr val="0B1220"/>
                </a:solidFill>
                <a:latin typeface="Cambria"/>
              </a:rPr>
              <a:t>Plant Planner</a:t>
            </a:r>
          </a:p>
        </p:txBody>
      </p:sp>
      <p:sp>
        <p:nvSpPr>
          <p:cNvPr id="23" name="TextBox 22"/>
          <p:cNvSpPr txBox="1"/>
          <p:nvPr/>
        </p:nvSpPr>
        <p:spPr>
          <a:xfrm>
            <a:off x="4818888" y="3346704"/>
            <a:ext cx="3767328" cy="384048"/>
          </a:xfrm>
          <a:prstGeom prst="rect">
            <a:avLst/>
          </a:prstGeom>
          <a:noFill/>
        </p:spPr>
        <p:txBody>
          <a:bodyPr wrap="square" lIns="0" rIns="0" tIns="0" bIns="0" anchor="t">
            <a:spAutoFit/>
          </a:bodyPr>
          <a:lstStyle/>
          <a:p>
            <a:pPr algn="l">
              <a:spcAft>
                <a:spcPts val="400"/>
              </a:spcAft>
            </a:pPr>
            <a:r>
              <a:rPr sz="1100" b="1" i="1">
                <a:solidFill>
                  <a:srgbClr val="00C2B2"/>
                </a:solidFill>
                <a:latin typeface="Calibri"/>
              </a:rPr>
              <a:t>“What feeds my plant, and what is fragile upstream?”</a:t>
            </a:r>
          </a:p>
        </p:txBody>
      </p:sp>
      <p:sp>
        <p:nvSpPr>
          <p:cNvPr id="24" name="TextBox 23"/>
          <p:cNvSpPr txBox="1"/>
          <p:nvPr/>
        </p:nvSpPr>
        <p:spPr>
          <a:xfrm>
            <a:off x="4818888" y="3767328"/>
            <a:ext cx="3767328" cy="329184"/>
          </a:xfrm>
          <a:prstGeom prst="rect">
            <a:avLst/>
          </a:prstGeom>
          <a:noFill/>
        </p:spPr>
        <p:txBody>
          <a:bodyPr wrap="square" lIns="0" rIns="0" tIns="0" bIns="0" anchor="t">
            <a:spAutoFit/>
          </a:bodyPr>
          <a:lstStyle/>
          <a:p>
            <a:pPr algn="l">
              <a:spcAft>
                <a:spcPts val="400"/>
              </a:spcAft>
            </a:pPr>
            <a:r>
              <a:rPr sz="950" b="0" i="0">
                <a:solidFill>
                  <a:srgbClr val="5A6B80"/>
                </a:solidFill>
                <a:latin typeface="Calibri"/>
              </a:rPr>
              <a:t>Sees two hops out, not just direct suppliers.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Why not just use a graph database?</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We built that first. It is the reason this approach exists.</a:t>
            </a:r>
          </a:p>
        </p:txBody>
      </p:sp>
      <p:sp>
        <p:nvSpPr>
          <p:cNvPr id="5" name="Rounded Rectangle 4"/>
          <p:cNvSpPr/>
          <p:nvPr/>
        </p:nvSpPr>
        <p:spPr>
          <a:xfrm>
            <a:off x="411480" y="1243584"/>
            <a:ext cx="4069080" cy="2304288"/>
          </a:xfrm>
          <a:prstGeom prst="roundRect">
            <a:avLst>
              <a:gd name="adj" fmla="val 6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371600"/>
            <a:ext cx="3703320" cy="256032"/>
          </a:xfrm>
          <a:prstGeom prst="rect">
            <a:avLst/>
          </a:prstGeom>
          <a:noFill/>
        </p:spPr>
        <p:txBody>
          <a:bodyPr wrap="square" lIns="0" rIns="0" tIns="0" bIns="0" anchor="t">
            <a:spAutoFit/>
          </a:bodyPr>
          <a:lstStyle/>
          <a:p>
            <a:pPr algn="l">
              <a:spcAft>
                <a:spcPts val="400"/>
              </a:spcAft>
            </a:pPr>
            <a:r>
              <a:rPr sz="1300" b="1" i="0">
                <a:solidFill>
                  <a:srgbClr val="E4572E"/>
                </a:solidFill>
                <a:latin typeface="Cambria"/>
              </a:rPr>
              <a:t>The graph-database route</a:t>
            </a:r>
          </a:p>
        </p:txBody>
      </p:sp>
      <p:sp>
        <p:nvSpPr>
          <p:cNvPr id="7" name="Oval 6"/>
          <p:cNvSpPr/>
          <p:nvPr/>
        </p:nvSpPr>
        <p:spPr>
          <a:xfrm>
            <a:off x="594360" y="1787652"/>
            <a:ext cx="68580" cy="685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737360"/>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A second system. </a:t>
            </a:r>
            <a:r>
              <a:rPr sz="1050" b="0">
                <a:solidFill>
                  <a:srgbClr val="5A6B80"/>
                </a:solidFill>
                <a:latin typeface="Calibri"/>
              </a:rPr>
              <a:t>Another cluster to run, secure and pay for.</a:t>
            </a:r>
          </a:p>
        </p:txBody>
      </p:sp>
      <p:sp>
        <p:nvSpPr>
          <p:cNvPr id="9" name="Oval 8"/>
          <p:cNvSpPr/>
          <p:nvPr/>
        </p:nvSpPr>
        <p:spPr>
          <a:xfrm>
            <a:off x="594360" y="2171700"/>
            <a:ext cx="68580" cy="685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2121408"/>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A copy of the truth. </a:t>
            </a:r>
            <a:r>
              <a:rPr sz="1050" b="0">
                <a:solidFill>
                  <a:srgbClr val="5A6B80"/>
                </a:solidFill>
                <a:latin typeface="Calibri"/>
              </a:rPr>
              <a:t>ETL out of the warehouse, stale on arrival.</a:t>
            </a:r>
          </a:p>
        </p:txBody>
      </p:sp>
      <p:sp>
        <p:nvSpPr>
          <p:cNvPr id="11" name="Oval 10"/>
          <p:cNvSpPr/>
          <p:nvPr/>
        </p:nvSpPr>
        <p:spPr>
          <a:xfrm>
            <a:off x="594360" y="2555748"/>
            <a:ext cx="68580" cy="685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2505456"/>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A second dialect. </a:t>
            </a:r>
            <a:r>
              <a:rPr sz="1050" b="0">
                <a:solidFill>
                  <a:srgbClr val="5A6B80"/>
                </a:solidFill>
                <a:latin typeface="Calibri"/>
              </a:rPr>
              <a:t>Cypher, which nobody on the team writes.</a:t>
            </a:r>
          </a:p>
        </p:txBody>
      </p:sp>
      <p:sp>
        <p:nvSpPr>
          <p:cNvPr id="13" name="Oval 12"/>
          <p:cNvSpPr/>
          <p:nvPr/>
        </p:nvSpPr>
        <p:spPr>
          <a:xfrm>
            <a:off x="594360" y="2939796"/>
            <a:ext cx="68580" cy="685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2889504"/>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Governance split. </a:t>
            </a:r>
            <a:r>
              <a:rPr sz="1050" b="0">
                <a:solidFill>
                  <a:srgbClr val="5A6B80"/>
                </a:solidFill>
                <a:latin typeface="Calibri"/>
              </a:rPr>
              <a:t>Two places to grant, mask and audit.</a:t>
            </a:r>
          </a:p>
        </p:txBody>
      </p:sp>
      <p:sp>
        <p:nvSpPr>
          <p:cNvPr id="15" name="Oval 14"/>
          <p:cNvSpPr/>
          <p:nvPr/>
        </p:nvSpPr>
        <p:spPr>
          <a:xfrm>
            <a:off x="594360" y="3323844"/>
            <a:ext cx="68580" cy="685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3273552"/>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Text-to-Cypher is brittle. </a:t>
            </a:r>
            <a:r>
              <a:rPr sz="1050" b="0">
                <a:solidFill>
                  <a:srgbClr val="5A6B80"/>
                </a:solidFill>
                <a:latin typeface="Calibri"/>
              </a:rPr>
              <a:t>Needed repair loops on most queries.</a:t>
            </a:r>
          </a:p>
        </p:txBody>
      </p:sp>
      <p:sp>
        <p:nvSpPr>
          <p:cNvPr id="17" name="Rounded Rectangle 16"/>
          <p:cNvSpPr/>
          <p:nvPr/>
        </p:nvSpPr>
        <p:spPr>
          <a:xfrm>
            <a:off x="4663440" y="1243584"/>
            <a:ext cx="4069080" cy="2304288"/>
          </a:xfrm>
          <a:prstGeom prst="roundRect">
            <a:avLst>
              <a:gd name="adj" fmla="val 6000"/>
            </a:avLst>
          </a:prstGeom>
          <a:solidFill>
            <a:srgbClr val="EC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46320" y="1371600"/>
            <a:ext cx="3703320" cy="256032"/>
          </a:xfrm>
          <a:prstGeom prst="rect">
            <a:avLst/>
          </a:prstGeom>
          <a:noFill/>
        </p:spPr>
        <p:txBody>
          <a:bodyPr wrap="square" lIns="0" rIns="0" tIns="0" bIns="0" anchor="t">
            <a:spAutoFit/>
          </a:bodyPr>
          <a:lstStyle/>
          <a:p>
            <a:pPr algn="l">
              <a:spcAft>
                <a:spcPts val="400"/>
              </a:spcAft>
            </a:pPr>
            <a:r>
              <a:rPr sz="1300" b="1" i="0">
                <a:solidFill>
                  <a:srgbClr val="2E9E5B"/>
                </a:solidFill>
                <a:latin typeface="Cambria"/>
              </a:rPr>
              <a:t>The virtual-graph route</a:t>
            </a:r>
          </a:p>
        </p:txBody>
      </p:sp>
      <p:sp>
        <p:nvSpPr>
          <p:cNvPr id="19" name="Oval 18"/>
          <p:cNvSpPr/>
          <p:nvPr/>
        </p:nvSpPr>
        <p:spPr>
          <a:xfrm>
            <a:off x="4846320" y="1787652"/>
            <a:ext cx="68580" cy="6858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29200" y="1737360"/>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No new system. </a:t>
            </a:r>
            <a:r>
              <a:rPr sz="1050" b="0">
                <a:solidFill>
                  <a:srgbClr val="5A6B80"/>
                </a:solidFill>
                <a:latin typeface="Calibri"/>
              </a:rPr>
              <a:t>Two tables in the warehouse you already have.</a:t>
            </a:r>
          </a:p>
        </p:txBody>
      </p:sp>
      <p:sp>
        <p:nvSpPr>
          <p:cNvPr id="21" name="Oval 20"/>
          <p:cNvSpPr/>
          <p:nvPr/>
        </p:nvSpPr>
        <p:spPr>
          <a:xfrm>
            <a:off x="4846320" y="2171700"/>
            <a:ext cx="68580" cy="6858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0" y="2121408"/>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No copy. </a:t>
            </a:r>
            <a:r>
              <a:rPr sz="1050" b="0">
                <a:solidFill>
                  <a:srgbClr val="5A6B80"/>
                </a:solidFill>
                <a:latin typeface="Calibri"/>
              </a:rPr>
              <a:t>A projection, rebuilt by SQL on a schedule.</a:t>
            </a:r>
          </a:p>
        </p:txBody>
      </p:sp>
      <p:sp>
        <p:nvSpPr>
          <p:cNvPr id="23" name="Oval 22"/>
          <p:cNvSpPr/>
          <p:nvPr/>
        </p:nvSpPr>
        <p:spPr>
          <a:xfrm>
            <a:off x="4846320" y="2555748"/>
            <a:ext cx="68580" cy="6858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0" y="2505456"/>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One dialect. </a:t>
            </a:r>
            <a:r>
              <a:rPr sz="1050" b="0">
                <a:solidFill>
                  <a:srgbClr val="5A6B80"/>
                </a:solidFill>
                <a:latin typeface="Calibri"/>
              </a:rPr>
              <a:t>SQL — and the agent writes it.</a:t>
            </a:r>
          </a:p>
        </p:txBody>
      </p:sp>
      <p:sp>
        <p:nvSpPr>
          <p:cNvPr id="25" name="Oval 24"/>
          <p:cNvSpPr/>
          <p:nvPr/>
        </p:nvSpPr>
        <p:spPr>
          <a:xfrm>
            <a:off x="4846320" y="2939796"/>
            <a:ext cx="68580" cy="6858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9200" y="2889504"/>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One governance model. </a:t>
            </a:r>
            <a:r>
              <a:rPr sz="1050" b="0">
                <a:solidFill>
                  <a:srgbClr val="5A6B80"/>
                </a:solidFill>
                <a:latin typeface="Calibri"/>
              </a:rPr>
              <a:t>Snowflake roles, masking and audit.</a:t>
            </a:r>
          </a:p>
        </p:txBody>
      </p:sp>
      <p:sp>
        <p:nvSpPr>
          <p:cNvPr id="27" name="Oval 26"/>
          <p:cNvSpPr/>
          <p:nvPr/>
        </p:nvSpPr>
        <p:spPr>
          <a:xfrm>
            <a:off x="4846320" y="3323844"/>
            <a:ext cx="68580" cy="6858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29200" y="3273552"/>
            <a:ext cx="3520440" cy="384048"/>
          </a:xfrm>
          <a:prstGeom prst="rect">
            <a:avLst/>
          </a:prstGeom>
          <a:noFill/>
        </p:spPr>
        <p:txBody>
          <a:bodyPr wrap="square" lIns="0" rIns="0" tIns="0" bIns="0">
            <a:spAutoFit/>
          </a:bodyPr>
          <a:lstStyle/>
          <a:p>
            <a:pPr>
              <a:lnSpc>
                <a:spcPct val="100000"/>
              </a:lnSpc>
              <a:spcAft>
                <a:spcPts val="500"/>
              </a:spcAft>
            </a:pPr>
            <a:r>
              <a:rPr sz="1050" b="1">
                <a:solidFill>
                  <a:srgbClr val="0B1220"/>
                </a:solidFill>
                <a:latin typeface="Calibri"/>
              </a:rPr>
              <a:t>Semantic view grounds it. </a:t>
            </a:r>
            <a:r>
              <a:rPr sz="1050" b="0">
                <a:solidFill>
                  <a:srgbClr val="5A6B80"/>
                </a:solidFill>
                <a:latin typeface="Calibri"/>
              </a:rPr>
              <a:t>The agent queries a curated model.</a:t>
            </a:r>
          </a:p>
        </p:txBody>
      </p:sp>
      <p:sp>
        <p:nvSpPr>
          <p:cNvPr id="29" name="Rounded Rectangle 28"/>
          <p:cNvSpPr/>
          <p:nvPr/>
        </p:nvSpPr>
        <p:spPr>
          <a:xfrm>
            <a:off x="411480" y="3675887"/>
            <a:ext cx="8321040" cy="603504"/>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94360" y="3803904"/>
            <a:ext cx="7955280" cy="365760"/>
          </a:xfrm>
          <a:prstGeom prst="rect">
            <a:avLst/>
          </a:prstGeom>
          <a:noFill/>
        </p:spPr>
        <p:txBody>
          <a:bodyPr wrap="square" lIns="0" rIns="0" tIns="0" bIns="0" anchor="t">
            <a:spAutoFit/>
          </a:bodyPr>
          <a:lstStyle/>
          <a:p>
            <a:pPr algn="ctr">
              <a:spcAft>
                <a:spcPts val="400"/>
              </a:spcAft>
            </a:pPr>
            <a:r>
              <a:rPr sz="1150" b="0" i="1">
                <a:solidFill>
                  <a:srgbClr val="FFFFFF"/>
                </a:solidFill>
                <a:latin typeface="Calibri"/>
              </a:rPr>
              <a:t>Graph analytics are the valuable part. A graph database is just one way to get them — and on data that already lives in Snowflake, the expensive way.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2</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THE IDEA</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Project the graph.
Don't move the data.</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A knowledge graph is not a database technology — it is a shape. Nodes, edges, and measures computed over them. All three can be expressed as SQL over tables that already exist.</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2</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tables define the graph</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8</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derived columns per node</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0</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bytes leaving Snowflake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What “virtual” means here</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The graph is derived, not stored separately — three consequences follow</a:t>
            </a:r>
          </a:p>
        </p:txBody>
      </p:sp>
      <p:sp>
        <p:nvSpPr>
          <p:cNvPr id="5" name="Rounded Rectangle 4"/>
          <p:cNvSpPr/>
          <p:nvPr/>
        </p:nvSpPr>
        <p:spPr>
          <a:xfrm>
            <a:off x="411480" y="1225296"/>
            <a:ext cx="8321040" cy="9692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499616"/>
            <a:ext cx="402336" cy="4023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D</a:t>
            </a:r>
          </a:p>
        </p:txBody>
      </p:sp>
      <p:sp>
        <p:nvSpPr>
          <p:cNvPr id="7" name="TextBox 6"/>
          <p:cNvSpPr txBox="1"/>
          <p:nvPr/>
        </p:nvSpPr>
        <p:spPr>
          <a:xfrm>
            <a:off x="1143000" y="1371600"/>
            <a:ext cx="1828800" cy="256032"/>
          </a:xfrm>
          <a:prstGeom prst="rect">
            <a:avLst/>
          </a:prstGeom>
          <a:noFill/>
        </p:spPr>
        <p:txBody>
          <a:bodyPr wrap="square" lIns="0" rIns="0" tIns="0" bIns="0" anchor="t">
            <a:spAutoFit/>
          </a:bodyPr>
          <a:lstStyle/>
          <a:p>
            <a:pPr algn="l">
              <a:spcAft>
                <a:spcPts val="400"/>
              </a:spcAft>
            </a:pPr>
            <a:r>
              <a:rPr sz="1350" b="1" i="0">
                <a:solidFill>
                  <a:srgbClr val="18A0FB"/>
                </a:solidFill>
                <a:latin typeface="Cambria"/>
              </a:rPr>
              <a:t>Derived</a:t>
            </a:r>
          </a:p>
        </p:txBody>
      </p:sp>
      <p:sp>
        <p:nvSpPr>
          <p:cNvPr id="8" name="TextBox 7"/>
          <p:cNvSpPr txBox="1"/>
          <p:nvPr/>
        </p:nvSpPr>
        <p:spPr>
          <a:xfrm>
            <a:off x="1143000" y="1664208"/>
            <a:ext cx="7360920" cy="457200"/>
          </a:xfrm>
          <a:prstGeom prst="rect">
            <a:avLst/>
          </a:prstGeom>
          <a:noFill/>
        </p:spPr>
        <p:txBody>
          <a:bodyPr wrap="square" lIns="0" rIns="0" tIns="0" bIns="0" anchor="t">
            <a:spAutoFit/>
          </a:bodyPr>
          <a:lstStyle/>
          <a:p>
            <a:pPr algn="l">
              <a:lnSpc>
                <a:spcPct val="118000"/>
              </a:lnSpc>
              <a:spcAft>
                <a:spcPts val="400"/>
              </a:spcAft>
            </a:pPr>
            <a:r>
              <a:rPr sz="1100" b="0" i="0">
                <a:solidFill>
                  <a:srgbClr val="5A6B80"/>
                </a:solidFill>
                <a:latin typeface="Calibri"/>
              </a:rPr>
              <a:t>KG_NODES and KG_EDGES are built by SELECT statements over the star schema. Rebuild them and the graph is current.</a:t>
            </a:r>
          </a:p>
        </p:txBody>
      </p:sp>
      <p:sp>
        <p:nvSpPr>
          <p:cNvPr id="9" name="Rounded Rectangle 8"/>
          <p:cNvSpPr/>
          <p:nvPr/>
        </p:nvSpPr>
        <p:spPr>
          <a:xfrm>
            <a:off x="411480" y="2322576"/>
            <a:ext cx="8321040" cy="9692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94360" y="2596896"/>
            <a:ext cx="402336" cy="402336"/>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C</a:t>
            </a:r>
          </a:p>
        </p:txBody>
      </p:sp>
      <p:sp>
        <p:nvSpPr>
          <p:cNvPr id="11" name="TextBox 10"/>
          <p:cNvSpPr txBox="1"/>
          <p:nvPr/>
        </p:nvSpPr>
        <p:spPr>
          <a:xfrm>
            <a:off x="1143000" y="2468880"/>
            <a:ext cx="1828800" cy="256032"/>
          </a:xfrm>
          <a:prstGeom prst="rect">
            <a:avLst/>
          </a:prstGeom>
          <a:noFill/>
        </p:spPr>
        <p:txBody>
          <a:bodyPr wrap="square" lIns="0" rIns="0" tIns="0" bIns="0" anchor="t">
            <a:spAutoFit/>
          </a:bodyPr>
          <a:lstStyle/>
          <a:p>
            <a:pPr algn="l">
              <a:spcAft>
                <a:spcPts val="400"/>
              </a:spcAft>
            </a:pPr>
            <a:r>
              <a:rPr sz="1350" b="1" i="0">
                <a:solidFill>
                  <a:srgbClr val="00C2B2"/>
                </a:solidFill>
                <a:latin typeface="Cambria"/>
              </a:rPr>
              <a:t>Co-located</a:t>
            </a:r>
          </a:p>
        </p:txBody>
      </p:sp>
      <p:sp>
        <p:nvSpPr>
          <p:cNvPr id="12" name="TextBox 11"/>
          <p:cNvSpPr txBox="1"/>
          <p:nvPr/>
        </p:nvSpPr>
        <p:spPr>
          <a:xfrm>
            <a:off x="1143000" y="2761488"/>
            <a:ext cx="7360920" cy="457200"/>
          </a:xfrm>
          <a:prstGeom prst="rect">
            <a:avLst/>
          </a:prstGeom>
          <a:noFill/>
        </p:spPr>
        <p:txBody>
          <a:bodyPr wrap="square" lIns="0" rIns="0" tIns="0" bIns="0" anchor="t">
            <a:spAutoFit/>
          </a:bodyPr>
          <a:lstStyle/>
          <a:p>
            <a:pPr algn="l">
              <a:lnSpc>
                <a:spcPct val="118000"/>
              </a:lnSpc>
              <a:spcAft>
                <a:spcPts val="400"/>
              </a:spcAft>
            </a:pPr>
            <a:r>
              <a:rPr sz="1100" b="0" i="0">
                <a:solidFill>
                  <a:srgbClr val="5A6B80"/>
                </a:solidFill>
                <a:latin typeface="Calibri"/>
              </a:rPr>
              <a:t>The graph sits in the same database, under the same roles, beside the facts it describes. A query can join graph to fact in one statement.</a:t>
            </a:r>
          </a:p>
        </p:txBody>
      </p:sp>
      <p:sp>
        <p:nvSpPr>
          <p:cNvPr id="13" name="Rounded Rectangle 12"/>
          <p:cNvSpPr/>
          <p:nvPr/>
        </p:nvSpPr>
        <p:spPr>
          <a:xfrm>
            <a:off x="411480" y="3419856"/>
            <a:ext cx="8321040" cy="9692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94360" y="3694176"/>
            <a:ext cx="402336" cy="402336"/>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D</a:t>
            </a:r>
          </a:p>
        </p:txBody>
      </p:sp>
      <p:sp>
        <p:nvSpPr>
          <p:cNvPr id="15" name="TextBox 14"/>
          <p:cNvSpPr txBox="1"/>
          <p:nvPr/>
        </p:nvSpPr>
        <p:spPr>
          <a:xfrm>
            <a:off x="1143000" y="3566160"/>
            <a:ext cx="1828800" cy="256032"/>
          </a:xfrm>
          <a:prstGeom prst="rect">
            <a:avLst/>
          </a:prstGeom>
          <a:noFill/>
        </p:spPr>
        <p:txBody>
          <a:bodyPr wrap="square" lIns="0" rIns="0" tIns="0" bIns="0" anchor="t">
            <a:spAutoFit/>
          </a:bodyPr>
          <a:lstStyle/>
          <a:p>
            <a:pPr algn="l">
              <a:spcAft>
                <a:spcPts val="400"/>
              </a:spcAft>
            </a:pPr>
            <a:r>
              <a:rPr sz="1350" b="1" i="0">
                <a:solidFill>
                  <a:srgbClr val="8A5CF6"/>
                </a:solidFill>
                <a:latin typeface="Cambria"/>
              </a:rPr>
              <a:t>Disposable</a:t>
            </a:r>
          </a:p>
        </p:txBody>
      </p:sp>
      <p:sp>
        <p:nvSpPr>
          <p:cNvPr id="16" name="TextBox 15"/>
          <p:cNvSpPr txBox="1"/>
          <p:nvPr/>
        </p:nvSpPr>
        <p:spPr>
          <a:xfrm>
            <a:off x="1143000" y="3858768"/>
            <a:ext cx="7360920" cy="457200"/>
          </a:xfrm>
          <a:prstGeom prst="rect">
            <a:avLst/>
          </a:prstGeom>
          <a:noFill/>
        </p:spPr>
        <p:txBody>
          <a:bodyPr wrap="square" lIns="0" rIns="0" tIns="0" bIns="0" anchor="t">
            <a:spAutoFit/>
          </a:bodyPr>
          <a:lstStyle/>
          <a:p>
            <a:pPr algn="l">
              <a:lnSpc>
                <a:spcPct val="118000"/>
              </a:lnSpc>
              <a:spcAft>
                <a:spcPts val="400"/>
              </a:spcAft>
            </a:pPr>
            <a:r>
              <a:rPr sz="1100" b="0" i="0">
                <a:solidFill>
                  <a:srgbClr val="5A6B80"/>
                </a:solidFill>
                <a:latin typeface="Calibri"/>
              </a:rPr>
              <a:t>Nothing is lost if the graph is dropped — it is a materialised view of relationships the warehouse already implies.</a:t>
            </a:r>
          </a:p>
        </p:txBody>
      </p:sp>
      <p:sp>
        <p:nvSpPr>
          <p:cNvPr id="17" name="TextBox 16"/>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The same idea applies to any domain already modelled as a star schema — finance, telecom, healthcare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Architecture</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Everything inside the Snowflake boundary except the browser</a:t>
            </a:r>
          </a:p>
        </p:txBody>
      </p:sp>
      <p:sp>
        <p:nvSpPr>
          <p:cNvPr id="5" name="Rounded Rectangle 4"/>
          <p:cNvSpPr/>
          <p:nvPr/>
        </p:nvSpPr>
        <p:spPr>
          <a:xfrm>
            <a:off x="411480" y="1188720"/>
            <a:ext cx="8321040" cy="74980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57784" y="1280160"/>
            <a:ext cx="2286000" cy="219456"/>
          </a:xfrm>
          <a:prstGeom prst="rect">
            <a:avLst/>
          </a:prstGeom>
          <a:noFill/>
        </p:spPr>
        <p:txBody>
          <a:bodyPr wrap="square" lIns="0" rIns="0" tIns="0" bIns="0" anchor="t">
            <a:spAutoFit/>
          </a:bodyPr>
          <a:lstStyle/>
          <a:p>
            <a:pPr algn="l">
              <a:spcAft>
                <a:spcPts val="400"/>
              </a:spcAft>
            </a:pPr>
            <a:r>
              <a:rPr sz="1000" b="1" i="0">
                <a:solidFill>
                  <a:srgbClr val="00C2B2"/>
                </a:solidFill>
                <a:latin typeface="Calibri"/>
              </a:rPr>
              <a:t>SOURCE  ·  SCS.INVENTORY</a:t>
            </a:r>
          </a:p>
        </p:txBody>
      </p:sp>
      <p:sp>
        <p:nvSpPr>
          <p:cNvPr id="7" name="TextBox 6"/>
          <p:cNvSpPr txBox="1"/>
          <p:nvPr/>
        </p:nvSpPr>
        <p:spPr>
          <a:xfrm>
            <a:off x="557784" y="1517904"/>
            <a:ext cx="2286000" cy="310896"/>
          </a:xfrm>
          <a:prstGeom prst="rect">
            <a:avLst/>
          </a:prstGeom>
          <a:noFill/>
        </p:spPr>
        <p:txBody>
          <a:bodyPr wrap="square" lIns="0" rIns="0" tIns="0" bIns="0" anchor="t">
            <a:spAutoFit/>
          </a:bodyPr>
          <a:lstStyle/>
          <a:p>
            <a:pPr algn="l">
              <a:spcAft>
                <a:spcPts val="400"/>
              </a:spcAft>
            </a:pPr>
            <a:r>
              <a:rPr sz="850" b="0" i="0">
                <a:solidFill>
                  <a:srgbClr val="5A6B80"/>
                </a:solidFill>
                <a:latin typeface="Calibri"/>
              </a:rPr>
              <a:t>37 base tables · 2,362,876 rows</a:t>
            </a:r>
          </a:p>
        </p:txBody>
      </p:sp>
      <p:sp>
        <p:nvSpPr>
          <p:cNvPr id="8" name="Rounded Rectangle 7"/>
          <p:cNvSpPr/>
          <p:nvPr/>
        </p:nvSpPr>
        <p:spPr>
          <a:xfrm>
            <a:off x="3017520" y="1408176"/>
            <a:ext cx="618128" cy="310896"/>
          </a:xfrm>
          <a:prstGeom prst="roundRect">
            <a:avLst>
              <a:gd name="adj" fmla="val 6000"/>
            </a:avLst>
          </a:prstGeom>
          <a:solidFill>
            <a:srgbClr val="FFFFFF"/>
          </a:solidFill>
          <a:ln w="9525">
            <a:solidFill>
              <a:srgbClr val="00C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17520" y="1472184"/>
            <a:ext cx="618128"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DIM_PART</a:t>
            </a:r>
          </a:p>
        </p:txBody>
      </p:sp>
      <p:sp>
        <p:nvSpPr>
          <p:cNvPr id="10" name="Rounded Rectangle 9"/>
          <p:cNvSpPr/>
          <p:nvPr/>
        </p:nvSpPr>
        <p:spPr>
          <a:xfrm>
            <a:off x="3727088" y="1408176"/>
            <a:ext cx="561436" cy="310896"/>
          </a:xfrm>
          <a:prstGeom prst="roundRect">
            <a:avLst>
              <a:gd name="adj" fmla="val 6000"/>
            </a:avLst>
          </a:prstGeom>
          <a:solidFill>
            <a:srgbClr val="FFFFFF"/>
          </a:solidFill>
          <a:ln w="9525">
            <a:solidFill>
              <a:srgbClr val="00C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727088" y="1472184"/>
            <a:ext cx="561436"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PO_LINE</a:t>
            </a:r>
          </a:p>
        </p:txBody>
      </p:sp>
      <p:sp>
        <p:nvSpPr>
          <p:cNvPr id="12" name="Rounded Rectangle 11"/>
          <p:cNvSpPr/>
          <p:nvPr/>
        </p:nvSpPr>
        <p:spPr>
          <a:xfrm>
            <a:off x="4379964" y="1408176"/>
            <a:ext cx="958280" cy="310896"/>
          </a:xfrm>
          <a:prstGeom prst="roundRect">
            <a:avLst>
              <a:gd name="adj" fmla="val 6000"/>
            </a:avLst>
          </a:prstGeom>
          <a:solidFill>
            <a:srgbClr val="FFFFFF"/>
          </a:solidFill>
          <a:ln w="9525">
            <a:solidFill>
              <a:srgbClr val="00C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379964" y="1472184"/>
            <a:ext cx="958280"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FACT_INVENTORY</a:t>
            </a:r>
          </a:p>
        </p:txBody>
      </p:sp>
      <p:sp>
        <p:nvSpPr>
          <p:cNvPr id="14" name="Rounded Rectangle 13"/>
          <p:cNvSpPr/>
          <p:nvPr/>
        </p:nvSpPr>
        <p:spPr>
          <a:xfrm>
            <a:off x="5429684" y="1408176"/>
            <a:ext cx="674820" cy="310896"/>
          </a:xfrm>
          <a:prstGeom prst="roundRect">
            <a:avLst>
              <a:gd name="adj" fmla="val 6000"/>
            </a:avLst>
          </a:prstGeom>
          <a:solidFill>
            <a:srgbClr val="FFFFFF"/>
          </a:solidFill>
          <a:ln w="9525">
            <a:solidFill>
              <a:srgbClr val="00C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29684" y="1472184"/>
            <a:ext cx="674820"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APPROVALS</a:t>
            </a:r>
          </a:p>
        </p:txBody>
      </p:sp>
      <p:sp>
        <p:nvSpPr>
          <p:cNvPr id="16" name="Rounded Rectangle 15"/>
          <p:cNvSpPr/>
          <p:nvPr/>
        </p:nvSpPr>
        <p:spPr>
          <a:xfrm>
            <a:off x="411480" y="2029968"/>
            <a:ext cx="8321040" cy="74980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57784" y="2121408"/>
            <a:ext cx="2286000" cy="219456"/>
          </a:xfrm>
          <a:prstGeom prst="rect">
            <a:avLst/>
          </a:prstGeom>
          <a:noFill/>
        </p:spPr>
        <p:txBody>
          <a:bodyPr wrap="square" lIns="0" rIns="0" tIns="0" bIns="0" anchor="t">
            <a:spAutoFit/>
          </a:bodyPr>
          <a:lstStyle/>
          <a:p>
            <a:pPr algn="l">
              <a:spcAft>
                <a:spcPts val="400"/>
              </a:spcAft>
            </a:pPr>
            <a:r>
              <a:rPr sz="1000" b="1" i="0">
                <a:solidFill>
                  <a:srgbClr val="18A0FB"/>
                </a:solidFill>
                <a:latin typeface="Calibri"/>
              </a:rPr>
              <a:t>GRAPH  ·  SCS.KG</a:t>
            </a:r>
          </a:p>
        </p:txBody>
      </p:sp>
      <p:sp>
        <p:nvSpPr>
          <p:cNvPr id="18" name="TextBox 17"/>
          <p:cNvSpPr txBox="1"/>
          <p:nvPr/>
        </p:nvSpPr>
        <p:spPr>
          <a:xfrm>
            <a:off x="557784" y="2359152"/>
            <a:ext cx="2286000" cy="310896"/>
          </a:xfrm>
          <a:prstGeom prst="rect">
            <a:avLst/>
          </a:prstGeom>
          <a:noFill/>
        </p:spPr>
        <p:txBody>
          <a:bodyPr wrap="square" lIns="0" rIns="0" tIns="0" bIns="0" anchor="t">
            <a:spAutoFit/>
          </a:bodyPr>
          <a:lstStyle/>
          <a:p>
            <a:pPr algn="l">
              <a:spcAft>
                <a:spcPts val="400"/>
              </a:spcAft>
            </a:pPr>
            <a:r>
              <a:rPr sz="850" b="0" i="0">
                <a:solidFill>
                  <a:srgbClr val="5A6B80"/>
                </a:solidFill>
                <a:latin typeface="Calibri"/>
              </a:rPr>
              <a:t>7,613 nodes · 26,524 edges · 5 analytical views</a:t>
            </a:r>
          </a:p>
        </p:txBody>
      </p:sp>
      <p:sp>
        <p:nvSpPr>
          <p:cNvPr id="19" name="Rounded Rectangle 18"/>
          <p:cNvSpPr/>
          <p:nvPr/>
        </p:nvSpPr>
        <p:spPr>
          <a:xfrm>
            <a:off x="3017520" y="2249424"/>
            <a:ext cx="618128" cy="310896"/>
          </a:xfrm>
          <a:prstGeom prst="roundRect">
            <a:avLst>
              <a:gd name="adj" fmla="val 6000"/>
            </a:avLst>
          </a:prstGeom>
          <a:solidFill>
            <a:srgbClr val="FFFFFF"/>
          </a:solidFill>
          <a:ln w="9525">
            <a:solidFill>
              <a:srgbClr val="18A0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017520" y="2313432"/>
            <a:ext cx="618128"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KG_NODES</a:t>
            </a:r>
          </a:p>
        </p:txBody>
      </p:sp>
      <p:sp>
        <p:nvSpPr>
          <p:cNvPr id="21" name="Rounded Rectangle 20"/>
          <p:cNvSpPr/>
          <p:nvPr/>
        </p:nvSpPr>
        <p:spPr>
          <a:xfrm>
            <a:off x="3727088" y="2249424"/>
            <a:ext cx="618128" cy="310896"/>
          </a:xfrm>
          <a:prstGeom prst="roundRect">
            <a:avLst>
              <a:gd name="adj" fmla="val 6000"/>
            </a:avLst>
          </a:prstGeom>
          <a:solidFill>
            <a:srgbClr val="FFFFFF"/>
          </a:solidFill>
          <a:ln w="9525">
            <a:solidFill>
              <a:srgbClr val="18A0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727088" y="2313432"/>
            <a:ext cx="618128"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KG_EDGES</a:t>
            </a:r>
          </a:p>
        </p:txBody>
      </p:sp>
      <p:sp>
        <p:nvSpPr>
          <p:cNvPr id="23" name="Rounded Rectangle 22"/>
          <p:cNvSpPr/>
          <p:nvPr/>
        </p:nvSpPr>
        <p:spPr>
          <a:xfrm>
            <a:off x="4436656" y="2249424"/>
            <a:ext cx="561436" cy="310896"/>
          </a:xfrm>
          <a:prstGeom prst="roundRect">
            <a:avLst>
              <a:gd name="adj" fmla="val 6000"/>
            </a:avLst>
          </a:prstGeom>
          <a:solidFill>
            <a:srgbClr val="FFFFFF"/>
          </a:solidFill>
          <a:ln w="9525">
            <a:solidFill>
              <a:srgbClr val="18A0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36656" y="2313432"/>
            <a:ext cx="561436"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VW_SPOF</a:t>
            </a:r>
          </a:p>
        </p:txBody>
      </p:sp>
      <p:sp>
        <p:nvSpPr>
          <p:cNvPr id="25" name="Rounded Rectangle 24"/>
          <p:cNvSpPr/>
          <p:nvPr/>
        </p:nvSpPr>
        <p:spPr>
          <a:xfrm>
            <a:off x="5089532" y="2249424"/>
            <a:ext cx="1185048" cy="310896"/>
          </a:xfrm>
          <a:prstGeom prst="roundRect">
            <a:avLst>
              <a:gd name="adj" fmla="val 6000"/>
            </a:avLst>
          </a:prstGeom>
          <a:solidFill>
            <a:srgbClr val="FFFFFF"/>
          </a:solidFill>
          <a:ln w="9525">
            <a:solidFill>
              <a:srgbClr val="18A0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89532" y="2313432"/>
            <a:ext cx="1185048"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VW_NODE_IMPORTANCE</a:t>
            </a:r>
          </a:p>
        </p:txBody>
      </p:sp>
      <p:sp>
        <p:nvSpPr>
          <p:cNvPr id="27" name="Rounded Rectangle 26"/>
          <p:cNvSpPr/>
          <p:nvPr/>
        </p:nvSpPr>
        <p:spPr>
          <a:xfrm>
            <a:off x="411480" y="2871216"/>
            <a:ext cx="8321040" cy="74980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57784" y="2962656"/>
            <a:ext cx="2286000" cy="219456"/>
          </a:xfrm>
          <a:prstGeom prst="rect">
            <a:avLst/>
          </a:prstGeom>
          <a:noFill/>
        </p:spPr>
        <p:txBody>
          <a:bodyPr wrap="square" lIns="0" rIns="0" tIns="0" bIns="0" anchor="t">
            <a:spAutoFit/>
          </a:bodyPr>
          <a:lstStyle/>
          <a:p>
            <a:pPr algn="l">
              <a:spcAft>
                <a:spcPts val="400"/>
              </a:spcAft>
            </a:pPr>
            <a:r>
              <a:rPr sz="1000" b="1" i="0">
                <a:solidFill>
                  <a:srgbClr val="8A5CF6"/>
                </a:solidFill>
                <a:latin typeface="Calibri"/>
              </a:rPr>
              <a:t>SEMANTIC  ·  SCS.SEMANTIC</a:t>
            </a:r>
          </a:p>
        </p:txBody>
      </p:sp>
      <p:sp>
        <p:nvSpPr>
          <p:cNvPr id="29" name="TextBox 28"/>
          <p:cNvSpPr txBox="1"/>
          <p:nvPr/>
        </p:nvSpPr>
        <p:spPr>
          <a:xfrm>
            <a:off x="557784" y="3200400"/>
            <a:ext cx="2286000" cy="310896"/>
          </a:xfrm>
          <a:prstGeom prst="rect">
            <a:avLst/>
          </a:prstGeom>
          <a:noFill/>
        </p:spPr>
        <p:txBody>
          <a:bodyPr wrap="square" lIns="0" rIns="0" tIns="0" bIns="0" anchor="t">
            <a:spAutoFit/>
          </a:bodyPr>
          <a:lstStyle/>
          <a:p>
            <a:pPr algn="l">
              <a:spcAft>
                <a:spcPts val="400"/>
              </a:spcAft>
            </a:pPr>
            <a:r>
              <a:rPr sz="850" b="0" i="0">
                <a:solidFill>
                  <a:srgbClr val="5A6B80"/>
                </a:solidFill>
                <a:latin typeface="Calibri"/>
              </a:rPr>
              <a:t>9 facts · 4 dimensions · 5 metrics · 10 documents</a:t>
            </a:r>
          </a:p>
        </p:txBody>
      </p:sp>
      <p:sp>
        <p:nvSpPr>
          <p:cNvPr id="30" name="Rounded Rectangle 29"/>
          <p:cNvSpPr/>
          <p:nvPr/>
        </p:nvSpPr>
        <p:spPr>
          <a:xfrm>
            <a:off x="3017520" y="3090672"/>
            <a:ext cx="1185048" cy="310896"/>
          </a:xfrm>
          <a:prstGeom prst="roundRect">
            <a:avLst>
              <a:gd name="adj" fmla="val 6000"/>
            </a:avLst>
          </a:prstGeom>
          <a:solidFill>
            <a:srgbClr val="FFFFFF"/>
          </a:solidFill>
          <a:ln w="9525">
            <a:solidFill>
              <a:srgbClr val="8A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017520" y="3154680"/>
            <a:ext cx="1185048"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SV_SUPPLY_CHAIN_KG</a:t>
            </a:r>
          </a:p>
        </p:txBody>
      </p:sp>
      <p:sp>
        <p:nvSpPr>
          <p:cNvPr id="32" name="Rounded Rectangle 31"/>
          <p:cNvSpPr/>
          <p:nvPr/>
        </p:nvSpPr>
        <p:spPr>
          <a:xfrm>
            <a:off x="4294008" y="3090672"/>
            <a:ext cx="1241740" cy="310896"/>
          </a:xfrm>
          <a:prstGeom prst="roundRect">
            <a:avLst>
              <a:gd name="adj" fmla="val 6000"/>
            </a:avLst>
          </a:prstGeom>
          <a:solidFill>
            <a:srgbClr val="FFFFFF"/>
          </a:solidFill>
          <a:ln w="9525">
            <a:solidFill>
              <a:srgbClr val="8A5C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4008" y="3154680"/>
            <a:ext cx="1241740"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SCM_DOCUMENT_SEARCH</a:t>
            </a:r>
          </a:p>
        </p:txBody>
      </p:sp>
      <p:sp>
        <p:nvSpPr>
          <p:cNvPr id="34" name="Rounded Rectangle 33"/>
          <p:cNvSpPr/>
          <p:nvPr/>
        </p:nvSpPr>
        <p:spPr>
          <a:xfrm>
            <a:off x="411480" y="3712463"/>
            <a:ext cx="8321040" cy="74980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57784" y="3803903"/>
            <a:ext cx="2286000" cy="219456"/>
          </a:xfrm>
          <a:prstGeom prst="rect">
            <a:avLst/>
          </a:prstGeom>
          <a:noFill/>
        </p:spPr>
        <p:txBody>
          <a:bodyPr wrap="square" lIns="0" rIns="0" tIns="0" bIns="0" anchor="t">
            <a:spAutoFit/>
          </a:bodyPr>
          <a:lstStyle/>
          <a:p>
            <a:pPr algn="l">
              <a:spcAft>
                <a:spcPts val="400"/>
              </a:spcAft>
            </a:pPr>
            <a:r>
              <a:rPr sz="1000" b="1" i="0">
                <a:solidFill>
                  <a:srgbClr val="F5A623"/>
                </a:solidFill>
                <a:latin typeface="Calibri"/>
              </a:rPr>
              <a:t>AGENT + APP</a:t>
            </a:r>
          </a:p>
        </p:txBody>
      </p:sp>
      <p:sp>
        <p:nvSpPr>
          <p:cNvPr id="36" name="TextBox 35"/>
          <p:cNvSpPr txBox="1"/>
          <p:nvPr/>
        </p:nvSpPr>
        <p:spPr>
          <a:xfrm>
            <a:off x="557784" y="4041647"/>
            <a:ext cx="2286000" cy="310896"/>
          </a:xfrm>
          <a:prstGeom prst="rect">
            <a:avLst/>
          </a:prstGeom>
          <a:noFill/>
        </p:spPr>
        <p:txBody>
          <a:bodyPr wrap="square" lIns="0" rIns="0" tIns="0" bIns="0" anchor="t">
            <a:spAutoFit/>
          </a:bodyPr>
          <a:lstStyle/>
          <a:p>
            <a:pPr algn="l">
              <a:spcAft>
                <a:spcPts val="400"/>
              </a:spcAft>
            </a:pPr>
            <a:r>
              <a:rPr sz="850" b="0" i="0">
                <a:solidFill>
                  <a:srgbClr val="5A6B80"/>
                </a:solidFill>
                <a:latin typeface="Calibri"/>
              </a:rPr>
              <a:t>Cortex agent:run · Flask · CoCo-built</a:t>
            </a:r>
          </a:p>
        </p:txBody>
      </p:sp>
      <p:sp>
        <p:nvSpPr>
          <p:cNvPr id="37" name="Rounded Rectangle 36"/>
          <p:cNvSpPr/>
          <p:nvPr/>
        </p:nvSpPr>
        <p:spPr>
          <a:xfrm>
            <a:off x="3017520" y="3931919"/>
            <a:ext cx="731512" cy="310896"/>
          </a:xfrm>
          <a:prstGeom prst="roundRect">
            <a:avLst>
              <a:gd name="adj" fmla="val 6000"/>
            </a:avLst>
          </a:prstGeom>
          <a:solidFill>
            <a:srgbClr val="FFFFFF"/>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017520" y="3995927"/>
            <a:ext cx="731512"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kg_analyst</a:t>
            </a:r>
          </a:p>
        </p:txBody>
      </p:sp>
      <p:sp>
        <p:nvSpPr>
          <p:cNvPr id="39" name="Rounded Rectangle 38"/>
          <p:cNvSpPr/>
          <p:nvPr/>
        </p:nvSpPr>
        <p:spPr>
          <a:xfrm>
            <a:off x="3840472" y="3931919"/>
            <a:ext cx="674820" cy="310896"/>
          </a:xfrm>
          <a:prstGeom prst="roundRect">
            <a:avLst>
              <a:gd name="adj" fmla="val 6000"/>
            </a:avLst>
          </a:prstGeom>
          <a:solidFill>
            <a:srgbClr val="FFFFFF"/>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840472" y="3995927"/>
            <a:ext cx="674820"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kg_search</a:t>
            </a:r>
          </a:p>
        </p:txBody>
      </p:sp>
      <p:sp>
        <p:nvSpPr>
          <p:cNvPr id="41" name="Rounded Rectangle 40"/>
          <p:cNvSpPr/>
          <p:nvPr/>
        </p:nvSpPr>
        <p:spPr>
          <a:xfrm>
            <a:off x="4606732" y="3931919"/>
            <a:ext cx="618128" cy="310896"/>
          </a:xfrm>
          <a:prstGeom prst="roundRect">
            <a:avLst>
              <a:gd name="adj" fmla="val 6000"/>
            </a:avLst>
          </a:prstGeom>
          <a:solidFill>
            <a:srgbClr val="FFFFFF"/>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606732" y="3995927"/>
            <a:ext cx="618128"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sql_exec</a:t>
            </a:r>
          </a:p>
        </p:txBody>
      </p:sp>
      <p:sp>
        <p:nvSpPr>
          <p:cNvPr id="43" name="Rounded Rectangle 42"/>
          <p:cNvSpPr/>
          <p:nvPr/>
        </p:nvSpPr>
        <p:spPr>
          <a:xfrm>
            <a:off x="5316300" y="3931919"/>
            <a:ext cx="901588" cy="310896"/>
          </a:xfrm>
          <a:prstGeom prst="roundRect">
            <a:avLst>
              <a:gd name="adj" fmla="val 6000"/>
            </a:avLst>
          </a:prstGeom>
          <a:solidFill>
            <a:srgbClr val="FFFFFF"/>
          </a:solidFill>
          <a:ln w="952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316300" y="3995927"/>
            <a:ext cx="901588" cy="201168"/>
          </a:xfrm>
          <a:prstGeom prst="rect">
            <a:avLst/>
          </a:prstGeom>
          <a:noFill/>
        </p:spPr>
        <p:txBody>
          <a:bodyPr wrap="square" lIns="0" rIns="0" tIns="0" bIns="0" anchor="t">
            <a:spAutoFit/>
          </a:bodyPr>
          <a:lstStyle/>
          <a:p>
            <a:pPr algn="ctr">
              <a:spcAft>
                <a:spcPts val="400"/>
              </a:spcAft>
            </a:pPr>
            <a:r>
              <a:rPr sz="800" b="0" i="0">
                <a:solidFill>
                  <a:srgbClr val="0B1220"/>
                </a:solidFill>
                <a:latin typeface="Calibri"/>
              </a:rPr>
              <a:t>data_to_chart</a:t>
            </a:r>
          </a:p>
        </p:txBody>
      </p:sp>
      <p:sp>
        <p:nvSpPr>
          <p:cNvPr id="45" name="Down Arrow 44"/>
          <p:cNvSpPr/>
          <p:nvPr/>
        </p:nvSpPr>
        <p:spPr>
          <a:xfrm>
            <a:off x="1371600" y="1956816"/>
            <a:ext cx="201168" cy="73152"/>
          </a:xfrm>
          <a:prstGeom prst="downArrow">
            <a:avLst/>
          </a:prstGeom>
          <a:solidFill>
            <a:srgbClr val="D5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Down Arrow 45"/>
          <p:cNvSpPr/>
          <p:nvPr/>
        </p:nvSpPr>
        <p:spPr>
          <a:xfrm>
            <a:off x="1371600" y="2798064"/>
            <a:ext cx="201168" cy="73152"/>
          </a:xfrm>
          <a:prstGeom prst="downArrow">
            <a:avLst/>
          </a:prstGeom>
          <a:solidFill>
            <a:srgbClr val="D5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Down Arrow 46"/>
          <p:cNvSpPr/>
          <p:nvPr/>
        </p:nvSpPr>
        <p:spPr>
          <a:xfrm>
            <a:off x="1371600" y="3639312"/>
            <a:ext cx="201168" cy="73152"/>
          </a:xfrm>
          <a:prstGeom prst="downArrow">
            <a:avLst/>
          </a:prstGeom>
          <a:solidFill>
            <a:srgbClr val="D5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No data leaves Snowflake. The browser receives rendered answers, never rows of source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One question, end to end</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Measured on the running prototype</a:t>
            </a:r>
          </a:p>
        </p:txBody>
      </p:sp>
      <p:sp>
        <p:nvSpPr>
          <p:cNvPr id="5" name="Rounded Rectangle 4"/>
          <p:cNvSpPr/>
          <p:nvPr/>
        </p:nvSpPr>
        <p:spPr>
          <a:xfrm>
            <a:off x="411480" y="1353312"/>
            <a:ext cx="1591056" cy="18836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24128" y="1481328"/>
            <a:ext cx="365760" cy="365760"/>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484632" y="1938528"/>
            <a:ext cx="1444752" cy="237744"/>
          </a:xfrm>
          <a:prstGeom prst="rect">
            <a:avLst/>
          </a:prstGeom>
          <a:noFill/>
        </p:spPr>
        <p:txBody>
          <a:bodyPr wrap="square" lIns="0" rIns="0" tIns="0" bIns="0" anchor="t">
            <a:spAutoFit/>
          </a:bodyPr>
          <a:lstStyle/>
          <a:p>
            <a:pPr algn="ctr">
              <a:spcAft>
                <a:spcPts val="400"/>
              </a:spcAft>
            </a:pPr>
            <a:r>
              <a:rPr sz="1100" b="1" i="0">
                <a:solidFill>
                  <a:srgbClr val="0B1220"/>
                </a:solidFill>
                <a:latin typeface="Cambria"/>
              </a:rPr>
              <a:t>Question</a:t>
            </a:r>
          </a:p>
        </p:txBody>
      </p:sp>
      <p:sp>
        <p:nvSpPr>
          <p:cNvPr id="8" name="TextBox 7"/>
          <p:cNvSpPr txBox="1"/>
          <p:nvPr/>
        </p:nvSpPr>
        <p:spPr>
          <a:xfrm>
            <a:off x="484632" y="2231136"/>
            <a:ext cx="1444752" cy="868680"/>
          </a:xfrm>
          <a:prstGeom prst="rect">
            <a:avLst/>
          </a:prstGeom>
          <a:noFill/>
        </p:spPr>
        <p:txBody>
          <a:bodyPr wrap="square" lIns="0" rIns="0" tIns="0" bIns="0" anchor="t">
            <a:spAutoFit/>
          </a:bodyPr>
          <a:lstStyle/>
          <a:p>
            <a:pPr algn="ctr">
              <a:lnSpc>
                <a:spcPct val="115000"/>
              </a:lnSpc>
              <a:spcAft>
                <a:spcPts val="400"/>
              </a:spcAft>
            </a:pPr>
            <a:r>
              <a:rPr sz="850" b="0" i="0">
                <a:solidFill>
                  <a:srgbClr val="5A6B80"/>
                </a:solidFill>
                <a:latin typeface="Calibri"/>
              </a:rPr>
              <a:t>“Which supplier sites are single
points of failure?”</a:t>
            </a:r>
          </a:p>
        </p:txBody>
      </p:sp>
      <p:sp>
        <p:nvSpPr>
          <p:cNvPr id="9" name="Right Arrow 8"/>
          <p:cNvSpPr/>
          <p:nvPr/>
        </p:nvSpPr>
        <p:spPr>
          <a:xfrm>
            <a:off x="2007108" y="2212848"/>
            <a:ext cx="82296" cy="146304"/>
          </a:xfrm>
          <a:prstGeom prst="rightArrow">
            <a:avLst/>
          </a:prstGeom>
          <a:solidFill>
            <a:srgbClr val="D5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093976" y="1353312"/>
            <a:ext cx="1591056" cy="18836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706624" y="1481328"/>
            <a:ext cx="365760" cy="365760"/>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2167128" y="1938528"/>
            <a:ext cx="1444752" cy="237744"/>
          </a:xfrm>
          <a:prstGeom prst="rect">
            <a:avLst/>
          </a:prstGeom>
          <a:noFill/>
        </p:spPr>
        <p:txBody>
          <a:bodyPr wrap="square" lIns="0" rIns="0" tIns="0" bIns="0" anchor="t">
            <a:spAutoFit/>
          </a:bodyPr>
          <a:lstStyle/>
          <a:p>
            <a:pPr algn="ctr">
              <a:spcAft>
                <a:spcPts val="400"/>
              </a:spcAft>
            </a:pPr>
            <a:r>
              <a:rPr sz="1100" b="1" i="0">
                <a:solidFill>
                  <a:srgbClr val="0B1220"/>
                </a:solidFill>
                <a:latin typeface="Cambria"/>
              </a:rPr>
              <a:t>Cortex agent</a:t>
            </a:r>
          </a:p>
        </p:txBody>
      </p:sp>
      <p:sp>
        <p:nvSpPr>
          <p:cNvPr id="13" name="TextBox 12"/>
          <p:cNvSpPr txBox="1"/>
          <p:nvPr/>
        </p:nvSpPr>
        <p:spPr>
          <a:xfrm>
            <a:off x="2167128" y="2231136"/>
            <a:ext cx="1444752" cy="868680"/>
          </a:xfrm>
          <a:prstGeom prst="rect">
            <a:avLst/>
          </a:prstGeom>
          <a:noFill/>
        </p:spPr>
        <p:txBody>
          <a:bodyPr wrap="square" lIns="0" rIns="0" tIns="0" bIns="0" anchor="t">
            <a:spAutoFit/>
          </a:bodyPr>
          <a:lstStyle/>
          <a:p>
            <a:pPr algn="ctr">
              <a:lnSpc>
                <a:spcPct val="115000"/>
              </a:lnSpc>
              <a:spcAft>
                <a:spcPts val="400"/>
              </a:spcAft>
            </a:pPr>
            <a:r>
              <a:rPr sz="850" b="0" i="0">
                <a:solidFill>
                  <a:srgbClr val="5A6B80"/>
                </a:solidFill>
                <a:latin typeface="Calibri"/>
              </a:rPr>
              <a:t>Plans, picks kg_analyst,
writes SQL</a:t>
            </a:r>
          </a:p>
        </p:txBody>
      </p:sp>
      <p:sp>
        <p:nvSpPr>
          <p:cNvPr id="14" name="Right Arrow 13"/>
          <p:cNvSpPr/>
          <p:nvPr/>
        </p:nvSpPr>
        <p:spPr>
          <a:xfrm>
            <a:off x="3689604" y="2212848"/>
            <a:ext cx="82296" cy="146304"/>
          </a:xfrm>
          <a:prstGeom prst="rightArrow">
            <a:avLst/>
          </a:prstGeom>
          <a:solidFill>
            <a:srgbClr val="D5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776472" y="1353312"/>
            <a:ext cx="1591056" cy="18836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389120" y="1481328"/>
            <a:ext cx="365760" cy="365760"/>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7" name="TextBox 16"/>
          <p:cNvSpPr txBox="1"/>
          <p:nvPr/>
        </p:nvSpPr>
        <p:spPr>
          <a:xfrm>
            <a:off x="3849624" y="1938528"/>
            <a:ext cx="1444752" cy="237744"/>
          </a:xfrm>
          <a:prstGeom prst="rect">
            <a:avLst/>
          </a:prstGeom>
          <a:noFill/>
        </p:spPr>
        <p:txBody>
          <a:bodyPr wrap="square" lIns="0" rIns="0" tIns="0" bIns="0" anchor="t">
            <a:spAutoFit/>
          </a:bodyPr>
          <a:lstStyle/>
          <a:p>
            <a:pPr algn="ctr">
              <a:spcAft>
                <a:spcPts val="400"/>
              </a:spcAft>
            </a:pPr>
            <a:r>
              <a:rPr sz="1100" b="1" i="0">
                <a:solidFill>
                  <a:srgbClr val="0B1220"/>
                </a:solidFill>
                <a:latin typeface="Cambria"/>
              </a:rPr>
              <a:t>Semantic view</a:t>
            </a:r>
          </a:p>
        </p:txBody>
      </p:sp>
      <p:sp>
        <p:nvSpPr>
          <p:cNvPr id="18" name="TextBox 17"/>
          <p:cNvSpPr txBox="1"/>
          <p:nvPr/>
        </p:nvSpPr>
        <p:spPr>
          <a:xfrm>
            <a:off x="3849624" y="2231136"/>
            <a:ext cx="1444752" cy="868680"/>
          </a:xfrm>
          <a:prstGeom prst="rect">
            <a:avLst/>
          </a:prstGeom>
          <a:noFill/>
        </p:spPr>
        <p:txBody>
          <a:bodyPr wrap="square" lIns="0" rIns="0" tIns="0" bIns="0" anchor="t">
            <a:spAutoFit/>
          </a:bodyPr>
          <a:lstStyle/>
          <a:p>
            <a:pPr algn="ctr">
              <a:lnSpc>
                <a:spcPct val="115000"/>
              </a:lnSpc>
              <a:spcAft>
                <a:spcPts val="400"/>
              </a:spcAft>
            </a:pPr>
            <a:r>
              <a:rPr sz="850" b="0" i="0">
                <a:solidFill>
                  <a:srgbClr val="5A6B80"/>
                </a:solidFill>
                <a:latin typeface="Calibri"/>
              </a:rPr>
              <a:t>Resolves logical names to
KG_NODES / KG_EDGES</a:t>
            </a:r>
          </a:p>
        </p:txBody>
      </p:sp>
      <p:sp>
        <p:nvSpPr>
          <p:cNvPr id="19" name="Right Arrow 18"/>
          <p:cNvSpPr/>
          <p:nvPr/>
        </p:nvSpPr>
        <p:spPr>
          <a:xfrm>
            <a:off x="5372100" y="2212848"/>
            <a:ext cx="82296" cy="146304"/>
          </a:xfrm>
          <a:prstGeom prst="rightArrow">
            <a:avLst/>
          </a:prstGeom>
          <a:solidFill>
            <a:srgbClr val="D5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458968" y="1353312"/>
            <a:ext cx="1591056" cy="18836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71616" y="148132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2" name="TextBox 21"/>
          <p:cNvSpPr txBox="1"/>
          <p:nvPr/>
        </p:nvSpPr>
        <p:spPr>
          <a:xfrm>
            <a:off x="5532120" y="1938528"/>
            <a:ext cx="1444752" cy="237744"/>
          </a:xfrm>
          <a:prstGeom prst="rect">
            <a:avLst/>
          </a:prstGeom>
          <a:noFill/>
        </p:spPr>
        <p:txBody>
          <a:bodyPr wrap="square" lIns="0" rIns="0" tIns="0" bIns="0" anchor="t">
            <a:spAutoFit/>
          </a:bodyPr>
          <a:lstStyle/>
          <a:p>
            <a:pPr algn="ctr">
              <a:spcAft>
                <a:spcPts val="400"/>
              </a:spcAft>
            </a:pPr>
            <a:r>
              <a:rPr sz="1100" b="1" i="0">
                <a:solidFill>
                  <a:srgbClr val="0B1220"/>
                </a:solidFill>
                <a:latin typeface="Cambria"/>
              </a:rPr>
              <a:t>sql_exec</a:t>
            </a:r>
          </a:p>
        </p:txBody>
      </p:sp>
      <p:sp>
        <p:nvSpPr>
          <p:cNvPr id="23" name="TextBox 22"/>
          <p:cNvSpPr txBox="1"/>
          <p:nvPr/>
        </p:nvSpPr>
        <p:spPr>
          <a:xfrm>
            <a:off x="5532120" y="2231136"/>
            <a:ext cx="1444752" cy="868680"/>
          </a:xfrm>
          <a:prstGeom prst="rect">
            <a:avLst/>
          </a:prstGeom>
          <a:noFill/>
        </p:spPr>
        <p:txBody>
          <a:bodyPr wrap="square" lIns="0" rIns="0" tIns="0" bIns="0" anchor="t">
            <a:spAutoFit/>
          </a:bodyPr>
          <a:lstStyle/>
          <a:p>
            <a:pPr algn="ctr">
              <a:lnSpc>
                <a:spcPct val="115000"/>
              </a:lnSpc>
              <a:spcAft>
                <a:spcPts val="400"/>
              </a:spcAft>
            </a:pPr>
            <a:r>
              <a:rPr sz="850" b="0" i="0">
                <a:solidFill>
                  <a:srgbClr val="5A6B80"/>
                </a:solidFill>
                <a:latin typeface="Calibri"/>
              </a:rPr>
              <a:t>Runs it on COMPUTE_WH,
returns typed rows</a:t>
            </a:r>
          </a:p>
        </p:txBody>
      </p:sp>
      <p:sp>
        <p:nvSpPr>
          <p:cNvPr id="24" name="Right Arrow 23"/>
          <p:cNvSpPr/>
          <p:nvPr/>
        </p:nvSpPr>
        <p:spPr>
          <a:xfrm>
            <a:off x="7054596" y="2212848"/>
            <a:ext cx="82296" cy="146304"/>
          </a:xfrm>
          <a:prstGeom prst="rightArrow">
            <a:avLst/>
          </a:prstGeom>
          <a:solidFill>
            <a:srgbClr val="D5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141464" y="1353312"/>
            <a:ext cx="1591056" cy="18836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754112" y="1481328"/>
            <a:ext cx="365760" cy="3657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7" name="TextBox 26"/>
          <p:cNvSpPr txBox="1"/>
          <p:nvPr/>
        </p:nvSpPr>
        <p:spPr>
          <a:xfrm>
            <a:off x="7214616" y="1938528"/>
            <a:ext cx="1444752" cy="237744"/>
          </a:xfrm>
          <a:prstGeom prst="rect">
            <a:avLst/>
          </a:prstGeom>
          <a:noFill/>
        </p:spPr>
        <p:txBody>
          <a:bodyPr wrap="square" lIns="0" rIns="0" tIns="0" bIns="0" anchor="t">
            <a:spAutoFit/>
          </a:bodyPr>
          <a:lstStyle/>
          <a:p>
            <a:pPr algn="ctr">
              <a:spcAft>
                <a:spcPts val="400"/>
              </a:spcAft>
            </a:pPr>
            <a:r>
              <a:rPr sz="1100" b="1" i="0">
                <a:solidFill>
                  <a:srgbClr val="0B1220"/>
                </a:solidFill>
                <a:latin typeface="Cambria"/>
              </a:rPr>
              <a:t>Answer</a:t>
            </a:r>
          </a:p>
        </p:txBody>
      </p:sp>
      <p:sp>
        <p:nvSpPr>
          <p:cNvPr id="28" name="TextBox 27"/>
          <p:cNvSpPr txBox="1"/>
          <p:nvPr/>
        </p:nvSpPr>
        <p:spPr>
          <a:xfrm>
            <a:off x="7214616" y="2231136"/>
            <a:ext cx="1444752" cy="868680"/>
          </a:xfrm>
          <a:prstGeom prst="rect">
            <a:avLst/>
          </a:prstGeom>
          <a:noFill/>
        </p:spPr>
        <p:txBody>
          <a:bodyPr wrap="square" lIns="0" rIns="0" tIns="0" bIns="0" anchor="t">
            <a:spAutoFit/>
          </a:bodyPr>
          <a:lstStyle/>
          <a:p>
            <a:pPr algn="ctr">
              <a:lnSpc>
                <a:spcPct val="115000"/>
              </a:lnSpc>
              <a:spcAft>
                <a:spcPts val="400"/>
              </a:spcAft>
            </a:pPr>
            <a:r>
              <a:rPr sz="850" b="0" i="0">
                <a:solidFill>
                  <a:srgbClr val="5A6B80"/>
                </a:solidFill>
                <a:latin typeface="Calibri"/>
              </a:rPr>
              <a:t>Prose + table + chart +
subgraph + trace</a:t>
            </a:r>
          </a:p>
        </p:txBody>
      </p:sp>
      <p:sp>
        <p:nvSpPr>
          <p:cNvPr id="29" name="Rounded Rectangle 28"/>
          <p:cNvSpPr/>
          <p:nvPr/>
        </p:nvSpPr>
        <p:spPr>
          <a:xfrm>
            <a:off x="411480" y="3419856"/>
            <a:ext cx="2682240" cy="74980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2920" y="3511296"/>
            <a:ext cx="2499360" cy="402336"/>
          </a:xfrm>
          <a:prstGeom prst="rect">
            <a:avLst/>
          </a:prstGeom>
          <a:noFill/>
        </p:spPr>
        <p:txBody>
          <a:bodyPr wrap="square" lIns="0" rIns="0" tIns="0" bIns="0" anchor="t">
            <a:spAutoFit/>
          </a:bodyPr>
          <a:lstStyle/>
          <a:p>
            <a:pPr algn="ctr">
              <a:spcAft>
                <a:spcPts val="400"/>
              </a:spcAft>
            </a:pPr>
            <a:r>
              <a:rPr sz="2000" b="1" i="0">
                <a:solidFill>
                  <a:srgbClr val="18A0FB"/>
                </a:solidFill>
                <a:latin typeface="Cambria"/>
              </a:rPr>
              <a:t>20–45s</a:t>
            </a:r>
          </a:p>
        </p:txBody>
      </p:sp>
      <p:sp>
        <p:nvSpPr>
          <p:cNvPr id="31" name="TextBox 30"/>
          <p:cNvSpPr txBox="1"/>
          <p:nvPr/>
        </p:nvSpPr>
        <p:spPr>
          <a:xfrm>
            <a:off x="484632" y="3858768"/>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end-to-end latency</a:t>
            </a:r>
          </a:p>
        </p:txBody>
      </p:sp>
      <p:sp>
        <p:nvSpPr>
          <p:cNvPr id="32" name="Rounded Rectangle 31"/>
          <p:cNvSpPr/>
          <p:nvPr/>
        </p:nvSpPr>
        <p:spPr>
          <a:xfrm>
            <a:off x="3230880" y="3419856"/>
            <a:ext cx="2682240" cy="74980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22320" y="3511296"/>
            <a:ext cx="2499360" cy="402336"/>
          </a:xfrm>
          <a:prstGeom prst="rect">
            <a:avLst/>
          </a:prstGeom>
          <a:noFill/>
        </p:spPr>
        <p:txBody>
          <a:bodyPr wrap="square" lIns="0" rIns="0" tIns="0" bIns="0" anchor="t">
            <a:spAutoFit/>
          </a:bodyPr>
          <a:lstStyle/>
          <a:p>
            <a:pPr algn="ctr">
              <a:spcAft>
                <a:spcPts val="400"/>
              </a:spcAft>
            </a:pPr>
            <a:r>
              <a:rPr sz="2000" b="1" i="0">
                <a:solidFill>
                  <a:srgbClr val="8A5CF6"/>
                </a:solidFill>
                <a:latin typeface="Cambria"/>
              </a:rPr>
              <a:t>~120k</a:t>
            </a:r>
          </a:p>
        </p:txBody>
      </p:sp>
      <p:sp>
        <p:nvSpPr>
          <p:cNvPr id="34" name="TextBox 33"/>
          <p:cNvSpPr txBox="1"/>
          <p:nvPr/>
        </p:nvSpPr>
        <p:spPr>
          <a:xfrm>
            <a:off x="3304032" y="3858768"/>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tokens per answer</a:t>
            </a:r>
          </a:p>
        </p:txBody>
      </p:sp>
      <p:sp>
        <p:nvSpPr>
          <p:cNvPr id="35" name="Rounded Rectangle 34"/>
          <p:cNvSpPr/>
          <p:nvPr/>
        </p:nvSpPr>
        <p:spPr>
          <a:xfrm>
            <a:off x="6050280" y="3419856"/>
            <a:ext cx="2682240" cy="74980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141720" y="3511296"/>
            <a:ext cx="2499360" cy="402336"/>
          </a:xfrm>
          <a:prstGeom prst="rect">
            <a:avLst/>
          </a:prstGeom>
          <a:noFill/>
        </p:spPr>
        <p:txBody>
          <a:bodyPr wrap="square" lIns="0" rIns="0" tIns="0" bIns="0" anchor="t">
            <a:spAutoFit/>
          </a:bodyPr>
          <a:lstStyle/>
          <a:p>
            <a:pPr algn="ctr">
              <a:spcAft>
                <a:spcPts val="400"/>
              </a:spcAft>
            </a:pPr>
            <a:r>
              <a:rPr sz="2000" b="1" i="0">
                <a:solidFill>
                  <a:srgbClr val="2E9E5B"/>
                </a:solidFill>
                <a:latin typeface="Cambria"/>
              </a:rPr>
              <a:t>$0.10–0.16</a:t>
            </a:r>
          </a:p>
        </p:txBody>
      </p:sp>
      <p:sp>
        <p:nvSpPr>
          <p:cNvPr id="37" name="TextBox 36"/>
          <p:cNvSpPr txBox="1"/>
          <p:nvPr/>
        </p:nvSpPr>
        <p:spPr>
          <a:xfrm>
            <a:off x="6123432" y="3858768"/>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cost per answer</a:t>
            </a:r>
          </a:p>
        </p:txBody>
      </p:sp>
      <p:sp>
        <p:nvSpPr>
          <p:cNvPr id="38" name="TextBox 37"/>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Latency is dominated by agent planning, not by the SQL — the queries themselves return in under a second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How CoCo CLI built this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Every layer below was produced in a CoCo session</a:t>
            </a:r>
          </a:p>
        </p:txBody>
      </p:sp>
      <p:sp>
        <p:nvSpPr>
          <p:cNvPr id="5" name="Rounded Rectangle 4"/>
          <p:cNvSpPr/>
          <p:nvPr/>
        </p:nvSpPr>
        <p:spPr>
          <a:xfrm>
            <a:off x="411480" y="1207008"/>
            <a:ext cx="4059936" cy="95097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48640" y="1335024"/>
            <a:ext cx="274320" cy="274320"/>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7" name="TextBox 6"/>
          <p:cNvSpPr txBox="1"/>
          <p:nvPr/>
        </p:nvSpPr>
        <p:spPr>
          <a:xfrm>
            <a:off x="914400" y="1325880"/>
            <a:ext cx="3419856" cy="237744"/>
          </a:xfrm>
          <a:prstGeom prst="rect">
            <a:avLst/>
          </a:prstGeom>
          <a:noFill/>
        </p:spPr>
        <p:txBody>
          <a:bodyPr wrap="square" lIns="0" rIns="0" tIns="0" bIns="0" anchor="t">
            <a:spAutoFit/>
          </a:bodyPr>
          <a:lstStyle/>
          <a:p>
            <a:pPr algn="l">
              <a:spcAft>
                <a:spcPts val="400"/>
              </a:spcAft>
            </a:pPr>
            <a:r>
              <a:rPr sz="1150" b="1" i="0">
                <a:solidFill>
                  <a:srgbClr val="0B1220"/>
                </a:solidFill>
                <a:latin typeface="Cambria"/>
              </a:rPr>
              <a:t>Schema exploration</a:t>
            </a:r>
          </a:p>
        </p:txBody>
      </p:sp>
      <p:sp>
        <p:nvSpPr>
          <p:cNvPr id="8" name="TextBox 7"/>
          <p:cNvSpPr txBox="1"/>
          <p:nvPr/>
        </p:nvSpPr>
        <p:spPr>
          <a:xfrm>
            <a:off x="548640" y="1627632"/>
            <a:ext cx="3785616" cy="475488"/>
          </a:xfrm>
          <a:prstGeom prst="rect">
            <a:avLst/>
          </a:prstGeom>
          <a:noFill/>
        </p:spPr>
        <p:txBody>
          <a:bodyPr wrap="square" lIns="0" rIns="0" tIns="0" bIns="0" anchor="t">
            <a:spAutoFit/>
          </a:bodyPr>
          <a:lstStyle/>
          <a:p>
            <a:pPr algn="l">
              <a:lnSpc>
                <a:spcPct val="115000"/>
              </a:lnSpc>
              <a:spcAft>
                <a:spcPts val="400"/>
              </a:spcAft>
            </a:pPr>
            <a:r>
              <a:rPr sz="950" b="0" i="0">
                <a:solidFill>
                  <a:srgbClr val="5A6B80"/>
                </a:solidFill>
                <a:latin typeface="Calibri"/>
              </a:rPr>
              <a:t>Introspected 37 tables, 5 schemas and the semantic view directly over a live Snowflake connection.</a:t>
            </a:r>
          </a:p>
        </p:txBody>
      </p:sp>
      <p:sp>
        <p:nvSpPr>
          <p:cNvPr id="9" name="Rounded Rectangle 8"/>
          <p:cNvSpPr/>
          <p:nvPr/>
        </p:nvSpPr>
        <p:spPr>
          <a:xfrm>
            <a:off x="4672584" y="1207008"/>
            <a:ext cx="4059936" cy="95097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809744" y="1335024"/>
            <a:ext cx="274320" cy="274320"/>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1" name="TextBox 10"/>
          <p:cNvSpPr txBox="1"/>
          <p:nvPr/>
        </p:nvSpPr>
        <p:spPr>
          <a:xfrm>
            <a:off x="5175504" y="1325880"/>
            <a:ext cx="3419856" cy="237744"/>
          </a:xfrm>
          <a:prstGeom prst="rect">
            <a:avLst/>
          </a:prstGeom>
          <a:noFill/>
        </p:spPr>
        <p:txBody>
          <a:bodyPr wrap="square" lIns="0" rIns="0" tIns="0" bIns="0" anchor="t">
            <a:spAutoFit/>
          </a:bodyPr>
          <a:lstStyle/>
          <a:p>
            <a:pPr algn="l">
              <a:spcAft>
                <a:spcPts val="400"/>
              </a:spcAft>
            </a:pPr>
            <a:r>
              <a:rPr sz="1150" b="1" i="0">
                <a:solidFill>
                  <a:srgbClr val="0B1220"/>
                </a:solidFill>
                <a:latin typeface="Cambria"/>
              </a:rPr>
              <a:t>SQL generation</a:t>
            </a:r>
          </a:p>
        </p:txBody>
      </p:sp>
      <p:sp>
        <p:nvSpPr>
          <p:cNvPr id="12" name="TextBox 11"/>
          <p:cNvSpPr txBox="1"/>
          <p:nvPr/>
        </p:nvSpPr>
        <p:spPr>
          <a:xfrm>
            <a:off x="4809744" y="1627632"/>
            <a:ext cx="3785616" cy="475488"/>
          </a:xfrm>
          <a:prstGeom prst="rect">
            <a:avLst/>
          </a:prstGeom>
          <a:noFill/>
        </p:spPr>
        <p:txBody>
          <a:bodyPr wrap="square" lIns="0" rIns="0" tIns="0" bIns="0" anchor="t">
            <a:spAutoFit/>
          </a:bodyPr>
          <a:lstStyle/>
          <a:p>
            <a:pPr algn="l">
              <a:lnSpc>
                <a:spcPct val="115000"/>
              </a:lnSpc>
              <a:spcAft>
                <a:spcPts val="400"/>
              </a:spcAft>
            </a:pPr>
            <a:r>
              <a:rPr sz="950" b="0" i="0">
                <a:solidFill>
                  <a:srgbClr val="5A6B80"/>
                </a:solidFill>
                <a:latin typeface="Calibri"/>
              </a:rPr>
              <a:t>Wrote the star schema, the KG projection, the graph analytics and the deployment script — 1,932 lines of SQL.</a:t>
            </a:r>
          </a:p>
        </p:txBody>
      </p:sp>
      <p:sp>
        <p:nvSpPr>
          <p:cNvPr id="13" name="Rounded Rectangle 12"/>
          <p:cNvSpPr/>
          <p:nvPr/>
        </p:nvSpPr>
        <p:spPr>
          <a:xfrm>
            <a:off x="411480" y="2286000"/>
            <a:ext cx="4059936" cy="95097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48640" y="2414016"/>
            <a:ext cx="274320" cy="274320"/>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5" name="TextBox 14"/>
          <p:cNvSpPr txBox="1"/>
          <p:nvPr/>
        </p:nvSpPr>
        <p:spPr>
          <a:xfrm>
            <a:off x="914400" y="2404872"/>
            <a:ext cx="3419856" cy="237744"/>
          </a:xfrm>
          <a:prstGeom prst="rect">
            <a:avLst/>
          </a:prstGeom>
          <a:noFill/>
        </p:spPr>
        <p:txBody>
          <a:bodyPr wrap="square" lIns="0" rIns="0" tIns="0" bIns="0" anchor="t">
            <a:spAutoFit/>
          </a:bodyPr>
          <a:lstStyle/>
          <a:p>
            <a:pPr algn="l">
              <a:spcAft>
                <a:spcPts val="400"/>
              </a:spcAft>
            </a:pPr>
            <a:r>
              <a:rPr sz="1150" b="1" i="0">
                <a:solidFill>
                  <a:srgbClr val="0B1220"/>
                </a:solidFill>
                <a:latin typeface="Cambria"/>
              </a:rPr>
              <a:t>Application build</a:t>
            </a:r>
          </a:p>
        </p:txBody>
      </p:sp>
      <p:sp>
        <p:nvSpPr>
          <p:cNvPr id="16" name="TextBox 15"/>
          <p:cNvSpPr txBox="1"/>
          <p:nvPr/>
        </p:nvSpPr>
        <p:spPr>
          <a:xfrm>
            <a:off x="548640" y="2706624"/>
            <a:ext cx="3785616" cy="475488"/>
          </a:xfrm>
          <a:prstGeom prst="rect">
            <a:avLst/>
          </a:prstGeom>
          <a:noFill/>
        </p:spPr>
        <p:txBody>
          <a:bodyPr wrap="square" lIns="0" rIns="0" tIns="0" bIns="0" anchor="t">
            <a:spAutoFit/>
          </a:bodyPr>
          <a:lstStyle/>
          <a:p>
            <a:pPr algn="l">
              <a:lnSpc>
                <a:spcPct val="115000"/>
              </a:lnSpc>
              <a:spcAft>
                <a:spcPts val="400"/>
              </a:spcAft>
            </a:pPr>
            <a:r>
              <a:rPr sz="950" b="0" i="0">
                <a:solidFill>
                  <a:srgbClr val="5A6B80"/>
                </a:solidFill>
                <a:latin typeface="Calibri"/>
              </a:rPr>
              <a:t>Wrote and refactored the Flask app: agent transport, response parsing, subgraph builder, dashboard.</a:t>
            </a:r>
          </a:p>
        </p:txBody>
      </p:sp>
      <p:sp>
        <p:nvSpPr>
          <p:cNvPr id="17" name="Rounded Rectangle 16"/>
          <p:cNvSpPr/>
          <p:nvPr/>
        </p:nvSpPr>
        <p:spPr>
          <a:xfrm>
            <a:off x="4672584" y="2286000"/>
            <a:ext cx="4059936" cy="95097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809744" y="2414016"/>
            <a:ext cx="274320" cy="27432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9" name="TextBox 18"/>
          <p:cNvSpPr txBox="1"/>
          <p:nvPr/>
        </p:nvSpPr>
        <p:spPr>
          <a:xfrm>
            <a:off x="5175504" y="2404872"/>
            <a:ext cx="3419856" cy="237744"/>
          </a:xfrm>
          <a:prstGeom prst="rect">
            <a:avLst/>
          </a:prstGeom>
          <a:noFill/>
        </p:spPr>
        <p:txBody>
          <a:bodyPr wrap="square" lIns="0" rIns="0" tIns="0" bIns="0" anchor="t">
            <a:spAutoFit/>
          </a:bodyPr>
          <a:lstStyle/>
          <a:p>
            <a:pPr algn="l">
              <a:spcAft>
                <a:spcPts val="400"/>
              </a:spcAft>
            </a:pPr>
            <a:r>
              <a:rPr sz="1150" b="1" i="0">
                <a:solidFill>
                  <a:srgbClr val="0B1220"/>
                </a:solidFill>
                <a:latin typeface="Cambria"/>
              </a:rPr>
              <a:t>Agent configuration</a:t>
            </a:r>
          </a:p>
        </p:txBody>
      </p:sp>
      <p:sp>
        <p:nvSpPr>
          <p:cNvPr id="20" name="TextBox 19"/>
          <p:cNvSpPr txBox="1"/>
          <p:nvPr/>
        </p:nvSpPr>
        <p:spPr>
          <a:xfrm>
            <a:off x="4809744" y="2706624"/>
            <a:ext cx="3785616" cy="475488"/>
          </a:xfrm>
          <a:prstGeom prst="rect">
            <a:avLst/>
          </a:prstGeom>
          <a:noFill/>
        </p:spPr>
        <p:txBody>
          <a:bodyPr wrap="square" lIns="0" rIns="0" tIns="0" bIns="0" anchor="t">
            <a:spAutoFit/>
          </a:bodyPr>
          <a:lstStyle/>
          <a:p>
            <a:pPr algn="l">
              <a:lnSpc>
                <a:spcPct val="115000"/>
              </a:lnSpc>
              <a:spcAft>
                <a:spcPts val="400"/>
              </a:spcAft>
            </a:pPr>
            <a:r>
              <a:rPr sz="950" b="0" i="0">
                <a:solidFill>
                  <a:srgbClr val="5A6B80"/>
                </a:solidFill>
                <a:latin typeface="Calibri"/>
              </a:rPr>
              <a:t>Discovered the agent spec schema by probing the account, then wired Analyst, Search, sql_exec and charting.</a:t>
            </a:r>
          </a:p>
        </p:txBody>
      </p:sp>
      <p:sp>
        <p:nvSpPr>
          <p:cNvPr id="21" name="Rounded Rectangle 20"/>
          <p:cNvSpPr/>
          <p:nvPr/>
        </p:nvSpPr>
        <p:spPr>
          <a:xfrm>
            <a:off x="411480" y="3364992"/>
            <a:ext cx="4059936" cy="95097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48640" y="3493008"/>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23" name="TextBox 22"/>
          <p:cNvSpPr txBox="1"/>
          <p:nvPr/>
        </p:nvSpPr>
        <p:spPr>
          <a:xfrm>
            <a:off x="914400" y="3483864"/>
            <a:ext cx="3419856" cy="237744"/>
          </a:xfrm>
          <a:prstGeom prst="rect">
            <a:avLst/>
          </a:prstGeom>
          <a:noFill/>
        </p:spPr>
        <p:txBody>
          <a:bodyPr wrap="square" lIns="0" rIns="0" tIns="0" bIns="0" anchor="t">
            <a:spAutoFit/>
          </a:bodyPr>
          <a:lstStyle/>
          <a:p>
            <a:pPr algn="l">
              <a:spcAft>
                <a:spcPts val="400"/>
              </a:spcAft>
            </a:pPr>
            <a:r>
              <a:rPr sz="1150" b="1" i="0">
                <a:solidFill>
                  <a:srgbClr val="0B1220"/>
                </a:solidFill>
                <a:latin typeface="Cambria"/>
              </a:rPr>
              <a:t>Verification</a:t>
            </a:r>
          </a:p>
        </p:txBody>
      </p:sp>
      <p:sp>
        <p:nvSpPr>
          <p:cNvPr id="24" name="TextBox 23"/>
          <p:cNvSpPr txBox="1"/>
          <p:nvPr/>
        </p:nvSpPr>
        <p:spPr>
          <a:xfrm>
            <a:off x="548640" y="3785616"/>
            <a:ext cx="3785616" cy="475488"/>
          </a:xfrm>
          <a:prstGeom prst="rect">
            <a:avLst/>
          </a:prstGeom>
          <a:noFill/>
        </p:spPr>
        <p:txBody>
          <a:bodyPr wrap="square" lIns="0" rIns="0" tIns="0" bIns="0" anchor="t">
            <a:spAutoFit/>
          </a:bodyPr>
          <a:lstStyle/>
          <a:p>
            <a:pPr algn="l">
              <a:lnSpc>
                <a:spcPct val="115000"/>
              </a:lnSpc>
              <a:spcAft>
                <a:spcPts val="400"/>
              </a:spcAft>
            </a:pPr>
            <a:r>
              <a:rPr sz="950" b="0" i="0">
                <a:solidFill>
                  <a:srgbClr val="5A6B80"/>
                </a:solidFill>
                <a:latin typeface="Calibri"/>
              </a:rPr>
              <a:t>Computed ground truth in SQL and graded ten answers against it — the accuracy number on slide 41 is CoCo's own audit.</a:t>
            </a:r>
          </a:p>
        </p:txBody>
      </p:sp>
      <p:sp>
        <p:nvSpPr>
          <p:cNvPr id="25" name="Rounded Rectangle 24"/>
          <p:cNvSpPr/>
          <p:nvPr/>
        </p:nvSpPr>
        <p:spPr>
          <a:xfrm>
            <a:off x="4672584" y="3364992"/>
            <a:ext cx="4059936" cy="95097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809744" y="34930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27" name="TextBox 26"/>
          <p:cNvSpPr txBox="1"/>
          <p:nvPr/>
        </p:nvSpPr>
        <p:spPr>
          <a:xfrm>
            <a:off x="5175504" y="3483864"/>
            <a:ext cx="3419856" cy="237744"/>
          </a:xfrm>
          <a:prstGeom prst="rect">
            <a:avLst/>
          </a:prstGeom>
          <a:noFill/>
        </p:spPr>
        <p:txBody>
          <a:bodyPr wrap="square" lIns="0" rIns="0" tIns="0" bIns="0" anchor="t">
            <a:spAutoFit/>
          </a:bodyPr>
          <a:lstStyle/>
          <a:p>
            <a:pPr algn="l">
              <a:spcAft>
                <a:spcPts val="400"/>
              </a:spcAft>
            </a:pPr>
            <a:r>
              <a:rPr sz="1150" b="1" i="0">
                <a:solidFill>
                  <a:srgbClr val="0B1220"/>
                </a:solidFill>
                <a:latin typeface="Cambria"/>
              </a:rPr>
              <a:t>Browser automation</a:t>
            </a:r>
          </a:p>
        </p:txBody>
      </p:sp>
      <p:sp>
        <p:nvSpPr>
          <p:cNvPr id="28" name="TextBox 27"/>
          <p:cNvSpPr txBox="1"/>
          <p:nvPr/>
        </p:nvSpPr>
        <p:spPr>
          <a:xfrm>
            <a:off x="4809744" y="3785616"/>
            <a:ext cx="3785616" cy="475488"/>
          </a:xfrm>
          <a:prstGeom prst="rect">
            <a:avLst/>
          </a:prstGeom>
          <a:noFill/>
        </p:spPr>
        <p:txBody>
          <a:bodyPr wrap="square" lIns="0" rIns="0" tIns="0" bIns="0" anchor="t">
            <a:spAutoFit/>
          </a:bodyPr>
          <a:lstStyle/>
          <a:p>
            <a:pPr algn="l">
              <a:lnSpc>
                <a:spcPct val="115000"/>
              </a:lnSpc>
              <a:spcAft>
                <a:spcPts val="400"/>
              </a:spcAft>
            </a:pPr>
            <a:r>
              <a:rPr sz="950" b="0" i="0">
                <a:solidFill>
                  <a:srgbClr val="5A6B80"/>
                </a:solidFill>
                <a:latin typeface="Calibri"/>
              </a:rPr>
              <a:t>Drove the running app to capture the screenshots in this deck at full resolution.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3</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THE DATA</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37 tables.
2.36 million rows.</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A full synthetic supply chain — parts, suppliers, sites, plants, purchase orders, shipments, quality inspections and IoT readings — generated from a fixed seed so every figure in this deck reproduces.</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37</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base tables</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2,362,876</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rows</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1,932</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lines of SQL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Source data — 37 base tables, 2,362,876 rows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SCS.INVENTORY, the star schema the graph is projected from</a:t>
            </a:r>
          </a:p>
        </p:txBody>
      </p:sp>
      <p:graphicFrame>
        <p:nvGraphicFramePr>
          <p:cNvPr id="5" name="Chart 4"/>
          <p:cNvGraphicFramePr>
            <a:graphicFrameLocks noGrp="1"/>
          </p:cNvGraphicFramePr>
          <p:nvPr/>
        </p:nvGraphicFramePr>
        <p:xfrm>
          <a:off x="411480" y="1243584"/>
          <a:ext cx="4617720" cy="3246120"/>
        </p:xfrm>
        <a:graphic>
          <a:graphicData uri="http://schemas.openxmlformats.org/drawingml/2006/chart">
            <c:chart xmlns:c="http://schemas.openxmlformats.org/drawingml/2006/chart" r:id="rId4"/>
          </a:graphicData>
        </a:graphic>
      </p:graphicFrame>
      <p:graphicFrame>
        <p:nvGraphicFramePr>
          <p:cNvPr id="6" name="Table 5"/>
          <p:cNvGraphicFramePr>
            <a:graphicFrameLocks noGrp="1"/>
          </p:cNvGraphicFramePr>
          <p:nvPr/>
        </p:nvGraphicFramePr>
        <p:xfrm>
          <a:off x="5212080" y="1389888"/>
          <a:ext cx="3520438" cy="2450592"/>
        </p:xfrm>
        <a:graphic>
          <a:graphicData uri="http://schemas.openxmlformats.org/drawingml/2006/table">
            <a:tbl>
              <a:tblPr firstRow="1" bandRow="1">
                <a:tableStyleId>{5C22544A-7EE6-4342-B048-85BDC9FD1C3A}</a:tableStyleId>
              </a:tblPr>
              <a:tblGrid>
                <a:gridCol w="1895621"/>
                <a:gridCol w="631873"/>
                <a:gridCol w="992944"/>
              </a:tblGrid>
              <a:tr h="306324">
                <a:tc>
                  <a:txBody>
                    <a:bodyPr wrap="square"/>
                    <a:lstStyle/>
                    <a:p>
                      <a:pPr algn="l"/>
                      <a:r>
                        <a:rPr sz="900" b="1">
                          <a:solidFill>
                            <a:srgbClr val="FFFFFF"/>
                          </a:solidFill>
                          <a:latin typeface="Calibri"/>
                        </a:rPr>
                        <a:t>Table group</a:t>
                      </a:r>
                    </a:p>
                  </a:txBody>
                  <a:tcPr marL="54864" marR="54864" marT="9144" marB="9144" anchor="ctr">
                    <a:solidFill>
                      <a:srgbClr val="0B1220"/>
                    </a:solidFill>
                  </a:tcPr>
                </a:tc>
                <a:tc>
                  <a:txBody>
                    <a:bodyPr wrap="square"/>
                    <a:lstStyle/>
                    <a:p>
                      <a:pPr algn="l"/>
                      <a:r>
                        <a:rPr sz="900" b="1">
                          <a:solidFill>
                            <a:srgbClr val="FFFFFF"/>
                          </a:solidFill>
                          <a:latin typeface="Calibri"/>
                        </a:rPr>
                        <a:t>Tables</a:t>
                      </a:r>
                    </a:p>
                  </a:txBody>
                  <a:tcPr marL="54864" marR="54864" marT="9144" marB="9144" anchor="ctr">
                    <a:solidFill>
                      <a:srgbClr val="0B1220"/>
                    </a:solidFill>
                  </a:tcPr>
                </a:tc>
                <a:tc>
                  <a:txBody>
                    <a:bodyPr wrap="square"/>
                    <a:lstStyle/>
                    <a:p>
                      <a:pPr algn="l"/>
                      <a:r>
                        <a:rPr sz="900" b="1">
                          <a:solidFill>
                            <a:srgbClr val="FFFFFF"/>
                          </a:solidFill>
                          <a:latin typeface="Calibri"/>
                        </a:rPr>
                        <a:t>Rows</a:t>
                      </a:r>
                    </a:p>
                  </a:txBody>
                  <a:tcPr marL="54864" marR="54864" marT="9144" marB="9144" anchor="ctr">
                    <a:solidFill>
                      <a:srgbClr val="0B1220"/>
                    </a:solidFill>
                  </a:tcPr>
                </a:tc>
              </a:tr>
              <a:tr h="306324">
                <a:tc>
                  <a:txBody>
                    <a:bodyPr wrap="square"/>
                    <a:lstStyle/>
                    <a:p>
                      <a:pPr algn="l"/>
                      <a:r>
                        <a:rPr sz="900" b="0">
                          <a:solidFill>
                            <a:srgbClr val="0B1220"/>
                          </a:solidFill>
                          <a:latin typeface="Calibri"/>
                        </a:rPr>
                        <a:t>Facts &amp; events</a:t>
                      </a:r>
                    </a:p>
                  </a:txBody>
                  <a:tcPr marL="54864" marR="54864" marT="9144" marB="9144" anchor="ctr">
                    <a:solidFill>
                      <a:srgbClr val="FFFFFF"/>
                    </a:solidFill>
                  </a:tcPr>
                </a:tc>
                <a:tc>
                  <a:txBody>
                    <a:bodyPr wrap="square"/>
                    <a:lstStyle/>
                    <a:p>
                      <a:pPr algn="l"/>
                      <a:r>
                        <a:rPr sz="900" b="0">
                          <a:solidFill>
                            <a:srgbClr val="0B1220"/>
                          </a:solidFill>
                          <a:latin typeface="Calibri"/>
                        </a:rPr>
                        <a:t>4</a:t>
                      </a:r>
                    </a:p>
                  </a:txBody>
                  <a:tcPr marL="54864" marR="54864" marT="9144" marB="9144" anchor="ctr">
                    <a:solidFill>
                      <a:srgbClr val="FFFFFF"/>
                    </a:solidFill>
                  </a:tcPr>
                </a:tc>
                <a:tc>
                  <a:txBody>
                    <a:bodyPr wrap="square"/>
                    <a:lstStyle/>
                    <a:p>
                      <a:pPr algn="l"/>
                      <a:r>
                        <a:rPr sz="900" b="0">
                          <a:solidFill>
                            <a:srgbClr val="0B1220"/>
                          </a:solidFill>
                          <a:latin typeface="Calibri"/>
                        </a:rPr>
                        <a:t>2,042,000</a:t>
                      </a:r>
                    </a:p>
                  </a:txBody>
                  <a:tcPr marL="54864" marR="54864" marT="9144" marB="9144" anchor="ctr">
                    <a:solidFill>
                      <a:srgbClr val="FFFFFF"/>
                    </a:solidFill>
                  </a:tcPr>
                </a:tc>
              </a:tr>
              <a:tr h="306324">
                <a:tc>
                  <a:txBody>
                    <a:bodyPr wrap="square"/>
                    <a:lstStyle/>
                    <a:p>
                      <a:pPr algn="l"/>
                      <a:r>
                        <a:rPr sz="900" b="0">
                          <a:solidFill>
                            <a:srgbClr val="0B1220"/>
                          </a:solidFill>
                          <a:latin typeface="Calibri"/>
                        </a:rPr>
                        <a:t>Transactions</a:t>
                      </a:r>
                    </a:p>
                  </a:txBody>
                  <a:tcPr marL="54864" marR="54864" marT="9144" marB="9144" anchor="ctr">
                    <a:solidFill>
                      <a:srgbClr val="F1F6FB"/>
                    </a:solidFill>
                  </a:tcPr>
                </a:tc>
                <a:tc>
                  <a:txBody>
                    <a:bodyPr wrap="square"/>
                    <a:lstStyle/>
                    <a:p>
                      <a:pPr algn="l"/>
                      <a:r>
                        <a:rPr sz="900" b="0">
                          <a:solidFill>
                            <a:srgbClr val="0B1220"/>
                          </a:solidFill>
                          <a:latin typeface="Calibri"/>
                        </a:rPr>
                        <a:t>7</a:t>
                      </a:r>
                    </a:p>
                  </a:txBody>
                  <a:tcPr marL="54864" marR="54864" marT="9144" marB="9144" anchor="ctr">
                    <a:solidFill>
                      <a:srgbClr val="F1F6FB"/>
                    </a:solidFill>
                  </a:tcPr>
                </a:tc>
                <a:tc>
                  <a:txBody>
                    <a:bodyPr wrap="square"/>
                    <a:lstStyle/>
                    <a:p>
                      <a:pPr algn="l"/>
                      <a:r>
                        <a:rPr sz="900" b="0">
                          <a:solidFill>
                            <a:srgbClr val="0B1220"/>
                          </a:solidFill>
                          <a:latin typeface="Calibri"/>
                        </a:rPr>
                        <a:t>218,000</a:t>
                      </a:r>
                    </a:p>
                  </a:txBody>
                  <a:tcPr marL="54864" marR="54864" marT="9144" marB="9144" anchor="ctr">
                    <a:solidFill>
                      <a:srgbClr val="F1F6FB"/>
                    </a:solidFill>
                  </a:tcPr>
                </a:tc>
              </a:tr>
              <a:tr h="306324">
                <a:tc>
                  <a:txBody>
                    <a:bodyPr wrap="square"/>
                    <a:lstStyle/>
                    <a:p>
                      <a:pPr algn="l"/>
                      <a:r>
                        <a:rPr sz="900" b="0">
                          <a:solidFill>
                            <a:srgbClr val="0B1220"/>
                          </a:solidFill>
                          <a:latin typeface="Calibri"/>
                        </a:rPr>
                        <a:t>Quality</a:t>
                      </a:r>
                    </a:p>
                  </a:txBody>
                  <a:tcPr marL="54864" marR="54864" marT="9144" marB="9144" anchor="ctr">
                    <a:solidFill>
                      <a:srgbClr val="FFFFFF"/>
                    </a:solidFill>
                  </a:tcPr>
                </a:tc>
                <a:tc>
                  <a:txBody>
                    <a:bodyPr wrap="square"/>
                    <a:lstStyle/>
                    <a:p>
                      <a:pPr algn="l"/>
                      <a:r>
                        <a:rPr sz="900" b="0">
                          <a:solidFill>
                            <a:srgbClr val="0B1220"/>
                          </a:solidFill>
                          <a:latin typeface="Calibri"/>
                        </a:rPr>
                        <a:t>2</a:t>
                      </a:r>
                    </a:p>
                  </a:txBody>
                  <a:tcPr marL="54864" marR="54864" marT="9144" marB="9144" anchor="ctr">
                    <a:solidFill>
                      <a:srgbClr val="FFFFFF"/>
                    </a:solidFill>
                  </a:tcPr>
                </a:tc>
                <a:tc>
                  <a:txBody>
                    <a:bodyPr wrap="square"/>
                    <a:lstStyle/>
                    <a:p>
                      <a:pPr algn="l"/>
                      <a:r>
                        <a:rPr sz="900" b="0">
                          <a:solidFill>
                            <a:srgbClr val="0B1220"/>
                          </a:solidFill>
                          <a:latin typeface="Calibri"/>
                        </a:rPr>
                        <a:t>11,000</a:t>
                      </a:r>
                    </a:p>
                  </a:txBody>
                  <a:tcPr marL="54864" marR="54864" marT="9144" marB="9144" anchor="ctr">
                    <a:solidFill>
                      <a:srgbClr val="FFFFFF"/>
                    </a:solidFill>
                  </a:tcPr>
                </a:tc>
              </a:tr>
              <a:tr h="306324">
                <a:tc>
                  <a:txBody>
                    <a:bodyPr wrap="square"/>
                    <a:lstStyle/>
                    <a:p>
                      <a:pPr algn="l"/>
                      <a:r>
                        <a:rPr sz="900" b="0">
                          <a:solidFill>
                            <a:srgbClr val="0B1220"/>
                          </a:solidFill>
                          <a:latin typeface="Calibri"/>
                        </a:rPr>
                        <a:t>Product &amp; BOM</a:t>
                      </a:r>
                    </a:p>
                  </a:txBody>
                  <a:tcPr marL="54864" marR="54864" marT="9144" marB="9144" anchor="ctr">
                    <a:solidFill>
                      <a:srgbClr val="F1F6FB"/>
                    </a:solidFill>
                  </a:tcPr>
                </a:tc>
                <a:tc>
                  <a:txBody>
                    <a:bodyPr wrap="square"/>
                    <a:lstStyle/>
                    <a:p>
                      <a:pPr algn="l"/>
                      <a:r>
                        <a:rPr sz="900" b="0">
                          <a:solidFill>
                            <a:srgbClr val="0B1220"/>
                          </a:solidFill>
                          <a:latin typeface="Calibri"/>
                        </a:rPr>
                        <a:t>5</a:t>
                      </a:r>
                    </a:p>
                  </a:txBody>
                  <a:tcPr marL="54864" marR="54864" marT="9144" marB="9144" anchor="ctr">
                    <a:solidFill>
                      <a:srgbClr val="F1F6FB"/>
                    </a:solidFill>
                  </a:tcPr>
                </a:tc>
                <a:tc>
                  <a:txBody>
                    <a:bodyPr wrap="square"/>
                    <a:lstStyle/>
                    <a:p>
                      <a:pPr algn="l"/>
                      <a:r>
                        <a:rPr sz="900" b="0">
                          <a:solidFill>
                            <a:srgbClr val="0B1220"/>
                          </a:solidFill>
                          <a:latin typeface="Calibri"/>
                        </a:rPr>
                        <a:t>47,060</a:t>
                      </a:r>
                    </a:p>
                  </a:txBody>
                  <a:tcPr marL="54864" marR="54864" marT="9144" marB="9144" anchor="ctr">
                    <a:solidFill>
                      <a:srgbClr val="F1F6FB"/>
                    </a:solidFill>
                  </a:tcPr>
                </a:tc>
              </a:tr>
              <a:tr h="306324">
                <a:tc>
                  <a:txBody>
                    <a:bodyPr wrap="square"/>
                    <a:lstStyle/>
                    <a:p>
                      <a:pPr algn="l"/>
                      <a:r>
                        <a:rPr sz="900" b="0">
                          <a:solidFill>
                            <a:srgbClr val="0B1220"/>
                          </a:solidFill>
                          <a:latin typeface="Calibri"/>
                        </a:rPr>
                        <a:t>Sourcing</a:t>
                      </a:r>
                    </a:p>
                  </a:txBody>
                  <a:tcPr marL="54864" marR="54864" marT="9144" marB="9144" anchor="ctr">
                    <a:solidFill>
                      <a:srgbClr val="FFFFFF"/>
                    </a:solidFill>
                  </a:tcPr>
                </a:tc>
                <a:tc>
                  <a:txBody>
                    <a:bodyPr wrap="square"/>
                    <a:lstStyle/>
                    <a:p>
                      <a:pPr algn="l"/>
                      <a:r>
                        <a:rPr sz="900" b="0">
                          <a:solidFill>
                            <a:srgbClr val="0B1220"/>
                          </a:solidFill>
                          <a:latin typeface="Calibri"/>
                        </a:rPr>
                        <a:t>5</a:t>
                      </a:r>
                    </a:p>
                  </a:txBody>
                  <a:tcPr marL="54864" marR="54864" marT="9144" marB="9144" anchor="ctr">
                    <a:solidFill>
                      <a:srgbClr val="FFFFFF"/>
                    </a:solidFill>
                  </a:tcPr>
                </a:tc>
                <a:tc>
                  <a:txBody>
                    <a:bodyPr wrap="square"/>
                    <a:lstStyle/>
                    <a:p>
                      <a:pPr algn="l"/>
                      <a:r>
                        <a:rPr sz="900" b="0">
                          <a:solidFill>
                            <a:srgbClr val="0B1220"/>
                          </a:solidFill>
                          <a:latin typeface="Calibri"/>
                        </a:rPr>
                        <a:t>42,200</a:t>
                      </a:r>
                    </a:p>
                  </a:txBody>
                  <a:tcPr marL="54864" marR="54864" marT="9144" marB="9144" anchor="ctr">
                    <a:solidFill>
                      <a:srgbClr val="FFFFFF"/>
                    </a:solidFill>
                  </a:tcPr>
                </a:tc>
              </a:tr>
              <a:tr h="306324">
                <a:tc>
                  <a:txBody>
                    <a:bodyPr wrap="square"/>
                    <a:lstStyle/>
                    <a:p>
                      <a:pPr algn="l"/>
                      <a:r>
                        <a:rPr sz="900" b="0">
                          <a:solidFill>
                            <a:srgbClr val="0B1220"/>
                          </a:solidFill>
                          <a:latin typeface="Calibri"/>
                        </a:rPr>
                        <a:t>Reference dimensions</a:t>
                      </a:r>
                    </a:p>
                  </a:txBody>
                  <a:tcPr marL="54864" marR="54864" marT="9144" marB="9144" anchor="ctr">
                    <a:solidFill>
                      <a:srgbClr val="F1F6FB"/>
                    </a:solidFill>
                  </a:tcPr>
                </a:tc>
                <a:tc>
                  <a:txBody>
                    <a:bodyPr wrap="square"/>
                    <a:lstStyle/>
                    <a:p>
                      <a:pPr algn="l"/>
                      <a:r>
                        <a:rPr sz="900" b="0">
                          <a:solidFill>
                            <a:srgbClr val="0B1220"/>
                          </a:solidFill>
                          <a:latin typeface="Calibri"/>
                        </a:rPr>
                        <a:t>14</a:t>
                      </a:r>
                    </a:p>
                  </a:txBody>
                  <a:tcPr marL="54864" marR="54864" marT="9144" marB="9144" anchor="ctr">
                    <a:solidFill>
                      <a:srgbClr val="F1F6FB"/>
                    </a:solidFill>
                  </a:tcPr>
                </a:tc>
                <a:tc>
                  <a:txBody>
                    <a:bodyPr wrap="square"/>
                    <a:lstStyle/>
                    <a:p>
                      <a:pPr algn="l"/>
                      <a:r>
                        <a:rPr sz="900" b="0">
                          <a:solidFill>
                            <a:srgbClr val="0B1220"/>
                          </a:solidFill>
                          <a:latin typeface="Calibri"/>
                        </a:rPr>
                        <a:t>2,616</a:t>
                      </a:r>
                    </a:p>
                  </a:txBody>
                  <a:tcPr marL="54864" marR="54864" marT="9144" marB="9144" anchor="ctr">
                    <a:solidFill>
                      <a:srgbClr val="F1F6FB"/>
                    </a:solidFill>
                  </a:tcPr>
                </a:tc>
              </a:tr>
              <a:tr h="306324">
                <a:tc>
                  <a:txBody>
                    <a:bodyPr wrap="square"/>
                    <a:lstStyle/>
                    <a:p>
                      <a:pPr algn="l"/>
                      <a:r>
                        <a:rPr sz="900" b="0">
                          <a:solidFill>
                            <a:srgbClr val="0B1220"/>
                          </a:solidFill>
                          <a:latin typeface="Calibri"/>
                        </a:rPr>
                        <a:t>Total</a:t>
                      </a:r>
                    </a:p>
                  </a:txBody>
                  <a:tcPr marL="54864" marR="54864" marT="9144" marB="9144" anchor="ctr">
                    <a:solidFill>
                      <a:srgbClr val="FFFFFF"/>
                    </a:solidFill>
                  </a:tcPr>
                </a:tc>
                <a:tc>
                  <a:txBody>
                    <a:bodyPr wrap="square"/>
                    <a:lstStyle/>
                    <a:p>
                      <a:pPr algn="l"/>
                      <a:r>
                        <a:rPr sz="900" b="0">
                          <a:solidFill>
                            <a:srgbClr val="0B1220"/>
                          </a:solidFill>
                          <a:latin typeface="Calibri"/>
                        </a:rPr>
                        <a:t>37</a:t>
                      </a:r>
                    </a:p>
                  </a:txBody>
                  <a:tcPr marL="54864" marR="54864" marT="9144" marB="9144" anchor="ctr">
                    <a:solidFill>
                      <a:srgbClr val="FFFFFF"/>
                    </a:solidFill>
                  </a:tcPr>
                </a:tc>
                <a:tc>
                  <a:txBody>
                    <a:bodyPr wrap="square"/>
                    <a:lstStyle/>
                    <a:p>
                      <a:pPr algn="l"/>
                      <a:r>
                        <a:rPr sz="900" b="0">
                          <a:solidFill>
                            <a:srgbClr val="0B1220"/>
                          </a:solidFill>
                          <a:latin typeface="Calibri"/>
                        </a:rPr>
                        <a:t>2,362,876</a:t>
                      </a:r>
                    </a:p>
                  </a:txBody>
                  <a:tcPr marL="54864" marR="54864" marT="9144" marB="9144" anchor="ctr">
                    <a:solidFill>
                      <a:srgbClr val="FFFFFF"/>
                    </a:solidFill>
                  </a:tcPr>
                </a:tc>
              </a:tr>
            </a:tbl>
          </a:graphicData>
        </a:graphic>
      </p:graphicFrame>
      <p:sp>
        <p:nvSpPr>
          <p:cNvPr id="7" name="TextBox 6"/>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Row counts read live from SCS.INFORMATION_SCHEMA.TABLES at build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From star schema to graph</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Every node and edge is a SELECT — no loader, no external process</a:t>
            </a:r>
          </a:p>
        </p:txBody>
      </p:sp>
      <p:sp>
        <p:nvSpPr>
          <p:cNvPr id="5" name="TextBox 4"/>
          <p:cNvSpPr txBox="1"/>
          <p:nvPr/>
        </p:nvSpPr>
        <p:spPr>
          <a:xfrm>
            <a:off x="411480" y="1188720"/>
            <a:ext cx="8321040" cy="219456"/>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NODES — one row per canonical entity</a:t>
            </a:r>
          </a:p>
        </p:txBody>
      </p:sp>
      <p:sp>
        <p:nvSpPr>
          <p:cNvPr id="6" name="Rounded Rectangle 5"/>
          <p:cNvSpPr/>
          <p:nvPr/>
        </p:nvSpPr>
        <p:spPr>
          <a:xfrm>
            <a:off x="411480" y="1444752"/>
            <a:ext cx="4041648" cy="1207008"/>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21208" y="1527048"/>
            <a:ext cx="3822192" cy="1042416"/>
          </a:xfrm>
          <a:prstGeom prst="rect">
            <a:avLst/>
          </a:prstGeom>
          <a:noFill/>
        </p:spPr>
        <p:txBody>
          <a:bodyPr wrap="square" lIns="0" rIns="0" tIns="0" bIns="0">
            <a:spAutoFit/>
          </a:bodyPr>
          <a:lstStyle/>
          <a:p>
            <a:pPr>
              <a:spcAft>
                <a:spcPts val="100"/>
              </a:spcAft>
            </a:pPr>
            <a:r>
              <a:rPr sz="800">
                <a:solidFill>
                  <a:srgbClr val="00C2B2"/>
                </a:solidFill>
                <a:latin typeface="Consolas"/>
              </a:rPr>
              <a:t>INSERT INTO SCS.KG.KG_NODES</a:t>
            </a:r>
          </a:p>
          <a:p>
            <a:pPr>
              <a:spcAft>
                <a:spcPts val="100"/>
              </a:spcAft>
            </a:pPr>
            <a:r>
              <a:rPr sz="800">
                <a:solidFill>
                  <a:srgbClr val="FFFFFF"/>
                </a:solidFill>
                <a:latin typeface="Consolas"/>
              </a:rPr>
              <a:t>SELECT  'SUPPLIER_SITE'        AS NODE_TYPE,</a:t>
            </a:r>
          </a:p>
          <a:p>
            <a:pPr>
              <a:spcAft>
                <a:spcPts val="100"/>
              </a:spcAft>
            </a:pPr>
            <a:r>
              <a:rPr sz="800">
                <a:solidFill>
                  <a:srgbClr val="FFFFFF"/>
                </a:solidFill>
                <a:latin typeface="Consolas"/>
              </a:rPr>
              <a:t>        SITE_ID                AS SOURCE_ID,</a:t>
            </a:r>
          </a:p>
          <a:p>
            <a:pPr>
              <a:spcAft>
                <a:spcPts val="100"/>
              </a:spcAft>
            </a:pPr>
            <a:r>
              <a:rPr sz="800">
                <a:solidFill>
                  <a:srgbClr val="FFFFFF"/>
                </a:solidFill>
                <a:latin typeface="Consolas"/>
              </a:rPr>
              <a:t>        SUPPLIER_NAME||' - '||CITY AS LABEL</a:t>
            </a:r>
          </a:p>
          <a:p>
            <a:pPr>
              <a:spcAft>
                <a:spcPts val="100"/>
              </a:spcAft>
            </a:pPr>
            <a:r>
              <a:rPr sz="800">
                <a:solidFill>
                  <a:srgbClr val="FFFFFF"/>
                </a:solidFill>
                <a:latin typeface="Consolas"/>
              </a:rPr>
              <a:t>FROM    SCS.INVENTORY.DIM_SUPPLIER_SITE;</a:t>
            </a:r>
          </a:p>
        </p:txBody>
      </p:sp>
      <p:sp>
        <p:nvSpPr>
          <p:cNvPr id="8" name="TextBox 7"/>
          <p:cNvSpPr txBox="1"/>
          <p:nvPr/>
        </p:nvSpPr>
        <p:spPr>
          <a:xfrm>
            <a:off x="4690872" y="1188720"/>
            <a:ext cx="4041648" cy="219456"/>
          </a:xfrm>
          <a:prstGeom prst="rect">
            <a:avLst/>
          </a:prstGeom>
          <a:noFill/>
        </p:spPr>
        <p:txBody>
          <a:bodyPr wrap="square" lIns="0" rIns="0" tIns="0" bIns="0" anchor="t">
            <a:spAutoFit/>
          </a:bodyPr>
          <a:lstStyle/>
          <a:p>
            <a:pPr algn="l">
              <a:spcAft>
                <a:spcPts val="400"/>
              </a:spcAft>
            </a:pPr>
            <a:r>
              <a:rPr sz="1050" b="1" i="0">
                <a:solidFill>
                  <a:srgbClr val="8A5CF6"/>
                </a:solidFill>
                <a:latin typeface="Calibri"/>
              </a:rPr>
              <a:t>EDGES — one row per relationship</a:t>
            </a:r>
          </a:p>
        </p:txBody>
      </p:sp>
      <p:sp>
        <p:nvSpPr>
          <p:cNvPr id="9" name="Rounded Rectangle 8"/>
          <p:cNvSpPr/>
          <p:nvPr/>
        </p:nvSpPr>
        <p:spPr>
          <a:xfrm>
            <a:off x="4690872" y="1444752"/>
            <a:ext cx="4041648" cy="1207008"/>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00600" y="1527048"/>
            <a:ext cx="3822192" cy="1042416"/>
          </a:xfrm>
          <a:prstGeom prst="rect">
            <a:avLst/>
          </a:prstGeom>
          <a:noFill/>
        </p:spPr>
        <p:txBody>
          <a:bodyPr wrap="square" lIns="0" rIns="0" tIns="0" bIns="0">
            <a:spAutoFit/>
          </a:bodyPr>
          <a:lstStyle/>
          <a:p>
            <a:pPr>
              <a:spcAft>
                <a:spcPts val="100"/>
              </a:spcAft>
            </a:pPr>
            <a:r>
              <a:rPr sz="800">
                <a:solidFill>
                  <a:srgbClr val="00C2B2"/>
                </a:solidFill>
                <a:latin typeface="Consolas"/>
              </a:rPr>
              <a:t>INSERT INTO SCS.KG.KG_EDGES</a:t>
            </a:r>
          </a:p>
          <a:p>
            <a:pPr>
              <a:spcAft>
                <a:spcPts val="100"/>
              </a:spcAft>
            </a:pPr>
            <a:r>
              <a:rPr sz="800">
                <a:solidFill>
                  <a:srgbClr val="FFFFFF"/>
                </a:solidFill>
                <a:latin typeface="Consolas"/>
              </a:rPr>
              <a:t>SELECT  n1.NODE_ID, n2.NODE_ID,</a:t>
            </a:r>
          </a:p>
          <a:p>
            <a:pPr>
              <a:spcAft>
                <a:spcPts val="100"/>
              </a:spcAft>
            </a:pPr>
            <a:r>
              <a:rPr sz="800">
                <a:solidFill>
                  <a:srgbClr val="FFFFFF"/>
                </a:solidFill>
                <a:latin typeface="Consolas"/>
              </a:rPr>
              <a:t>        'APPROVED_SOURCE' AS EDGE_TYPE,</a:t>
            </a:r>
          </a:p>
          <a:p>
            <a:pPr>
              <a:spcAft>
                <a:spcPts val="100"/>
              </a:spcAft>
            </a:pPr>
            <a:r>
              <a:rPr sz="800">
                <a:solidFill>
                  <a:srgbClr val="FFFFFF"/>
                </a:solidFill>
                <a:latin typeface="Consolas"/>
              </a:rPr>
              <a:t>        COUNT(*)          AS WEIGHT</a:t>
            </a:r>
          </a:p>
          <a:p>
            <a:pPr>
              <a:spcAft>
                <a:spcPts val="100"/>
              </a:spcAft>
            </a:pPr>
            <a:r>
              <a:rPr sz="800">
                <a:solidFill>
                  <a:srgbClr val="FFFFFF"/>
                </a:solidFill>
                <a:latin typeface="Consolas"/>
              </a:rPr>
              <a:t>FROM    SUPPLIER_PART_APPROVAL a JOIN ...;</a:t>
            </a:r>
          </a:p>
        </p:txBody>
      </p:sp>
      <p:sp>
        <p:nvSpPr>
          <p:cNvPr id="11" name="Rounded Rectangle 10"/>
          <p:cNvSpPr/>
          <p:nvPr/>
        </p:nvSpPr>
        <p:spPr>
          <a:xfrm>
            <a:off x="411480" y="2798064"/>
            <a:ext cx="8321040" cy="117043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2907792"/>
            <a:ext cx="7955280"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Twelve entity types and fourteen relationship types, all from existing keys</a:t>
            </a:r>
          </a:p>
        </p:txBody>
      </p:sp>
      <p:sp>
        <p:nvSpPr>
          <p:cNvPr id="13" name="TextBox 12"/>
          <p:cNvSpPr txBox="1"/>
          <p:nvPr/>
        </p:nvSpPr>
        <p:spPr>
          <a:xfrm>
            <a:off x="594360" y="3182112"/>
            <a:ext cx="7955280" cy="694944"/>
          </a:xfrm>
          <a:prstGeom prst="rect">
            <a:avLst/>
          </a:prstGeom>
          <a:noFill/>
        </p:spPr>
        <p:txBody>
          <a:bodyPr wrap="square" lIns="0" rIns="0" tIns="0" bIns="0" anchor="t">
            <a:spAutoFit/>
          </a:bodyPr>
          <a:lstStyle/>
          <a:p>
            <a:pPr algn="l">
              <a:lnSpc>
                <a:spcPct val="122000"/>
              </a:lnSpc>
              <a:spcAft>
                <a:spcPts val="400"/>
              </a:spcAft>
            </a:pPr>
            <a:r>
              <a:rPr sz="1050" b="0" i="0">
                <a:solidFill>
                  <a:srgbClr val="5A6B80"/>
                </a:solidFill>
                <a:latin typeface="Calibri"/>
              </a:rPr>
              <a:t>A foreign key in the warehouse is already an edge — the projection simply names it. SUPPLIER_PART_APPROVAL becomes APPROVED_SOURCE; BOM_LINE becomes COMPONENT_OF; SHIPMENT_HEADER joined to lanes becomes OPERATES_LANE. Nothing is invented, and nothing is copied twice.</a:t>
            </a:r>
          </a:p>
        </p:txBody>
      </p:sp>
      <p:sp>
        <p:nvSpPr>
          <p:cNvPr id="14" name="TextBox 13"/>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Full projection logic in deploy_production.sql, Part 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graph at a glance</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Read live from SCS.KG at build time</a:t>
            </a:r>
          </a:p>
        </p:txBody>
      </p:sp>
      <p:sp>
        <p:nvSpPr>
          <p:cNvPr id="5" name="Rounded Rectangle 4"/>
          <p:cNvSpPr/>
          <p:nvPr/>
        </p:nvSpPr>
        <p:spPr>
          <a:xfrm>
            <a:off x="411480" y="1207008"/>
            <a:ext cx="2682240" cy="9875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298448"/>
            <a:ext cx="2499360" cy="402336"/>
          </a:xfrm>
          <a:prstGeom prst="rect">
            <a:avLst/>
          </a:prstGeom>
          <a:noFill/>
        </p:spPr>
        <p:txBody>
          <a:bodyPr wrap="square" lIns="0" rIns="0" tIns="0" bIns="0" anchor="t">
            <a:spAutoFit/>
          </a:bodyPr>
          <a:lstStyle/>
          <a:p>
            <a:pPr algn="ctr">
              <a:spcAft>
                <a:spcPts val="400"/>
              </a:spcAft>
            </a:pPr>
            <a:r>
              <a:rPr sz="3000" b="1" i="0">
                <a:solidFill>
                  <a:srgbClr val="18A0FB"/>
                </a:solidFill>
                <a:latin typeface="Cambria"/>
              </a:rPr>
              <a:t>7,613</a:t>
            </a:r>
          </a:p>
        </p:txBody>
      </p:sp>
      <p:sp>
        <p:nvSpPr>
          <p:cNvPr id="7" name="TextBox 6"/>
          <p:cNvSpPr txBox="1"/>
          <p:nvPr/>
        </p:nvSpPr>
        <p:spPr>
          <a:xfrm>
            <a:off x="484632" y="1883664"/>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nodes</a:t>
            </a:r>
          </a:p>
        </p:txBody>
      </p:sp>
      <p:sp>
        <p:nvSpPr>
          <p:cNvPr id="8" name="Rounded Rectangle 7"/>
          <p:cNvSpPr/>
          <p:nvPr/>
        </p:nvSpPr>
        <p:spPr>
          <a:xfrm>
            <a:off x="3230880" y="1207008"/>
            <a:ext cx="2682240" cy="9875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22320" y="1298448"/>
            <a:ext cx="2499360" cy="402336"/>
          </a:xfrm>
          <a:prstGeom prst="rect">
            <a:avLst/>
          </a:prstGeom>
          <a:noFill/>
        </p:spPr>
        <p:txBody>
          <a:bodyPr wrap="square" lIns="0" rIns="0" tIns="0" bIns="0" anchor="t">
            <a:spAutoFit/>
          </a:bodyPr>
          <a:lstStyle/>
          <a:p>
            <a:pPr algn="ctr">
              <a:spcAft>
                <a:spcPts val="400"/>
              </a:spcAft>
            </a:pPr>
            <a:r>
              <a:rPr sz="3000" b="1" i="0">
                <a:solidFill>
                  <a:srgbClr val="8A5CF6"/>
                </a:solidFill>
                <a:latin typeface="Cambria"/>
              </a:rPr>
              <a:t>26,524</a:t>
            </a:r>
          </a:p>
        </p:txBody>
      </p:sp>
      <p:sp>
        <p:nvSpPr>
          <p:cNvPr id="10" name="TextBox 9"/>
          <p:cNvSpPr txBox="1"/>
          <p:nvPr/>
        </p:nvSpPr>
        <p:spPr>
          <a:xfrm>
            <a:off x="3304032" y="1883664"/>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edges</a:t>
            </a:r>
          </a:p>
        </p:txBody>
      </p:sp>
      <p:sp>
        <p:nvSpPr>
          <p:cNvPr id="11" name="Rounded Rectangle 10"/>
          <p:cNvSpPr/>
          <p:nvPr/>
        </p:nvSpPr>
        <p:spPr>
          <a:xfrm>
            <a:off x="6050280" y="1207008"/>
            <a:ext cx="2682240" cy="9875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41720" y="1298448"/>
            <a:ext cx="2499360" cy="402336"/>
          </a:xfrm>
          <a:prstGeom prst="rect">
            <a:avLst/>
          </a:prstGeom>
          <a:noFill/>
        </p:spPr>
        <p:txBody>
          <a:bodyPr wrap="square" lIns="0" rIns="0" tIns="0" bIns="0" anchor="t">
            <a:spAutoFit/>
          </a:bodyPr>
          <a:lstStyle/>
          <a:p>
            <a:pPr algn="ctr">
              <a:spcAft>
                <a:spcPts val="400"/>
              </a:spcAft>
            </a:pPr>
            <a:r>
              <a:rPr sz="3000" b="1" i="0">
                <a:solidFill>
                  <a:srgbClr val="00C2B2"/>
                </a:solidFill>
                <a:latin typeface="Cambria"/>
              </a:rPr>
              <a:t>7.0</a:t>
            </a:r>
          </a:p>
        </p:txBody>
      </p:sp>
      <p:sp>
        <p:nvSpPr>
          <p:cNvPr id="13" name="TextBox 12"/>
          <p:cNvSpPr txBox="1"/>
          <p:nvPr/>
        </p:nvSpPr>
        <p:spPr>
          <a:xfrm>
            <a:off x="6123432" y="1883664"/>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average connections per node</a:t>
            </a:r>
          </a:p>
        </p:txBody>
      </p:sp>
      <p:sp>
        <p:nvSpPr>
          <p:cNvPr id="14" name="Rounded Rectangle 13"/>
          <p:cNvSpPr/>
          <p:nvPr/>
        </p:nvSpPr>
        <p:spPr>
          <a:xfrm>
            <a:off x="411480" y="2340864"/>
            <a:ext cx="2682240" cy="9875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 y="2432304"/>
            <a:ext cx="2499360" cy="402336"/>
          </a:xfrm>
          <a:prstGeom prst="rect">
            <a:avLst/>
          </a:prstGeom>
          <a:noFill/>
        </p:spPr>
        <p:txBody>
          <a:bodyPr wrap="square" lIns="0" rIns="0" tIns="0" bIns="0" anchor="t">
            <a:spAutoFit/>
          </a:bodyPr>
          <a:lstStyle/>
          <a:p>
            <a:pPr algn="ctr">
              <a:spcAft>
                <a:spcPts val="400"/>
              </a:spcAft>
            </a:pPr>
            <a:r>
              <a:rPr sz="3000" b="1" i="0">
                <a:solidFill>
                  <a:srgbClr val="0B6FC4"/>
                </a:solidFill>
                <a:latin typeface="Cambria"/>
              </a:rPr>
              <a:t>12</a:t>
            </a:r>
          </a:p>
        </p:txBody>
      </p:sp>
      <p:sp>
        <p:nvSpPr>
          <p:cNvPr id="16" name="TextBox 15"/>
          <p:cNvSpPr txBox="1"/>
          <p:nvPr/>
        </p:nvSpPr>
        <p:spPr>
          <a:xfrm>
            <a:off x="484632" y="3017520"/>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entity types</a:t>
            </a:r>
          </a:p>
        </p:txBody>
      </p:sp>
      <p:sp>
        <p:nvSpPr>
          <p:cNvPr id="17" name="Rounded Rectangle 16"/>
          <p:cNvSpPr/>
          <p:nvPr/>
        </p:nvSpPr>
        <p:spPr>
          <a:xfrm>
            <a:off x="3230880" y="2340864"/>
            <a:ext cx="2682240" cy="9875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322320" y="2432304"/>
            <a:ext cx="2499360" cy="402336"/>
          </a:xfrm>
          <a:prstGeom prst="rect">
            <a:avLst/>
          </a:prstGeom>
          <a:noFill/>
        </p:spPr>
        <p:txBody>
          <a:bodyPr wrap="square" lIns="0" rIns="0" tIns="0" bIns="0" anchor="t">
            <a:spAutoFit/>
          </a:bodyPr>
          <a:lstStyle/>
          <a:p>
            <a:pPr algn="ctr">
              <a:spcAft>
                <a:spcPts val="400"/>
              </a:spcAft>
            </a:pPr>
            <a:r>
              <a:rPr sz="3000" b="1" i="0">
                <a:solidFill>
                  <a:srgbClr val="F5A623"/>
                </a:solidFill>
                <a:latin typeface="Cambria"/>
              </a:rPr>
              <a:t>14</a:t>
            </a:r>
          </a:p>
        </p:txBody>
      </p:sp>
      <p:sp>
        <p:nvSpPr>
          <p:cNvPr id="19" name="TextBox 18"/>
          <p:cNvSpPr txBox="1"/>
          <p:nvPr/>
        </p:nvSpPr>
        <p:spPr>
          <a:xfrm>
            <a:off x="3304032" y="3017520"/>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relationship types</a:t>
            </a:r>
          </a:p>
        </p:txBody>
      </p:sp>
      <p:sp>
        <p:nvSpPr>
          <p:cNvPr id="20" name="Rounded Rectangle 19"/>
          <p:cNvSpPr/>
          <p:nvPr/>
        </p:nvSpPr>
        <p:spPr>
          <a:xfrm>
            <a:off x="6050280" y="2340864"/>
            <a:ext cx="2682240" cy="9875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41720" y="2432304"/>
            <a:ext cx="2499360" cy="402336"/>
          </a:xfrm>
          <a:prstGeom prst="rect">
            <a:avLst/>
          </a:prstGeom>
          <a:noFill/>
        </p:spPr>
        <p:txBody>
          <a:bodyPr wrap="square" lIns="0" rIns="0" tIns="0" bIns="0" anchor="t">
            <a:spAutoFit/>
          </a:bodyPr>
          <a:lstStyle/>
          <a:p>
            <a:pPr algn="ctr">
              <a:spcAft>
                <a:spcPts val="400"/>
              </a:spcAft>
            </a:pPr>
            <a:r>
              <a:rPr sz="3000" b="1" i="0">
                <a:solidFill>
                  <a:srgbClr val="E4572E"/>
                </a:solidFill>
                <a:latin typeface="Cambria"/>
              </a:rPr>
              <a:t>18</a:t>
            </a:r>
          </a:p>
        </p:txBody>
      </p:sp>
      <p:sp>
        <p:nvSpPr>
          <p:cNvPr id="22" name="TextBox 21"/>
          <p:cNvSpPr txBox="1"/>
          <p:nvPr/>
        </p:nvSpPr>
        <p:spPr>
          <a:xfrm>
            <a:off x="6123432" y="3017520"/>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connected components</a:t>
            </a:r>
          </a:p>
        </p:txBody>
      </p:sp>
      <p:sp>
        <p:nvSpPr>
          <p:cNvPr id="23" name="Rounded Rectangle 22"/>
          <p:cNvSpPr/>
          <p:nvPr/>
        </p:nvSpPr>
        <p:spPr>
          <a:xfrm>
            <a:off x="411480" y="3493008"/>
            <a:ext cx="8321040" cy="841248"/>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0936" y="3621024"/>
            <a:ext cx="7882128" cy="603504"/>
          </a:xfrm>
          <a:prstGeom prst="rect">
            <a:avLst/>
          </a:prstGeom>
          <a:noFill/>
        </p:spPr>
        <p:txBody>
          <a:bodyPr wrap="square" lIns="0" rIns="0" tIns="0" bIns="0" anchor="t">
            <a:spAutoFit/>
          </a:bodyPr>
          <a:lstStyle/>
          <a:p>
            <a:pPr algn="ctr">
              <a:lnSpc>
                <a:spcPct val="122000"/>
              </a:lnSpc>
              <a:spcAft>
                <a:spcPts val="400"/>
              </a:spcAft>
            </a:pPr>
            <a:r>
              <a:rPr sz="1100" b="0" i="0">
                <a:solidFill>
                  <a:srgbClr val="FFFFFF"/>
                </a:solidFill>
                <a:latin typeface="Calibri"/>
              </a:rPr>
              <a:t>7,613 nodes over 2,362,876 source rows is the point: the graph is a thin, high-value layer. It carries the relationships and the measures over them — the facts stay where they are, and are joined back when needed.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Entities in the graph</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7,613 nodes across 12 types</a:t>
            </a:r>
          </a:p>
        </p:txBody>
      </p:sp>
      <p:graphicFrame>
        <p:nvGraphicFramePr>
          <p:cNvPr id="5" name="Chart 4"/>
          <p:cNvGraphicFramePr>
            <a:graphicFrameLocks noGrp="1"/>
          </p:cNvGraphicFramePr>
          <p:nvPr/>
        </p:nvGraphicFramePr>
        <p:xfrm>
          <a:off x="411480" y="1207008"/>
          <a:ext cx="5074920" cy="3310128"/>
        </p:xfrm>
        <a:graphic>
          <a:graphicData uri="http://schemas.openxmlformats.org/drawingml/2006/chart">
            <c:chart xmlns:c="http://schemas.openxmlformats.org/drawingml/2006/chart" r:id="rId4"/>
          </a:graphicData>
        </a:graphic>
      </p:graphicFrame>
      <p:sp>
        <p:nvSpPr>
          <p:cNvPr id="6" name="Rounded Rectangle 5"/>
          <p:cNvSpPr/>
          <p:nvPr/>
        </p:nvSpPr>
        <p:spPr>
          <a:xfrm>
            <a:off x="5742432" y="1298448"/>
            <a:ext cx="2990088" cy="312724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907024" y="1426464"/>
            <a:ext cx="2651760"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What these are</a:t>
            </a:r>
          </a:p>
        </p:txBody>
      </p:sp>
      <p:sp>
        <p:nvSpPr>
          <p:cNvPr id="8" name="Oval 7"/>
          <p:cNvSpPr/>
          <p:nvPr/>
        </p:nvSpPr>
        <p:spPr>
          <a:xfrm>
            <a:off x="5907024" y="1824228"/>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89904" y="1773936"/>
            <a:ext cx="2514600" cy="420624"/>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Part — </a:t>
            </a:r>
            <a:r>
              <a:rPr sz="950" b="0">
                <a:solidFill>
                  <a:srgbClr val="5A6B80"/>
                </a:solidFill>
                <a:latin typeface="Calibri"/>
              </a:rPr>
              <a:t>5,000 components with an approved-source trail</a:t>
            </a:r>
          </a:p>
        </p:txBody>
      </p:sp>
      <p:sp>
        <p:nvSpPr>
          <p:cNvPr id="10" name="Oval 9"/>
          <p:cNvSpPr/>
          <p:nvPr/>
        </p:nvSpPr>
        <p:spPr>
          <a:xfrm>
            <a:off x="5907024" y="2244852"/>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89904" y="2194560"/>
            <a:ext cx="2514600" cy="420624"/>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Supplier Site — </a:t>
            </a:r>
            <a:r>
              <a:rPr sz="950" b="0">
                <a:solidFill>
                  <a:srgbClr val="5A6B80"/>
                </a:solidFill>
                <a:latin typeface="Calibri"/>
              </a:rPr>
              <a:t>1,200 physical locations, the true risk unit</a:t>
            </a:r>
          </a:p>
        </p:txBody>
      </p:sp>
      <p:sp>
        <p:nvSpPr>
          <p:cNvPr id="12" name="Oval 11"/>
          <p:cNvSpPr/>
          <p:nvPr/>
        </p:nvSpPr>
        <p:spPr>
          <a:xfrm>
            <a:off x="5907024" y="2665476"/>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89904" y="2615184"/>
            <a:ext cx="2514600" cy="420624"/>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Supplier — </a:t>
            </a:r>
            <a:r>
              <a:rPr sz="950" b="0">
                <a:solidFill>
                  <a:srgbClr val="5A6B80"/>
                </a:solidFill>
                <a:latin typeface="Calibri"/>
              </a:rPr>
              <a:t>500 parent organisations</a:t>
            </a:r>
          </a:p>
        </p:txBody>
      </p:sp>
      <p:sp>
        <p:nvSpPr>
          <p:cNvPr id="14" name="Oval 13"/>
          <p:cNvSpPr/>
          <p:nvPr/>
        </p:nvSpPr>
        <p:spPr>
          <a:xfrm>
            <a:off x="5907024" y="3086100"/>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89904" y="3035808"/>
            <a:ext cx="2514600" cy="420624"/>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Product — </a:t>
            </a:r>
            <a:r>
              <a:rPr sz="950" b="0">
                <a:solidFill>
                  <a:srgbClr val="5A6B80"/>
                </a:solidFill>
                <a:latin typeface="Calibri"/>
              </a:rPr>
              <a:t>500 finished SKUs built from BOMs</a:t>
            </a:r>
          </a:p>
        </p:txBody>
      </p:sp>
      <p:sp>
        <p:nvSpPr>
          <p:cNvPr id="16" name="Oval 15"/>
          <p:cNvSpPr/>
          <p:nvPr/>
        </p:nvSpPr>
        <p:spPr>
          <a:xfrm>
            <a:off x="5907024" y="3506724"/>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89904" y="3456432"/>
            <a:ext cx="2514600" cy="420624"/>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Lane, Port, Carrier — </a:t>
            </a:r>
            <a:r>
              <a:rPr sz="950" b="0">
                <a:solidFill>
                  <a:srgbClr val="5A6B80"/>
                </a:solidFill>
                <a:latin typeface="Calibri"/>
              </a:rPr>
              <a:t>the logistics layer</a:t>
            </a:r>
          </a:p>
        </p:txBody>
      </p:sp>
      <p:sp>
        <p:nvSpPr>
          <p:cNvPr id="18" name="Oval 17"/>
          <p:cNvSpPr/>
          <p:nvPr/>
        </p:nvSpPr>
        <p:spPr>
          <a:xfrm>
            <a:off x="5907024" y="3927348"/>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089904" y="3877056"/>
            <a:ext cx="2514600" cy="420624"/>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Plant, Warehouse — </a:t>
            </a:r>
            <a:r>
              <a:rPr sz="950" b="0">
                <a:solidFill>
                  <a:srgbClr val="5A6B80"/>
                </a:solidFill>
                <a:latin typeface="Calibri"/>
              </a:rPr>
              <a:t>internal network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Relationships in the graph</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26,524 edges across 14 types</a:t>
            </a:r>
          </a:p>
        </p:txBody>
      </p:sp>
      <p:graphicFrame>
        <p:nvGraphicFramePr>
          <p:cNvPr id="5" name="Chart 4"/>
          <p:cNvGraphicFramePr>
            <a:graphicFrameLocks noGrp="1"/>
          </p:cNvGraphicFramePr>
          <p:nvPr/>
        </p:nvGraphicFramePr>
        <p:xfrm>
          <a:off x="411480" y="1207008"/>
          <a:ext cx="5074920" cy="3310128"/>
        </p:xfrm>
        <a:graphic>
          <a:graphicData uri="http://schemas.openxmlformats.org/drawingml/2006/chart">
            <c:chart xmlns:c="http://schemas.openxmlformats.org/drawingml/2006/chart" r:id="rId4"/>
          </a:graphicData>
        </a:graphic>
      </p:graphicFrame>
      <p:sp>
        <p:nvSpPr>
          <p:cNvPr id="6" name="Rounded Rectangle 5"/>
          <p:cNvSpPr/>
          <p:nvPr/>
        </p:nvSpPr>
        <p:spPr>
          <a:xfrm>
            <a:off x="5742432" y="1298448"/>
            <a:ext cx="2990088" cy="312724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907024" y="1426464"/>
            <a:ext cx="2651760"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The load-bearing edges</a:t>
            </a:r>
          </a:p>
        </p:txBody>
      </p:sp>
      <p:sp>
        <p:nvSpPr>
          <p:cNvPr id="8" name="Oval 7"/>
          <p:cNvSpPr/>
          <p:nvPr/>
        </p:nvSpPr>
        <p:spPr>
          <a:xfrm>
            <a:off x="5907024" y="1824228"/>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89904" y="1773936"/>
            <a:ext cx="2514600" cy="475488"/>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Approved Source — </a:t>
            </a:r>
            <a:r>
              <a:rPr sz="950" b="0">
                <a:solidFill>
                  <a:srgbClr val="5A6B80"/>
                </a:solidFill>
                <a:latin typeface="Calibri"/>
              </a:rPr>
              <a:t>6,678. Sourcing resilience lives here.</a:t>
            </a:r>
          </a:p>
        </p:txBody>
      </p:sp>
      <p:sp>
        <p:nvSpPr>
          <p:cNvPr id="10" name="Oval 9"/>
          <p:cNvSpPr/>
          <p:nvPr/>
        </p:nvSpPr>
        <p:spPr>
          <a:xfrm>
            <a:off x="5907024" y="2299716"/>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89904" y="2249424"/>
            <a:ext cx="2514600" cy="475488"/>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Supplies To — </a:t>
            </a:r>
            <a:r>
              <a:rPr sz="950" b="0">
                <a:solidFill>
                  <a:srgbClr val="5A6B80"/>
                </a:solidFill>
                <a:latin typeface="Calibri"/>
              </a:rPr>
              <a:t>5,811. Who feeds which plant.</a:t>
            </a:r>
          </a:p>
        </p:txBody>
      </p:sp>
      <p:sp>
        <p:nvSpPr>
          <p:cNvPr id="12" name="Oval 11"/>
          <p:cNvSpPr/>
          <p:nvPr/>
        </p:nvSpPr>
        <p:spPr>
          <a:xfrm>
            <a:off x="5907024" y="2775204"/>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89904" y="2724912"/>
            <a:ext cx="2514600" cy="475488"/>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Classified As — </a:t>
            </a:r>
            <a:r>
              <a:rPr sz="950" b="0">
                <a:solidFill>
                  <a:srgbClr val="5A6B80"/>
                </a:solidFill>
                <a:latin typeface="Calibri"/>
              </a:rPr>
              <a:t>5,000. Part to commodity.</a:t>
            </a:r>
          </a:p>
        </p:txBody>
      </p:sp>
      <p:sp>
        <p:nvSpPr>
          <p:cNvPr id="14" name="Oval 13"/>
          <p:cNvSpPr/>
          <p:nvPr/>
        </p:nvSpPr>
        <p:spPr>
          <a:xfrm>
            <a:off x="5907024" y="3250692"/>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89904" y="3200400"/>
            <a:ext cx="2514600" cy="475488"/>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Component Of — </a:t>
            </a:r>
            <a:r>
              <a:rPr sz="950" b="0">
                <a:solidFill>
                  <a:srgbClr val="5A6B80"/>
                </a:solidFill>
                <a:latin typeface="Calibri"/>
              </a:rPr>
              <a:t>2,508. BOM structure, recursive.</a:t>
            </a:r>
          </a:p>
        </p:txBody>
      </p:sp>
      <p:sp>
        <p:nvSpPr>
          <p:cNvPr id="16" name="Oval 15"/>
          <p:cNvSpPr/>
          <p:nvPr/>
        </p:nvSpPr>
        <p:spPr>
          <a:xfrm>
            <a:off x="5907024" y="3726180"/>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89904" y="3675888"/>
            <a:ext cx="2514600" cy="475488"/>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Operates Lane — </a:t>
            </a:r>
            <a:r>
              <a:rPr sz="950" b="0">
                <a:solidFill>
                  <a:srgbClr val="5A6B80"/>
                </a:solidFill>
                <a:latin typeface="Calibri"/>
              </a:rPr>
              <a:t>3,323. Carrier to route.</a:t>
            </a:r>
          </a:p>
        </p:txBody>
      </p:sp>
      <p:sp>
        <p:nvSpPr>
          <p:cNvPr id="18" name="TextBox 17"/>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Single-sourcing, bottleneck and blast-radius questions are all APPROVED_SOURCE and COMPONENT_OF traversals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Derived columns on KG_NODES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Eight measures computed in SQL at build time — no graph engine involved</a:t>
            </a:r>
          </a:p>
        </p:txBody>
      </p:sp>
      <p:graphicFrame>
        <p:nvGraphicFramePr>
          <p:cNvPr id="5" name="Table 4"/>
          <p:cNvGraphicFramePr>
            <a:graphicFrameLocks noGrp="1"/>
          </p:cNvGraphicFramePr>
          <p:nvPr/>
        </p:nvGraphicFramePr>
        <p:xfrm>
          <a:off x="411480" y="1280160"/>
          <a:ext cx="8321038" cy="2756916"/>
        </p:xfrm>
        <a:graphic>
          <a:graphicData uri="http://schemas.openxmlformats.org/drawingml/2006/table">
            <a:tbl>
              <a:tblPr firstRow="1" bandRow="1">
                <a:tableStyleId>{5C22544A-7EE6-4342-B048-85BDC9FD1C3A}</a:tableStyleId>
              </a:tblPr>
              <a:tblGrid>
                <a:gridCol w="1891145"/>
                <a:gridCol w="882534"/>
                <a:gridCol w="3277985"/>
                <a:gridCol w="2269374"/>
              </a:tblGrid>
              <a:tr h="306324">
                <a:tc>
                  <a:txBody>
                    <a:bodyPr wrap="square"/>
                    <a:lstStyle/>
                    <a:p>
                      <a:pPr algn="l"/>
                      <a:r>
                        <a:rPr sz="900" b="1">
                          <a:solidFill>
                            <a:srgbClr val="FFFFFF"/>
                          </a:solidFill>
                          <a:latin typeface="Calibri"/>
                        </a:rPr>
                        <a:t>Column</a:t>
                      </a:r>
                    </a:p>
                  </a:txBody>
                  <a:tcPr marL="54864" marR="54864" marT="9144" marB="9144" anchor="ctr">
                    <a:solidFill>
                      <a:srgbClr val="0B1220"/>
                    </a:solidFill>
                  </a:tcPr>
                </a:tc>
                <a:tc>
                  <a:txBody>
                    <a:bodyPr wrap="square"/>
                    <a:lstStyle/>
                    <a:p>
                      <a:pPr algn="l"/>
                      <a:r>
                        <a:rPr sz="900" b="1">
                          <a:solidFill>
                            <a:srgbClr val="FFFFFF"/>
                          </a:solidFill>
                          <a:latin typeface="Calibri"/>
                        </a:rPr>
                        <a:t>Type</a:t>
                      </a:r>
                    </a:p>
                  </a:txBody>
                  <a:tcPr marL="54864" marR="54864" marT="9144" marB="9144" anchor="ctr">
                    <a:solidFill>
                      <a:srgbClr val="0B1220"/>
                    </a:solidFill>
                  </a:tcPr>
                </a:tc>
                <a:tc>
                  <a:txBody>
                    <a:bodyPr wrap="square"/>
                    <a:lstStyle/>
                    <a:p>
                      <a:pPr algn="l"/>
                      <a:r>
                        <a:rPr sz="900" b="1">
                          <a:solidFill>
                            <a:srgbClr val="FFFFFF"/>
                          </a:solidFill>
                          <a:latin typeface="Calibri"/>
                        </a:rPr>
                        <a:t>What it measures</a:t>
                      </a:r>
                    </a:p>
                  </a:txBody>
                  <a:tcPr marL="54864" marR="54864" marT="9144" marB="9144" anchor="ctr">
                    <a:solidFill>
                      <a:srgbClr val="0B1220"/>
                    </a:solidFill>
                  </a:tcPr>
                </a:tc>
                <a:tc>
                  <a:txBody>
                    <a:bodyPr wrap="square"/>
                    <a:lstStyle/>
                    <a:p>
                      <a:pPr algn="l"/>
                      <a:r>
                        <a:rPr sz="900" b="1">
                          <a:solidFill>
                            <a:srgbClr val="FFFFFF"/>
                          </a:solidFill>
                          <a:latin typeface="Calibri"/>
                        </a:rPr>
                        <a:t>Used for</a:t>
                      </a:r>
                    </a:p>
                  </a:txBody>
                  <a:tcPr marL="54864" marR="54864" marT="9144" marB="9144" anchor="ctr">
                    <a:solidFill>
                      <a:srgbClr val="0B1220"/>
                    </a:solidFill>
                  </a:tcPr>
                </a:tc>
              </a:tr>
              <a:tr h="306324">
                <a:tc>
                  <a:txBody>
                    <a:bodyPr wrap="square"/>
                    <a:lstStyle/>
                    <a:p>
                      <a:pPr algn="l"/>
                      <a:r>
                        <a:rPr sz="900" b="0">
                          <a:solidFill>
                            <a:srgbClr val="0B1220"/>
                          </a:solidFill>
                          <a:latin typeface="Calibri"/>
                        </a:rPr>
                        <a:t>DEGREE_IN</a:t>
                      </a:r>
                    </a:p>
                  </a:txBody>
                  <a:tcPr marL="54864" marR="54864" marT="9144" marB="9144" anchor="ctr">
                    <a:solidFill>
                      <a:srgbClr val="FFFFFF"/>
                    </a:solidFill>
                  </a:tcPr>
                </a:tc>
                <a:tc>
                  <a:txBody>
                    <a:bodyPr wrap="square"/>
                    <a:lstStyle/>
                    <a:p>
                      <a:pPr algn="l"/>
                      <a:r>
                        <a:rPr sz="900" b="0">
                          <a:solidFill>
                            <a:srgbClr val="0B1220"/>
                          </a:solidFill>
                          <a:latin typeface="Calibri"/>
                        </a:rPr>
                        <a:t>NUMBER</a:t>
                      </a:r>
                    </a:p>
                  </a:txBody>
                  <a:tcPr marL="54864" marR="54864" marT="9144" marB="9144" anchor="ctr">
                    <a:solidFill>
                      <a:srgbClr val="FFFFFF"/>
                    </a:solidFill>
                  </a:tcPr>
                </a:tc>
                <a:tc>
                  <a:txBody>
                    <a:bodyPr wrap="square"/>
                    <a:lstStyle/>
                    <a:p>
                      <a:pPr algn="l"/>
                      <a:r>
                        <a:rPr sz="900" b="0">
                          <a:solidFill>
                            <a:srgbClr val="0B1220"/>
                          </a:solidFill>
                          <a:latin typeface="Calibri"/>
                        </a:rPr>
                        <a:t>Inbound relationship count</a:t>
                      </a:r>
                    </a:p>
                  </a:txBody>
                  <a:tcPr marL="54864" marR="54864" marT="9144" marB="9144" anchor="ctr">
                    <a:solidFill>
                      <a:srgbClr val="FFFFFF"/>
                    </a:solidFill>
                  </a:tcPr>
                </a:tc>
                <a:tc>
                  <a:txBody>
                    <a:bodyPr wrap="square"/>
                    <a:lstStyle/>
                    <a:p>
                      <a:pPr algn="l"/>
                      <a:r>
                        <a:rPr sz="900" b="0">
                          <a:solidFill>
                            <a:srgbClr val="0B1220"/>
                          </a:solidFill>
                          <a:latin typeface="Calibri"/>
                        </a:rPr>
                        <a:t>Demand convergence</a:t>
                      </a:r>
                    </a:p>
                  </a:txBody>
                  <a:tcPr marL="54864" marR="54864" marT="9144" marB="9144" anchor="ctr">
                    <a:solidFill>
                      <a:srgbClr val="FFFFFF"/>
                    </a:solidFill>
                  </a:tcPr>
                </a:tc>
              </a:tr>
              <a:tr h="306324">
                <a:tc>
                  <a:txBody>
                    <a:bodyPr wrap="square"/>
                    <a:lstStyle/>
                    <a:p>
                      <a:pPr algn="l"/>
                      <a:r>
                        <a:rPr sz="900" b="0">
                          <a:solidFill>
                            <a:srgbClr val="0B1220"/>
                          </a:solidFill>
                          <a:latin typeface="Calibri"/>
                        </a:rPr>
                        <a:t>DEGREE_OUT</a:t>
                      </a:r>
                    </a:p>
                  </a:txBody>
                  <a:tcPr marL="54864" marR="54864" marT="9144" marB="9144" anchor="ctr">
                    <a:solidFill>
                      <a:srgbClr val="F1F6FB"/>
                    </a:solidFill>
                  </a:tcPr>
                </a:tc>
                <a:tc>
                  <a:txBody>
                    <a:bodyPr wrap="square"/>
                    <a:lstStyle/>
                    <a:p>
                      <a:pPr algn="l"/>
                      <a:r>
                        <a:rPr sz="900" b="0">
                          <a:solidFill>
                            <a:srgbClr val="0B1220"/>
                          </a:solidFill>
                          <a:latin typeface="Calibri"/>
                        </a:rPr>
                        <a:t>NUMBER</a:t>
                      </a:r>
                    </a:p>
                  </a:txBody>
                  <a:tcPr marL="54864" marR="54864" marT="9144" marB="9144" anchor="ctr">
                    <a:solidFill>
                      <a:srgbClr val="F1F6FB"/>
                    </a:solidFill>
                  </a:tcPr>
                </a:tc>
                <a:tc>
                  <a:txBody>
                    <a:bodyPr wrap="square"/>
                    <a:lstStyle/>
                    <a:p>
                      <a:pPr algn="l"/>
                      <a:r>
                        <a:rPr sz="900" b="0">
                          <a:solidFill>
                            <a:srgbClr val="0B1220"/>
                          </a:solidFill>
                          <a:latin typeface="Calibri"/>
                        </a:rPr>
                        <a:t>Outbound relationship count</a:t>
                      </a:r>
                    </a:p>
                  </a:txBody>
                  <a:tcPr marL="54864" marR="54864" marT="9144" marB="9144" anchor="ctr">
                    <a:solidFill>
                      <a:srgbClr val="F1F6FB"/>
                    </a:solidFill>
                  </a:tcPr>
                </a:tc>
                <a:tc>
                  <a:txBody>
                    <a:bodyPr wrap="square"/>
                    <a:lstStyle/>
                    <a:p>
                      <a:pPr algn="l"/>
                      <a:r>
                        <a:rPr sz="900" b="0">
                          <a:solidFill>
                            <a:srgbClr val="0B1220"/>
                          </a:solidFill>
                          <a:latin typeface="Calibri"/>
                        </a:rPr>
                        <a:t>Supply fan-out</a:t>
                      </a:r>
                    </a:p>
                  </a:txBody>
                  <a:tcPr marL="54864" marR="54864" marT="9144" marB="9144" anchor="ctr">
                    <a:solidFill>
                      <a:srgbClr val="F1F6FB"/>
                    </a:solidFill>
                  </a:tcPr>
                </a:tc>
              </a:tr>
              <a:tr h="306324">
                <a:tc>
                  <a:txBody>
                    <a:bodyPr wrap="square"/>
                    <a:lstStyle/>
                    <a:p>
                      <a:pPr algn="l"/>
                      <a:r>
                        <a:rPr sz="900" b="0">
                          <a:solidFill>
                            <a:srgbClr val="0B1220"/>
                          </a:solidFill>
                          <a:latin typeface="Calibri"/>
                        </a:rPr>
                        <a:t>DEGREE_TOTAL</a:t>
                      </a:r>
                    </a:p>
                  </a:txBody>
                  <a:tcPr marL="54864" marR="54864" marT="9144" marB="9144" anchor="ctr">
                    <a:solidFill>
                      <a:srgbClr val="FFFFFF"/>
                    </a:solidFill>
                  </a:tcPr>
                </a:tc>
                <a:tc>
                  <a:txBody>
                    <a:bodyPr wrap="square"/>
                    <a:lstStyle/>
                    <a:p>
                      <a:pPr algn="l"/>
                      <a:r>
                        <a:rPr sz="900" b="0">
                          <a:solidFill>
                            <a:srgbClr val="0B1220"/>
                          </a:solidFill>
                          <a:latin typeface="Calibri"/>
                        </a:rPr>
                        <a:t>NUMBER</a:t>
                      </a:r>
                    </a:p>
                  </a:txBody>
                  <a:tcPr marL="54864" marR="54864" marT="9144" marB="9144" anchor="ctr">
                    <a:solidFill>
                      <a:srgbClr val="FFFFFF"/>
                    </a:solidFill>
                  </a:tcPr>
                </a:tc>
                <a:tc>
                  <a:txBody>
                    <a:bodyPr wrap="square"/>
                    <a:lstStyle/>
                    <a:p>
                      <a:pPr algn="l"/>
                      <a:r>
                        <a:rPr sz="900" b="0">
                          <a:solidFill>
                            <a:srgbClr val="0B1220"/>
                          </a:solidFill>
                          <a:latin typeface="Calibri"/>
                        </a:rPr>
                        <a:t>Total connections</a:t>
                      </a:r>
                    </a:p>
                  </a:txBody>
                  <a:tcPr marL="54864" marR="54864" marT="9144" marB="9144" anchor="ctr">
                    <a:solidFill>
                      <a:srgbClr val="FFFFFF"/>
                    </a:solidFill>
                  </a:tcPr>
                </a:tc>
                <a:tc>
                  <a:txBody>
                    <a:bodyPr wrap="square"/>
                    <a:lstStyle/>
                    <a:p>
                      <a:pPr algn="l"/>
                      <a:r>
                        <a:rPr sz="900" b="0">
                          <a:solidFill>
                            <a:srgbClr val="0B1220"/>
                          </a:solidFill>
                          <a:latin typeface="Calibri"/>
                        </a:rPr>
                        <a:t>Overall connectivity</a:t>
                      </a:r>
                    </a:p>
                  </a:txBody>
                  <a:tcPr marL="54864" marR="54864" marT="9144" marB="9144" anchor="ctr">
                    <a:solidFill>
                      <a:srgbClr val="FFFFFF"/>
                    </a:solidFill>
                  </a:tcPr>
                </a:tc>
              </a:tr>
              <a:tr h="306324">
                <a:tc>
                  <a:txBody>
                    <a:bodyPr wrap="square"/>
                    <a:lstStyle/>
                    <a:p>
                      <a:pPr algn="l"/>
                      <a:r>
                        <a:rPr sz="900" b="0">
                          <a:solidFill>
                            <a:srgbClr val="0B1220"/>
                          </a:solidFill>
                          <a:latin typeface="Calibri"/>
                        </a:rPr>
                        <a:t>COMPONENT_ID</a:t>
                      </a:r>
                    </a:p>
                  </a:txBody>
                  <a:tcPr marL="54864" marR="54864" marT="9144" marB="9144" anchor="ctr">
                    <a:solidFill>
                      <a:srgbClr val="F1F6FB"/>
                    </a:solidFill>
                  </a:tcPr>
                </a:tc>
                <a:tc>
                  <a:txBody>
                    <a:bodyPr wrap="square"/>
                    <a:lstStyle/>
                    <a:p>
                      <a:pPr algn="l"/>
                      <a:r>
                        <a:rPr sz="900" b="0">
                          <a:solidFill>
                            <a:srgbClr val="0B1220"/>
                          </a:solidFill>
                          <a:latin typeface="Calibri"/>
                        </a:rPr>
                        <a:t>NUMBER</a:t>
                      </a:r>
                    </a:p>
                  </a:txBody>
                  <a:tcPr marL="54864" marR="54864" marT="9144" marB="9144" anchor="ctr">
                    <a:solidFill>
                      <a:srgbClr val="F1F6FB"/>
                    </a:solidFill>
                  </a:tcPr>
                </a:tc>
                <a:tc>
                  <a:txBody>
                    <a:bodyPr wrap="square"/>
                    <a:lstStyle/>
                    <a:p>
                      <a:pPr algn="l"/>
                      <a:r>
                        <a:rPr sz="900" b="0">
                          <a:solidFill>
                            <a:srgbClr val="0B1220"/>
                          </a:solidFill>
                          <a:latin typeface="Calibri"/>
                        </a:rPr>
                        <a:t>Weakly-connected component</a:t>
                      </a:r>
                    </a:p>
                  </a:txBody>
                  <a:tcPr marL="54864" marR="54864" marT="9144" marB="9144" anchor="ctr">
                    <a:solidFill>
                      <a:srgbClr val="F1F6FB"/>
                    </a:solidFill>
                  </a:tcPr>
                </a:tc>
                <a:tc>
                  <a:txBody>
                    <a:bodyPr wrap="square"/>
                    <a:lstStyle/>
                    <a:p>
                      <a:pPr algn="l"/>
                      <a:r>
                        <a:rPr sz="900" b="0">
                          <a:solidFill>
                            <a:srgbClr val="0B1220"/>
                          </a:solidFill>
                          <a:latin typeface="Calibri"/>
                        </a:rPr>
                        <a:t>Isolation / clustering</a:t>
                      </a:r>
                    </a:p>
                  </a:txBody>
                  <a:tcPr marL="54864" marR="54864" marT="9144" marB="9144" anchor="ctr">
                    <a:solidFill>
                      <a:srgbClr val="F1F6FB"/>
                    </a:solidFill>
                  </a:tcPr>
                </a:tc>
              </a:tr>
              <a:tr h="306324">
                <a:tc>
                  <a:txBody>
                    <a:bodyPr wrap="square"/>
                    <a:lstStyle/>
                    <a:p>
                      <a:pPr algn="l"/>
                      <a:r>
                        <a:rPr sz="900" b="0">
                          <a:solidFill>
                            <a:srgbClr val="0B1220"/>
                          </a:solidFill>
                          <a:latin typeface="Calibri"/>
                        </a:rPr>
                        <a:t>PAGERANK</a:t>
                      </a:r>
                    </a:p>
                  </a:txBody>
                  <a:tcPr marL="54864" marR="54864" marT="9144" marB="9144" anchor="ctr">
                    <a:solidFill>
                      <a:srgbClr val="FFFFFF"/>
                    </a:solidFill>
                  </a:tcPr>
                </a:tc>
                <a:tc>
                  <a:txBody>
                    <a:bodyPr wrap="square"/>
                    <a:lstStyle/>
                    <a:p>
                      <a:pPr algn="l"/>
                      <a:r>
                        <a:rPr sz="900" b="0">
                          <a:solidFill>
                            <a:srgbClr val="0B1220"/>
                          </a:solidFill>
                          <a:latin typeface="Calibri"/>
                        </a:rPr>
                        <a:t>FLOAT</a:t>
                      </a:r>
                    </a:p>
                  </a:txBody>
                  <a:tcPr marL="54864" marR="54864" marT="9144" marB="9144" anchor="ctr">
                    <a:solidFill>
                      <a:srgbClr val="FFFFFF"/>
                    </a:solidFill>
                  </a:tcPr>
                </a:tc>
                <a:tc>
                  <a:txBody>
                    <a:bodyPr wrap="square"/>
                    <a:lstStyle/>
                    <a:p>
                      <a:pPr algn="l"/>
                      <a:r>
                        <a:rPr sz="900" b="0">
                          <a:solidFill>
                            <a:srgbClr val="0B1220"/>
                          </a:solidFill>
                          <a:latin typeface="Calibri"/>
                        </a:rPr>
                        <a:t>Importance weighted by neighbours' importance</a:t>
                      </a:r>
                    </a:p>
                  </a:txBody>
                  <a:tcPr marL="54864" marR="54864" marT="9144" marB="9144" anchor="ctr">
                    <a:solidFill>
                      <a:srgbClr val="FFFFFF"/>
                    </a:solidFill>
                  </a:tcPr>
                </a:tc>
                <a:tc>
                  <a:txBody>
                    <a:bodyPr wrap="square"/>
                    <a:lstStyle/>
                    <a:p>
                      <a:pPr algn="l"/>
                      <a:r>
                        <a:rPr sz="900" b="0">
                          <a:solidFill>
                            <a:srgbClr val="0B1220"/>
                          </a:solidFill>
                          <a:latin typeface="Calibri"/>
                        </a:rPr>
                        <a:t>Which entities matter most</a:t>
                      </a:r>
                    </a:p>
                  </a:txBody>
                  <a:tcPr marL="54864" marR="54864" marT="9144" marB="9144" anchor="ctr">
                    <a:solidFill>
                      <a:srgbClr val="FFFFFF"/>
                    </a:solidFill>
                  </a:tcPr>
                </a:tc>
              </a:tr>
              <a:tr h="306324">
                <a:tc>
                  <a:txBody>
                    <a:bodyPr wrap="square"/>
                    <a:lstStyle/>
                    <a:p>
                      <a:pPr algn="l"/>
                      <a:r>
                        <a:rPr sz="900" b="0">
                          <a:solidFill>
                            <a:srgbClr val="0B1220"/>
                          </a:solidFill>
                          <a:latin typeface="Calibri"/>
                        </a:rPr>
                        <a:t>HUB_SCORE</a:t>
                      </a:r>
                    </a:p>
                  </a:txBody>
                  <a:tcPr marL="54864" marR="54864" marT="9144" marB="9144" anchor="ctr">
                    <a:solidFill>
                      <a:srgbClr val="F1F6FB"/>
                    </a:solidFill>
                  </a:tcPr>
                </a:tc>
                <a:tc>
                  <a:txBody>
                    <a:bodyPr wrap="square"/>
                    <a:lstStyle/>
                    <a:p>
                      <a:pPr algn="l"/>
                      <a:r>
                        <a:rPr sz="900" b="0">
                          <a:solidFill>
                            <a:srgbClr val="0B1220"/>
                          </a:solidFill>
                          <a:latin typeface="Calibri"/>
                        </a:rPr>
                        <a:t>FLOAT</a:t>
                      </a:r>
                    </a:p>
                  </a:txBody>
                  <a:tcPr marL="54864" marR="54864" marT="9144" marB="9144" anchor="ctr">
                    <a:solidFill>
                      <a:srgbClr val="F1F6FB"/>
                    </a:solidFill>
                  </a:tcPr>
                </a:tc>
                <a:tc>
                  <a:txBody>
                    <a:bodyPr wrap="square"/>
                    <a:lstStyle/>
                    <a:p>
                      <a:pPr algn="l"/>
                      <a:r>
                        <a:rPr sz="900" b="0">
                          <a:solidFill>
                            <a:srgbClr val="0B1220"/>
                          </a:solidFill>
                          <a:latin typeface="Calibri"/>
                        </a:rPr>
                        <a:t>HITS hub — breadth of outbound reach</a:t>
                      </a:r>
                    </a:p>
                  </a:txBody>
                  <a:tcPr marL="54864" marR="54864" marT="9144" marB="9144" anchor="ctr">
                    <a:solidFill>
                      <a:srgbClr val="F1F6FB"/>
                    </a:solidFill>
                  </a:tcPr>
                </a:tc>
                <a:tc>
                  <a:txBody>
                    <a:bodyPr wrap="square"/>
                    <a:lstStyle/>
                    <a:p>
                      <a:pPr algn="l"/>
                      <a:r>
                        <a:rPr sz="900" b="0">
                          <a:solidFill>
                            <a:srgbClr val="0B1220"/>
                          </a:solidFill>
                          <a:latin typeface="Calibri"/>
                        </a:rPr>
                        <a:t>Wide distributors</a:t>
                      </a:r>
                    </a:p>
                  </a:txBody>
                  <a:tcPr marL="54864" marR="54864" marT="9144" marB="9144" anchor="ctr">
                    <a:solidFill>
                      <a:srgbClr val="F1F6FB"/>
                    </a:solidFill>
                  </a:tcPr>
                </a:tc>
              </a:tr>
              <a:tr h="306324">
                <a:tc>
                  <a:txBody>
                    <a:bodyPr wrap="square"/>
                    <a:lstStyle/>
                    <a:p>
                      <a:pPr algn="l"/>
                      <a:r>
                        <a:rPr sz="900" b="0">
                          <a:solidFill>
                            <a:srgbClr val="0B1220"/>
                          </a:solidFill>
                          <a:latin typeface="Calibri"/>
                        </a:rPr>
                        <a:t>AUTHORITY_SCORE</a:t>
                      </a:r>
                    </a:p>
                  </a:txBody>
                  <a:tcPr marL="54864" marR="54864" marT="9144" marB="9144" anchor="ctr">
                    <a:solidFill>
                      <a:srgbClr val="FFFFFF"/>
                    </a:solidFill>
                  </a:tcPr>
                </a:tc>
                <a:tc>
                  <a:txBody>
                    <a:bodyPr wrap="square"/>
                    <a:lstStyle/>
                    <a:p>
                      <a:pPr algn="l"/>
                      <a:r>
                        <a:rPr sz="900" b="0">
                          <a:solidFill>
                            <a:srgbClr val="0B1220"/>
                          </a:solidFill>
                          <a:latin typeface="Calibri"/>
                        </a:rPr>
                        <a:t>FLOAT</a:t>
                      </a:r>
                    </a:p>
                  </a:txBody>
                  <a:tcPr marL="54864" marR="54864" marT="9144" marB="9144" anchor="ctr">
                    <a:solidFill>
                      <a:srgbClr val="FFFFFF"/>
                    </a:solidFill>
                  </a:tcPr>
                </a:tc>
                <a:tc>
                  <a:txBody>
                    <a:bodyPr wrap="square"/>
                    <a:lstStyle/>
                    <a:p>
                      <a:pPr algn="l"/>
                      <a:r>
                        <a:rPr sz="900" b="0">
                          <a:solidFill>
                            <a:srgbClr val="0B1220"/>
                          </a:solidFill>
                          <a:latin typeface="Calibri"/>
                        </a:rPr>
                        <a:t>HITS authority — inbound concentration</a:t>
                      </a:r>
                    </a:p>
                  </a:txBody>
                  <a:tcPr marL="54864" marR="54864" marT="9144" marB="9144" anchor="ctr">
                    <a:solidFill>
                      <a:srgbClr val="FFFFFF"/>
                    </a:solidFill>
                  </a:tcPr>
                </a:tc>
                <a:tc>
                  <a:txBody>
                    <a:bodyPr wrap="square"/>
                    <a:lstStyle/>
                    <a:p>
                      <a:pPr algn="l"/>
                      <a:r>
                        <a:rPr sz="900" b="0">
                          <a:solidFill>
                            <a:srgbClr val="0B1220"/>
                          </a:solidFill>
                          <a:latin typeface="Calibri"/>
                        </a:rPr>
                        <a:t>Demand sinks</a:t>
                      </a:r>
                    </a:p>
                  </a:txBody>
                  <a:tcPr marL="54864" marR="54864" marT="9144" marB="9144" anchor="ctr">
                    <a:solidFill>
                      <a:srgbClr val="FFFFFF"/>
                    </a:solidFill>
                  </a:tcPr>
                </a:tc>
              </a:tr>
              <a:tr h="306324">
                <a:tc>
                  <a:txBody>
                    <a:bodyPr wrap="square"/>
                    <a:lstStyle/>
                    <a:p>
                      <a:pPr algn="l"/>
                      <a:r>
                        <a:rPr sz="900" b="0">
                          <a:solidFill>
                            <a:srgbClr val="0B1220"/>
                          </a:solidFill>
                          <a:latin typeface="Calibri"/>
                        </a:rPr>
                        <a:t>BETWEENNESS</a:t>
                      </a:r>
                    </a:p>
                  </a:txBody>
                  <a:tcPr marL="54864" marR="54864" marT="9144" marB="9144" anchor="ctr">
                    <a:solidFill>
                      <a:srgbClr val="F1F6FB"/>
                    </a:solidFill>
                  </a:tcPr>
                </a:tc>
                <a:tc>
                  <a:txBody>
                    <a:bodyPr wrap="square"/>
                    <a:lstStyle/>
                    <a:p>
                      <a:pPr algn="l"/>
                      <a:r>
                        <a:rPr sz="900" b="0">
                          <a:solidFill>
                            <a:srgbClr val="0B1220"/>
                          </a:solidFill>
                          <a:latin typeface="Calibri"/>
                        </a:rPr>
                        <a:t>FLOAT</a:t>
                      </a:r>
                    </a:p>
                  </a:txBody>
                  <a:tcPr marL="54864" marR="54864" marT="9144" marB="9144" anchor="ctr">
                    <a:solidFill>
                      <a:srgbClr val="F1F6FB"/>
                    </a:solidFill>
                  </a:tcPr>
                </a:tc>
                <a:tc>
                  <a:txBody>
                    <a:bodyPr wrap="square"/>
                    <a:lstStyle/>
                    <a:p>
                      <a:pPr algn="l"/>
                      <a:r>
                        <a:rPr sz="900" b="0">
                          <a:solidFill>
                            <a:srgbClr val="0B1220"/>
                          </a:solidFill>
                          <a:latin typeface="Calibri"/>
                        </a:rPr>
                        <a:t>Share of shortest paths through the node</a:t>
                      </a:r>
                    </a:p>
                  </a:txBody>
                  <a:tcPr marL="54864" marR="54864" marT="9144" marB="9144" anchor="ctr">
                    <a:solidFill>
                      <a:srgbClr val="F1F6FB"/>
                    </a:solidFill>
                  </a:tcPr>
                </a:tc>
                <a:tc>
                  <a:txBody>
                    <a:bodyPr wrap="square"/>
                    <a:lstStyle/>
                    <a:p>
                      <a:pPr algn="l"/>
                      <a:r>
                        <a:rPr sz="900" b="0">
                          <a:solidFill>
                            <a:srgbClr val="0B1220"/>
                          </a:solidFill>
                          <a:latin typeface="Calibri"/>
                        </a:rPr>
                        <a:t>Bottleneck / chokepoint risk</a:t>
                      </a:r>
                    </a:p>
                  </a:txBody>
                  <a:tcPr marL="54864" marR="54864" marT="9144" marB="9144" anchor="ctr">
                    <a:solidFill>
                      <a:srgbClr val="F1F6FB"/>
                    </a:solidFill>
                  </a:tcPr>
                </a:tc>
              </a:tr>
            </a:tbl>
          </a:graphicData>
        </a:graphic>
      </p:graphicFrame>
      <p:sp>
        <p:nvSpPr>
          <p:cNvPr id="6" name="Rounded Rectangle 5"/>
          <p:cNvSpPr/>
          <p:nvPr/>
        </p:nvSpPr>
        <p:spPr>
          <a:xfrm>
            <a:off x="411480" y="4078224"/>
            <a:ext cx="8321040" cy="512064"/>
          </a:xfrm>
          <a:prstGeom prst="roundRect">
            <a:avLst>
              <a:gd name="adj" fmla="val 6000"/>
            </a:avLst>
          </a:prstGeom>
          <a:solidFill>
            <a:srgbClr val="E6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76072" y="4178808"/>
            <a:ext cx="7991856" cy="329184"/>
          </a:xfrm>
          <a:prstGeom prst="rect">
            <a:avLst/>
          </a:prstGeom>
          <a:noFill/>
        </p:spPr>
        <p:txBody>
          <a:bodyPr wrap="square" lIns="0" rIns="0" tIns="0" bIns="0" anchor="t">
            <a:spAutoFit/>
          </a:bodyPr>
          <a:lstStyle/>
          <a:p>
            <a:pPr algn="ctr">
              <a:spcAft>
                <a:spcPts val="400"/>
              </a:spcAft>
            </a:pPr>
            <a:r>
              <a:rPr sz="1000" b="0" i="0">
                <a:solidFill>
                  <a:srgbClr val="0B1220"/>
                </a:solidFill>
                <a:latin typeface="Calibri"/>
              </a:rPr>
              <a:t>Plus NODE_ID, NODE_TYPE, SOURCE_ID, LABEL and a PROPERTIES VARIANT — 13 columns in total, 8 of them computed.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Derived columns on KG_EDGES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Two computed columns, five analytical views, and the business-metrics layer</a:t>
            </a:r>
          </a:p>
        </p:txBody>
      </p:sp>
      <p:sp>
        <p:nvSpPr>
          <p:cNvPr id="5" name="Rounded Rectangle 4"/>
          <p:cNvSpPr/>
          <p:nvPr/>
        </p:nvSpPr>
        <p:spPr>
          <a:xfrm>
            <a:off x="411480" y="1207008"/>
            <a:ext cx="4059936" cy="151790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76072" y="1316736"/>
            <a:ext cx="3730752" cy="237744"/>
          </a:xfrm>
          <a:prstGeom prst="rect">
            <a:avLst/>
          </a:prstGeom>
          <a:noFill/>
        </p:spPr>
        <p:txBody>
          <a:bodyPr wrap="square" lIns="0" rIns="0" tIns="0" bIns="0" anchor="t">
            <a:spAutoFit/>
          </a:bodyPr>
          <a:lstStyle/>
          <a:p>
            <a:pPr algn="l">
              <a:spcAft>
                <a:spcPts val="400"/>
              </a:spcAft>
            </a:pPr>
            <a:r>
              <a:rPr sz="1200" b="1" i="0">
                <a:solidFill>
                  <a:srgbClr val="8A5CF6"/>
                </a:solidFill>
                <a:latin typeface="Cambria"/>
              </a:rPr>
              <a:t>KG_EDGES — 7 columns, 2 computed</a:t>
            </a:r>
          </a:p>
        </p:txBody>
      </p:sp>
      <p:graphicFrame>
        <p:nvGraphicFramePr>
          <p:cNvPr id="7" name="Table 6"/>
          <p:cNvGraphicFramePr>
            <a:graphicFrameLocks noGrp="1"/>
          </p:cNvGraphicFramePr>
          <p:nvPr/>
        </p:nvGraphicFramePr>
        <p:xfrm>
          <a:off x="576072" y="1627632"/>
          <a:ext cx="3730752" cy="822960"/>
        </p:xfrm>
        <a:graphic>
          <a:graphicData uri="http://schemas.openxmlformats.org/drawingml/2006/table">
            <a:tbl>
              <a:tblPr firstRow="1" bandRow="1">
                <a:tableStyleId>{5C22544A-7EE6-4342-B048-85BDC9FD1C3A}</a:tableStyleId>
              </a:tblPr>
              <a:tblGrid>
                <a:gridCol w="1165860"/>
                <a:gridCol w="2564892"/>
              </a:tblGrid>
              <a:tr h="274320">
                <a:tc>
                  <a:txBody>
                    <a:bodyPr wrap="square"/>
                    <a:lstStyle/>
                    <a:p>
                      <a:pPr algn="l"/>
                      <a:r>
                        <a:rPr sz="850" b="1">
                          <a:solidFill>
                            <a:srgbClr val="FFFFFF"/>
                          </a:solidFill>
                          <a:latin typeface="Calibri"/>
                        </a:rPr>
                        <a:t>Column</a:t>
                      </a:r>
                    </a:p>
                  </a:txBody>
                  <a:tcPr marL="54864" marR="54864" marT="9144" marB="9144" anchor="ctr">
                    <a:solidFill>
                      <a:srgbClr val="0B1220"/>
                    </a:solidFill>
                  </a:tcPr>
                </a:tc>
                <a:tc>
                  <a:txBody>
                    <a:bodyPr wrap="square"/>
                    <a:lstStyle/>
                    <a:p>
                      <a:pPr algn="l"/>
                      <a:r>
                        <a:rPr sz="850" b="1">
                          <a:solidFill>
                            <a:srgbClr val="FFFFFF"/>
                          </a:solidFill>
                          <a:latin typeface="Calibri"/>
                        </a:rPr>
                        <a:t>What it measures</a:t>
                      </a:r>
                    </a:p>
                  </a:txBody>
                  <a:tcPr marL="54864" marR="54864" marT="9144" marB="9144" anchor="ctr">
                    <a:solidFill>
                      <a:srgbClr val="0B1220"/>
                    </a:solidFill>
                  </a:tcPr>
                </a:tc>
              </a:tr>
              <a:tr h="274320">
                <a:tc>
                  <a:txBody>
                    <a:bodyPr wrap="square"/>
                    <a:lstStyle/>
                    <a:p>
                      <a:pPr algn="l"/>
                      <a:r>
                        <a:rPr sz="850" b="0">
                          <a:solidFill>
                            <a:srgbClr val="0B1220"/>
                          </a:solidFill>
                          <a:latin typeface="Calibri"/>
                        </a:rPr>
                        <a:t>WEIGHT</a:t>
                      </a:r>
                    </a:p>
                  </a:txBody>
                  <a:tcPr marL="54864" marR="54864" marT="9144" marB="9144" anchor="ctr">
                    <a:solidFill>
                      <a:srgbClr val="FFFFFF"/>
                    </a:solidFill>
                  </a:tcPr>
                </a:tc>
                <a:tc>
                  <a:txBody>
                    <a:bodyPr wrap="square"/>
                    <a:lstStyle/>
                    <a:p>
                      <a:pPr algn="l"/>
                      <a:r>
                        <a:rPr sz="850" b="0">
                          <a:solidFill>
                            <a:srgbClr val="0B1220"/>
                          </a:solidFill>
                          <a:latin typeface="Calibri"/>
                        </a:rPr>
                        <a:t>Transaction count behind the relationship</a:t>
                      </a:r>
                    </a:p>
                  </a:txBody>
                  <a:tcPr marL="54864" marR="54864" marT="9144" marB="9144" anchor="ctr">
                    <a:solidFill>
                      <a:srgbClr val="FFFFFF"/>
                    </a:solidFill>
                  </a:tcPr>
                </a:tc>
              </a:tr>
              <a:tr h="274320">
                <a:tc>
                  <a:txBody>
                    <a:bodyPr wrap="square"/>
                    <a:lstStyle/>
                    <a:p>
                      <a:pPr algn="l"/>
                      <a:r>
                        <a:rPr sz="850" b="0">
                          <a:solidFill>
                            <a:srgbClr val="0B1220"/>
                          </a:solidFill>
                          <a:latin typeface="Calibri"/>
                        </a:rPr>
                        <a:t>BETWEENNESS</a:t>
                      </a:r>
                    </a:p>
                  </a:txBody>
                  <a:tcPr marL="54864" marR="54864" marT="9144" marB="9144" anchor="ctr">
                    <a:solidFill>
                      <a:srgbClr val="F1F6FB"/>
                    </a:solidFill>
                  </a:tcPr>
                </a:tc>
                <a:tc>
                  <a:txBody>
                    <a:bodyPr wrap="square"/>
                    <a:lstStyle/>
                    <a:p>
                      <a:pPr algn="l"/>
                      <a:r>
                        <a:rPr sz="850" b="0">
                          <a:solidFill>
                            <a:srgbClr val="0B1220"/>
                          </a:solidFill>
                          <a:latin typeface="Calibri"/>
                        </a:rPr>
                        <a:t>Edge-level shortest-path share</a:t>
                      </a:r>
                    </a:p>
                  </a:txBody>
                  <a:tcPr marL="54864" marR="54864" marT="9144" marB="9144" anchor="ctr">
                    <a:solidFill>
                      <a:srgbClr val="F1F6FB"/>
                    </a:solidFill>
                  </a:tcPr>
                </a:tc>
              </a:tr>
            </a:tbl>
          </a:graphicData>
        </a:graphic>
      </p:graphicFrame>
      <p:sp>
        <p:nvSpPr>
          <p:cNvPr id="8" name="TextBox 7"/>
          <p:cNvSpPr txBox="1"/>
          <p:nvPr/>
        </p:nvSpPr>
        <p:spPr>
          <a:xfrm>
            <a:off x="576072" y="2487168"/>
            <a:ext cx="3730752" cy="201168"/>
          </a:xfrm>
          <a:prstGeom prst="rect">
            <a:avLst/>
          </a:prstGeom>
          <a:noFill/>
        </p:spPr>
        <p:txBody>
          <a:bodyPr wrap="square" lIns="0" rIns="0" tIns="0" bIns="0" anchor="t">
            <a:spAutoFit/>
          </a:bodyPr>
          <a:lstStyle/>
          <a:p>
            <a:pPr algn="l">
              <a:spcAft>
                <a:spcPts val="400"/>
              </a:spcAft>
            </a:pPr>
            <a:r>
              <a:rPr sz="850" b="0" i="1">
                <a:solidFill>
                  <a:srgbClr val="5A6B80"/>
                </a:solidFill>
                <a:latin typeface="Calibri"/>
              </a:rPr>
              <a:t>Plus EDGE_ID, FROM_NODE_ID, TO_NODE_ID, EDGE_TYPE, PROPERTIES</a:t>
            </a:r>
          </a:p>
        </p:txBody>
      </p:sp>
      <p:sp>
        <p:nvSpPr>
          <p:cNvPr id="9" name="Rounded Rectangle 8"/>
          <p:cNvSpPr/>
          <p:nvPr/>
        </p:nvSpPr>
        <p:spPr>
          <a:xfrm>
            <a:off x="4672584" y="1207008"/>
            <a:ext cx="4059936" cy="151790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37176" y="1316736"/>
            <a:ext cx="3730752" cy="237744"/>
          </a:xfrm>
          <a:prstGeom prst="rect">
            <a:avLst/>
          </a:prstGeom>
          <a:noFill/>
        </p:spPr>
        <p:txBody>
          <a:bodyPr wrap="square" lIns="0" rIns="0" tIns="0" bIns="0" anchor="t">
            <a:spAutoFit/>
          </a:bodyPr>
          <a:lstStyle/>
          <a:p>
            <a:pPr algn="l">
              <a:spcAft>
                <a:spcPts val="400"/>
              </a:spcAft>
            </a:pPr>
            <a:r>
              <a:rPr sz="1200" b="1" i="0">
                <a:solidFill>
                  <a:srgbClr val="00C2B2"/>
                </a:solidFill>
                <a:latin typeface="Cambria"/>
              </a:rPr>
              <a:t>5 analytical views in SCS.KG</a:t>
            </a:r>
          </a:p>
        </p:txBody>
      </p:sp>
      <p:sp>
        <p:nvSpPr>
          <p:cNvPr id="11" name="Oval 10"/>
          <p:cNvSpPr/>
          <p:nvPr/>
        </p:nvSpPr>
        <p:spPr>
          <a:xfrm>
            <a:off x="4837176" y="1696212"/>
            <a:ext cx="54864" cy="54864"/>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020056" y="1645920"/>
            <a:ext cx="3511296" cy="21031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VW_SINGLE_POINT_OF_FAILURE</a:t>
            </a:r>
            <a:r>
              <a:rPr sz="950" b="0">
                <a:solidFill>
                  <a:srgbClr val="5A6B80"/>
                </a:solidFill>
                <a:latin typeface="Calibri"/>
              </a:rPr>
              <a:t/>
            </a:r>
          </a:p>
        </p:txBody>
      </p:sp>
      <p:sp>
        <p:nvSpPr>
          <p:cNvPr id="13" name="Oval 12"/>
          <p:cNvSpPr/>
          <p:nvPr/>
        </p:nvSpPr>
        <p:spPr>
          <a:xfrm>
            <a:off x="4837176" y="1906524"/>
            <a:ext cx="54864" cy="54864"/>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020056" y="1856232"/>
            <a:ext cx="3511296" cy="21031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VW_NODE_IMPORTANCE</a:t>
            </a:r>
            <a:r>
              <a:rPr sz="950" b="0">
                <a:solidFill>
                  <a:srgbClr val="5A6B80"/>
                </a:solidFill>
                <a:latin typeface="Calibri"/>
              </a:rPr>
              <a:t/>
            </a:r>
          </a:p>
        </p:txBody>
      </p:sp>
      <p:sp>
        <p:nvSpPr>
          <p:cNvPr id="15" name="Oval 14"/>
          <p:cNvSpPr/>
          <p:nvPr/>
        </p:nvSpPr>
        <p:spPr>
          <a:xfrm>
            <a:off x="4837176" y="2116836"/>
            <a:ext cx="54864" cy="54864"/>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020056" y="2066544"/>
            <a:ext cx="3511296" cy="21031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VW_DISRUPTION_EXPOSURE</a:t>
            </a:r>
            <a:r>
              <a:rPr sz="950" b="0">
                <a:solidFill>
                  <a:srgbClr val="5A6B80"/>
                </a:solidFill>
                <a:latin typeface="Calibri"/>
              </a:rPr>
              <a:t/>
            </a:r>
          </a:p>
        </p:txBody>
      </p:sp>
      <p:sp>
        <p:nvSpPr>
          <p:cNvPr id="17" name="Oval 16"/>
          <p:cNvSpPr/>
          <p:nvPr/>
        </p:nvSpPr>
        <p:spPr>
          <a:xfrm>
            <a:off x="4837176" y="2327148"/>
            <a:ext cx="54864" cy="54864"/>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0056" y="2276856"/>
            <a:ext cx="3511296" cy="21031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VW_BOM_EXPLOSION</a:t>
            </a:r>
            <a:r>
              <a:rPr sz="950" b="0">
                <a:solidFill>
                  <a:srgbClr val="5A6B80"/>
                </a:solidFill>
                <a:latin typeface="Calibri"/>
              </a:rPr>
              <a:t/>
            </a:r>
          </a:p>
        </p:txBody>
      </p:sp>
      <p:sp>
        <p:nvSpPr>
          <p:cNvPr id="19" name="Oval 18"/>
          <p:cNvSpPr/>
          <p:nvPr/>
        </p:nvSpPr>
        <p:spPr>
          <a:xfrm>
            <a:off x="4837176" y="2537460"/>
            <a:ext cx="54864" cy="54864"/>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20056" y="2487168"/>
            <a:ext cx="3511296" cy="21031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VW_COMMUNITY_SUMMARY</a:t>
            </a:r>
            <a:r>
              <a:rPr sz="950" b="0">
                <a:solidFill>
                  <a:srgbClr val="5A6B80"/>
                </a:solidFill>
                <a:latin typeface="Calibri"/>
              </a:rPr>
              <a:t/>
            </a:r>
          </a:p>
        </p:txBody>
      </p:sp>
      <p:sp>
        <p:nvSpPr>
          <p:cNvPr id="21" name="Rounded Rectangle 20"/>
          <p:cNvSpPr/>
          <p:nvPr/>
        </p:nvSpPr>
        <p:spPr>
          <a:xfrm>
            <a:off x="411480" y="2834640"/>
            <a:ext cx="8321040" cy="14447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94360" y="2944368"/>
            <a:ext cx="7955280"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Business metrics joined onto the graph — KG_NODE_BUSINESS_METRICS</a:t>
            </a:r>
          </a:p>
        </p:txBody>
      </p:sp>
      <p:sp>
        <p:nvSpPr>
          <p:cNvPr id="23" name="TextBox 22"/>
          <p:cNvSpPr txBox="1"/>
          <p:nvPr/>
        </p:nvSpPr>
        <p:spPr>
          <a:xfrm>
            <a:off x="594360" y="3236976"/>
            <a:ext cx="7955280" cy="914400"/>
          </a:xfrm>
          <a:prstGeom prst="rect">
            <a:avLst/>
          </a:prstGeom>
          <a:noFill/>
        </p:spPr>
        <p:txBody>
          <a:bodyPr wrap="square" lIns="0" rIns="0" tIns="0" bIns="0" anchor="t">
            <a:spAutoFit/>
          </a:bodyPr>
          <a:lstStyle/>
          <a:p>
            <a:pPr algn="l">
              <a:lnSpc>
                <a:spcPct val="124000"/>
              </a:lnSpc>
              <a:spcAft>
                <a:spcPts val="400"/>
              </a:spcAft>
            </a:pPr>
            <a:r>
              <a:rPr sz="1050" b="0" i="0">
                <a:solidFill>
                  <a:srgbClr val="5A6B80"/>
                </a:solidFill>
                <a:latin typeface="Calibri"/>
              </a:rPr>
              <a:t>A view layered over KG_NODES that attaches commercial measures to each entity: total spend and PO count per supplier, average lead-time variance from goods receipts, defect PPM and inspection pass rate from quality records, and revenue per customer from sales orders. This is what lets one question span graph structure and business value — “which critical suppliers also carry the worst quality record?”</a:t>
            </a:r>
          </a:p>
        </p:txBody>
      </p:sp>
      <p:sp>
        <p:nvSpPr>
          <p:cNvPr id="24" name="TextBox 23"/>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Defined in 02_enrich_semantic_view.sql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four graph measures, in business terms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All computed in SQL — iterative PageRank and HITS as recursive CTEs</a:t>
            </a:r>
          </a:p>
        </p:txBody>
      </p:sp>
      <p:sp>
        <p:nvSpPr>
          <p:cNvPr id="5" name="Rounded Rectangle 4"/>
          <p:cNvSpPr/>
          <p:nvPr/>
        </p:nvSpPr>
        <p:spPr>
          <a:xfrm>
            <a:off x="411480" y="1225296"/>
            <a:ext cx="4059936" cy="14447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76072" y="1353312"/>
            <a:ext cx="3730752" cy="256032"/>
          </a:xfrm>
          <a:prstGeom prst="rect">
            <a:avLst/>
          </a:prstGeom>
          <a:noFill/>
        </p:spPr>
        <p:txBody>
          <a:bodyPr wrap="square" lIns="0" rIns="0" tIns="0" bIns="0" anchor="t">
            <a:spAutoFit/>
          </a:bodyPr>
          <a:lstStyle/>
          <a:p>
            <a:pPr algn="l">
              <a:spcAft>
                <a:spcPts val="400"/>
              </a:spcAft>
            </a:pPr>
            <a:r>
              <a:rPr sz="1300" b="1" i="0">
                <a:solidFill>
                  <a:srgbClr val="18A0FB"/>
                </a:solidFill>
                <a:latin typeface="Cambria"/>
              </a:rPr>
              <a:t>PageRank</a:t>
            </a:r>
          </a:p>
        </p:txBody>
      </p:sp>
      <p:sp>
        <p:nvSpPr>
          <p:cNvPr id="7" name="TextBox 6"/>
          <p:cNvSpPr txBox="1"/>
          <p:nvPr/>
        </p:nvSpPr>
        <p:spPr>
          <a:xfrm>
            <a:off x="576072" y="1664208"/>
            <a:ext cx="3730752" cy="566928"/>
          </a:xfrm>
          <a:prstGeom prst="rect">
            <a:avLst/>
          </a:prstGeom>
          <a:noFill/>
        </p:spPr>
        <p:txBody>
          <a:bodyPr wrap="square" lIns="0" rIns="0" tIns="0" bIns="0" anchor="t">
            <a:spAutoFit/>
          </a:bodyPr>
          <a:lstStyle/>
          <a:p>
            <a:pPr algn="l">
              <a:lnSpc>
                <a:spcPct val="118000"/>
              </a:lnSpc>
              <a:spcAft>
                <a:spcPts val="400"/>
              </a:spcAft>
            </a:pPr>
            <a:r>
              <a:rPr sz="1000" b="0" i="0">
                <a:solidFill>
                  <a:srgbClr val="5A6B80"/>
                </a:solidFill>
                <a:latin typeface="Calibri"/>
              </a:rPr>
              <a:t>Importance that flows. An entity is important if important entities depend on it — not merely if it has many links.</a:t>
            </a:r>
          </a:p>
        </p:txBody>
      </p:sp>
      <p:sp>
        <p:nvSpPr>
          <p:cNvPr id="8" name="TextBox 7"/>
          <p:cNvSpPr txBox="1"/>
          <p:nvPr/>
        </p:nvSpPr>
        <p:spPr>
          <a:xfrm>
            <a:off x="576072" y="2304288"/>
            <a:ext cx="3730752" cy="237744"/>
          </a:xfrm>
          <a:prstGeom prst="rect">
            <a:avLst/>
          </a:prstGeom>
          <a:noFill/>
        </p:spPr>
        <p:txBody>
          <a:bodyPr wrap="square" lIns="0" rIns="0" tIns="0" bIns="0" anchor="t">
            <a:spAutoFit/>
          </a:bodyPr>
          <a:lstStyle/>
          <a:p>
            <a:pPr algn="l">
              <a:spcAft>
                <a:spcPts val="400"/>
              </a:spcAft>
            </a:pPr>
            <a:r>
              <a:rPr sz="950" b="1" i="0">
                <a:solidFill>
                  <a:srgbClr val="18A0FB"/>
                </a:solidFill>
                <a:latin typeface="Calibri"/>
              </a:rPr>
              <a:t>▸  Which suppliers actually matter</a:t>
            </a:r>
          </a:p>
        </p:txBody>
      </p:sp>
      <p:sp>
        <p:nvSpPr>
          <p:cNvPr id="9" name="Rounded Rectangle 8"/>
          <p:cNvSpPr/>
          <p:nvPr/>
        </p:nvSpPr>
        <p:spPr>
          <a:xfrm>
            <a:off x="4672584" y="1225296"/>
            <a:ext cx="4059936" cy="14447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37176" y="1353312"/>
            <a:ext cx="3730752" cy="256032"/>
          </a:xfrm>
          <a:prstGeom prst="rect">
            <a:avLst/>
          </a:prstGeom>
          <a:noFill/>
        </p:spPr>
        <p:txBody>
          <a:bodyPr wrap="square" lIns="0" rIns="0" tIns="0" bIns="0" anchor="t">
            <a:spAutoFit/>
          </a:bodyPr>
          <a:lstStyle/>
          <a:p>
            <a:pPr algn="l">
              <a:spcAft>
                <a:spcPts val="400"/>
              </a:spcAft>
            </a:pPr>
            <a:r>
              <a:rPr sz="1300" b="1" i="0">
                <a:solidFill>
                  <a:srgbClr val="E4572E"/>
                </a:solidFill>
                <a:latin typeface="Cambria"/>
              </a:rPr>
              <a:t>Betweenness</a:t>
            </a:r>
          </a:p>
        </p:txBody>
      </p:sp>
      <p:sp>
        <p:nvSpPr>
          <p:cNvPr id="11" name="TextBox 10"/>
          <p:cNvSpPr txBox="1"/>
          <p:nvPr/>
        </p:nvSpPr>
        <p:spPr>
          <a:xfrm>
            <a:off x="4837176" y="1664208"/>
            <a:ext cx="3730752" cy="566928"/>
          </a:xfrm>
          <a:prstGeom prst="rect">
            <a:avLst/>
          </a:prstGeom>
          <a:noFill/>
        </p:spPr>
        <p:txBody>
          <a:bodyPr wrap="square" lIns="0" rIns="0" tIns="0" bIns="0" anchor="t">
            <a:spAutoFit/>
          </a:bodyPr>
          <a:lstStyle/>
          <a:p>
            <a:pPr algn="l">
              <a:lnSpc>
                <a:spcPct val="118000"/>
              </a:lnSpc>
              <a:spcAft>
                <a:spcPts val="400"/>
              </a:spcAft>
            </a:pPr>
            <a:r>
              <a:rPr sz="1000" b="0" i="0">
                <a:solidFill>
                  <a:srgbClr val="5A6B80"/>
                </a:solidFill>
                <a:latin typeface="Calibri"/>
              </a:rPr>
              <a:t>How often an entity sits on the only path between two others. High betweenness is a chokepoint with no detour.</a:t>
            </a:r>
          </a:p>
        </p:txBody>
      </p:sp>
      <p:sp>
        <p:nvSpPr>
          <p:cNvPr id="12" name="TextBox 11"/>
          <p:cNvSpPr txBox="1"/>
          <p:nvPr/>
        </p:nvSpPr>
        <p:spPr>
          <a:xfrm>
            <a:off x="4837176" y="2304288"/>
            <a:ext cx="3730752" cy="237744"/>
          </a:xfrm>
          <a:prstGeom prst="rect">
            <a:avLst/>
          </a:prstGeom>
          <a:noFill/>
        </p:spPr>
        <p:txBody>
          <a:bodyPr wrap="square" lIns="0" rIns="0" tIns="0" bIns="0" anchor="t">
            <a:spAutoFit/>
          </a:bodyPr>
          <a:lstStyle/>
          <a:p>
            <a:pPr algn="l">
              <a:spcAft>
                <a:spcPts val="400"/>
              </a:spcAft>
            </a:pPr>
            <a:r>
              <a:rPr sz="950" b="1" i="0">
                <a:solidFill>
                  <a:srgbClr val="E4572E"/>
                </a:solidFill>
                <a:latin typeface="Calibri"/>
              </a:rPr>
              <a:t>▸  Single points of failure</a:t>
            </a:r>
          </a:p>
        </p:txBody>
      </p:sp>
      <p:sp>
        <p:nvSpPr>
          <p:cNvPr id="13" name="Rounded Rectangle 12"/>
          <p:cNvSpPr/>
          <p:nvPr/>
        </p:nvSpPr>
        <p:spPr>
          <a:xfrm>
            <a:off x="411480" y="2834640"/>
            <a:ext cx="4059936" cy="14447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76072" y="2962656"/>
            <a:ext cx="3730752" cy="256032"/>
          </a:xfrm>
          <a:prstGeom prst="rect">
            <a:avLst/>
          </a:prstGeom>
          <a:noFill/>
        </p:spPr>
        <p:txBody>
          <a:bodyPr wrap="square" lIns="0" rIns="0" tIns="0" bIns="0" anchor="t">
            <a:spAutoFit/>
          </a:bodyPr>
          <a:lstStyle/>
          <a:p>
            <a:pPr algn="l">
              <a:spcAft>
                <a:spcPts val="400"/>
              </a:spcAft>
            </a:pPr>
            <a:r>
              <a:rPr sz="1300" b="1" i="0">
                <a:solidFill>
                  <a:srgbClr val="8A5CF6"/>
                </a:solidFill>
                <a:latin typeface="Cambria"/>
              </a:rPr>
              <a:t>HITS hub / authority</a:t>
            </a:r>
          </a:p>
        </p:txBody>
      </p:sp>
      <p:sp>
        <p:nvSpPr>
          <p:cNvPr id="15" name="TextBox 14"/>
          <p:cNvSpPr txBox="1"/>
          <p:nvPr/>
        </p:nvSpPr>
        <p:spPr>
          <a:xfrm>
            <a:off x="576072" y="3273552"/>
            <a:ext cx="3730752" cy="566928"/>
          </a:xfrm>
          <a:prstGeom prst="rect">
            <a:avLst/>
          </a:prstGeom>
          <a:noFill/>
        </p:spPr>
        <p:txBody>
          <a:bodyPr wrap="square" lIns="0" rIns="0" tIns="0" bIns="0" anchor="t">
            <a:spAutoFit/>
          </a:bodyPr>
          <a:lstStyle/>
          <a:p>
            <a:pPr algn="l">
              <a:lnSpc>
                <a:spcPct val="118000"/>
              </a:lnSpc>
              <a:spcAft>
                <a:spcPts val="400"/>
              </a:spcAft>
            </a:pPr>
            <a:r>
              <a:rPr sz="1000" b="0" i="0">
                <a:solidFill>
                  <a:srgbClr val="5A6B80"/>
                </a:solidFill>
                <a:latin typeface="Calibri"/>
              </a:rPr>
              <a:t>Two-sided influence: hubs fan out widely, authorities absorb concentrated demand.</a:t>
            </a:r>
          </a:p>
        </p:txBody>
      </p:sp>
      <p:sp>
        <p:nvSpPr>
          <p:cNvPr id="16" name="TextBox 15"/>
          <p:cNvSpPr txBox="1"/>
          <p:nvPr/>
        </p:nvSpPr>
        <p:spPr>
          <a:xfrm>
            <a:off x="576072" y="3913632"/>
            <a:ext cx="3730752" cy="237744"/>
          </a:xfrm>
          <a:prstGeom prst="rect">
            <a:avLst/>
          </a:prstGeom>
          <a:noFill/>
        </p:spPr>
        <p:txBody>
          <a:bodyPr wrap="square" lIns="0" rIns="0" tIns="0" bIns="0" anchor="t">
            <a:spAutoFit/>
          </a:bodyPr>
          <a:lstStyle/>
          <a:p>
            <a:pPr algn="l">
              <a:spcAft>
                <a:spcPts val="400"/>
              </a:spcAft>
            </a:pPr>
            <a:r>
              <a:rPr sz="950" b="1" i="0">
                <a:solidFill>
                  <a:srgbClr val="8A5CF6"/>
                </a:solidFill>
                <a:latin typeface="Calibri"/>
              </a:rPr>
              <a:t>▸  Distributors vs. demand sinks</a:t>
            </a:r>
          </a:p>
        </p:txBody>
      </p:sp>
      <p:sp>
        <p:nvSpPr>
          <p:cNvPr id="17" name="Rounded Rectangle 16"/>
          <p:cNvSpPr/>
          <p:nvPr/>
        </p:nvSpPr>
        <p:spPr>
          <a:xfrm>
            <a:off x="4672584" y="2834640"/>
            <a:ext cx="4059936" cy="144475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37176" y="2962656"/>
            <a:ext cx="3730752" cy="256032"/>
          </a:xfrm>
          <a:prstGeom prst="rect">
            <a:avLst/>
          </a:prstGeom>
          <a:noFill/>
        </p:spPr>
        <p:txBody>
          <a:bodyPr wrap="square" lIns="0" rIns="0" tIns="0" bIns="0" anchor="t">
            <a:spAutoFit/>
          </a:bodyPr>
          <a:lstStyle/>
          <a:p>
            <a:pPr algn="l">
              <a:spcAft>
                <a:spcPts val="400"/>
              </a:spcAft>
            </a:pPr>
            <a:r>
              <a:rPr sz="1300" b="1" i="0">
                <a:solidFill>
                  <a:srgbClr val="00C2B2"/>
                </a:solidFill>
                <a:latin typeface="Cambria"/>
              </a:rPr>
              <a:t>Connected components</a:t>
            </a:r>
          </a:p>
        </p:txBody>
      </p:sp>
      <p:sp>
        <p:nvSpPr>
          <p:cNvPr id="19" name="TextBox 18"/>
          <p:cNvSpPr txBox="1"/>
          <p:nvPr/>
        </p:nvSpPr>
        <p:spPr>
          <a:xfrm>
            <a:off x="4837176" y="3273552"/>
            <a:ext cx="3730752" cy="566928"/>
          </a:xfrm>
          <a:prstGeom prst="rect">
            <a:avLst/>
          </a:prstGeom>
          <a:noFill/>
        </p:spPr>
        <p:txBody>
          <a:bodyPr wrap="square" lIns="0" rIns="0" tIns="0" bIns="0" anchor="t">
            <a:spAutoFit/>
          </a:bodyPr>
          <a:lstStyle/>
          <a:p>
            <a:pPr algn="l">
              <a:lnSpc>
                <a:spcPct val="118000"/>
              </a:lnSpc>
              <a:spcAft>
                <a:spcPts val="400"/>
              </a:spcAft>
            </a:pPr>
            <a:r>
              <a:rPr sz="1000" b="0" i="0">
                <a:solidFill>
                  <a:srgbClr val="5A6B80"/>
                </a:solidFill>
                <a:latin typeface="Calibri"/>
              </a:rPr>
              <a:t>Islands with no path between them. Reveals orphaned pockets of the network.</a:t>
            </a:r>
          </a:p>
        </p:txBody>
      </p:sp>
      <p:sp>
        <p:nvSpPr>
          <p:cNvPr id="20" name="TextBox 19"/>
          <p:cNvSpPr txBox="1"/>
          <p:nvPr/>
        </p:nvSpPr>
        <p:spPr>
          <a:xfrm>
            <a:off x="4837176" y="3913632"/>
            <a:ext cx="3730752" cy="237744"/>
          </a:xfrm>
          <a:prstGeom prst="rect">
            <a:avLst/>
          </a:prstGeom>
          <a:noFill/>
        </p:spPr>
        <p:txBody>
          <a:bodyPr wrap="square" lIns="0" rIns="0" tIns="0" bIns="0" anchor="t">
            <a:spAutoFit/>
          </a:bodyPr>
          <a:lstStyle/>
          <a:p>
            <a:pPr algn="l">
              <a:spcAft>
                <a:spcPts val="400"/>
              </a:spcAft>
            </a:pPr>
            <a:r>
              <a:rPr sz="950" b="1" i="0">
                <a:solidFill>
                  <a:srgbClr val="00C2B2"/>
                </a:solidFill>
                <a:latin typeface="Calibri"/>
              </a:rPr>
              <a:t>▸  Coverage gaps and isolation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semantic view — what the agent actually sees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SV_SUPPLY_CHAIN_KG: 9 facts, 4 dimensions, 5 metrics over 2 tables</a:t>
            </a:r>
          </a:p>
        </p:txBody>
      </p:sp>
      <p:sp>
        <p:nvSpPr>
          <p:cNvPr id="5" name="Rounded Rectangle 4"/>
          <p:cNvSpPr/>
          <p:nvPr/>
        </p:nvSpPr>
        <p:spPr>
          <a:xfrm>
            <a:off x="411480" y="1207008"/>
            <a:ext cx="2682240" cy="2084831"/>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57784" y="1316736"/>
            <a:ext cx="2389632" cy="219456"/>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FACTS  ·  9</a:t>
            </a:r>
          </a:p>
        </p:txBody>
      </p:sp>
      <p:sp>
        <p:nvSpPr>
          <p:cNvPr id="7" name="TextBox 6"/>
          <p:cNvSpPr txBox="1"/>
          <p:nvPr/>
        </p:nvSpPr>
        <p:spPr>
          <a:xfrm>
            <a:off x="557784" y="1609344"/>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PAGERANK_VAL</a:t>
            </a:r>
          </a:p>
        </p:txBody>
      </p:sp>
      <p:sp>
        <p:nvSpPr>
          <p:cNvPr id="8" name="TextBox 7"/>
          <p:cNvSpPr txBox="1"/>
          <p:nvPr/>
        </p:nvSpPr>
        <p:spPr>
          <a:xfrm>
            <a:off x="557784" y="1778508"/>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BETWEENNESS_VAL</a:t>
            </a:r>
          </a:p>
        </p:txBody>
      </p:sp>
      <p:sp>
        <p:nvSpPr>
          <p:cNvPr id="9" name="TextBox 8"/>
          <p:cNvSpPr txBox="1"/>
          <p:nvPr/>
        </p:nvSpPr>
        <p:spPr>
          <a:xfrm>
            <a:off x="557784" y="1947672"/>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HUB_SCORE_VAL</a:t>
            </a:r>
          </a:p>
        </p:txBody>
      </p:sp>
      <p:sp>
        <p:nvSpPr>
          <p:cNvPr id="10" name="TextBox 9"/>
          <p:cNvSpPr txBox="1"/>
          <p:nvPr/>
        </p:nvSpPr>
        <p:spPr>
          <a:xfrm>
            <a:off x="557784" y="2116836"/>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AUTHORITY_SCORE_VAL</a:t>
            </a:r>
          </a:p>
        </p:txBody>
      </p:sp>
      <p:sp>
        <p:nvSpPr>
          <p:cNvPr id="11" name="TextBox 10"/>
          <p:cNvSpPr txBox="1"/>
          <p:nvPr/>
        </p:nvSpPr>
        <p:spPr>
          <a:xfrm>
            <a:off x="557784" y="2286000"/>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DEGREE_IN_VAL</a:t>
            </a:r>
          </a:p>
        </p:txBody>
      </p:sp>
      <p:sp>
        <p:nvSpPr>
          <p:cNvPr id="12" name="TextBox 11"/>
          <p:cNvSpPr txBox="1"/>
          <p:nvPr/>
        </p:nvSpPr>
        <p:spPr>
          <a:xfrm>
            <a:off x="557784" y="2455164"/>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DEGREE_OUT_VAL</a:t>
            </a:r>
          </a:p>
        </p:txBody>
      </p:sp>
      <p:sp>
        <p:nvSpPr>
          <p:cNvPr id="13" name="TextBox 12"/>
          <p:cNvSpPr txBox="1"/>
          <p:nvPr/>
        </p:nvSpPr>
        <p:spPr>
          <a:xfrm>
            <a:off x="557784" y="2624328"/>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DEGREE_TOTAL_VAL</a:t>
            </a:r>
          </a:p>
        </p:txBody>
      </p:sp>
      <p:sp>
        <p:nvSpPr>
          <p:cNvPr id="14" name="TextBox 13"/>
          <p:cNvSpPr txBox="1"/>
          <p:nvPr/>
        </p:nvSpPr>
        <p:spPr>
          <a:xfrm>
            <a:off x="557784" y="2793492"/>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EDGE_WEIGHT</a:t>
            </a:r>
          </a:p>
        </p:txBody>
      </p:sp>
      <p:sp>
        <p:nvSpPr>
          <p:cNvPr id="15" name="TextBox 14"/>
          <p:cNvSpPr txBox="1"/>
          <p:nvPr/>
        </p:nvSpPr>
        <p:spPr>
          <a:xfrm>
            <a:off x="557784" y="2962656"/>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EDGE_BETWEENNESS</a:t>
            </a:r>
          </a:p>
        </p:txBody>
      </p:sp>
      <p:sp>
        <p:nvSpPr>
          <p:cNvPr id="16" name="Rounded Rectangle 15"/>
          <p:cNvSpPr/>
          <p:nvPr/>
        </p:nvSpPr>
        <p:spPr>
          <a:xfrm>
            <a:off x="3230880" y="1207008"/>
            <a:ext cx="2682240" cy="2084831"/>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377184" y="1316736"/>
            <a:ext cx="2389632" cy="219456"/>
          </a:xfrm>
          <a:prstGeom prst="rect">
            <a:avLst/>
          </a:prstGeom>
          <a:noFill/>
        </p:spPr>
        <p:txBody>
          <a:bodyPr wrap="square" lIns="0" rIns="0" tIns="0" bIns="0" anchor="t">
            <a:spAutoFit/>
          </a:bodyPr>
          <a:lstStyle/>
          <a:p>
            <a:pPr algn="l">
              <a:spcAft>
                <a:spcPts val="400"/>
              </a:spcAft>
            </a:pPr>
            <a:r>
              <a:rPr sz="1050" b="1" i="0">
                <a:solidFill>
                  <a:srgbClr val="8A5CF6"/>
                </a:solidFill>
                <a:latin typeface="Calibri"/>
              </a:rPr>
              <a:t>DIMENSIONS  ·  4</a:t>
            </a:r>
          </a:p>
        </p:txBody>
      </p:sp>
      <p:sp>
        <p:nvSpPr>
          <p:cNvPr id="18" name="TextBox 17"/>
          <p:cNvSpPr txBox="1"/>
          <p:nvPr/>
        </p:nvSpPr>
        <p:spPr>
          <a:xfrm>
            <a:off x="3377184" y="1609344"/>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ENTITY_NAME</a:t>
            </a:r>
          </a:p>
        </p:txBody>
      </p:sp>
      <p:sp>
        <p:nvSpPr>
          <p:cNvPr id="19" name="TextBox 18"/>
          <p:cNvSpPr txBox="1"/>
          <p:nvPr/>
        </p:nvSpPr>
        <p:spPr>
          <a:xfrm>
            <a:off x="3377184" y="1778508"/>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NODE_TYPE</a:t>
            </a:r>
          </a:p>
        </p:txBody>
      </p:sp>
      <p:sp>
        <p:nvSpPr>
          <p:cNvPr id="20" name="TextBox 19"/>
          <p:cNvSpPr txBox="1"/>
          <p:nvPr/>
        </p:nvSpPr>
        <p:spPr>
          <a:xfrm>
            <a:off x="3377184" y="1947672"/>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RELATIONSHIP_TYPE</a:t>
            </a:r>
          </a:p>
        </p:txBody>
      </p:sp>
      <p:sp>
        <p:nvSpPr>
          <p:cNvPr id="21" name="TextBox 20"/>
          <p:cNvSpPr txBox="1"/>
          <p:nvPr/>
        </p:nvSpPr>
        <p:spPr>
          <a:xfrm>
            <a:off x="3377184" y="2116836"/>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COMPONENT</a:t>
            </a:r>
          </a:p>
        </p:txBody>
      </p:sp>
      <p:sp>
        <p:nvSpPr>
          <p:cNvPr id="22" name="Rounded Rectangle 21"/>
          <p:cNvSpPr/>
          <p:nvPr/>
        </p:nvSpPr>
        <p:spPr>
          <a:xfrm>
            <a:off x="6050280" y="1207008"/>
            <a:ext cx="2682240" cy="2084831"/>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96584" y="1316736"/>
            <a:ext cx="2389632" cy="219456"/>
          </a:xfrm>
          <a:prstGeom prst="rect">
            <a:avLst/>
          </a:prstGeom>
          <a:noFill/>
        </p:spPr>
        <p:txBody>
          <a:bodyPr wrap="square" lIns="0" rIns="0" tIns="0" bIns="0" anchor="t">
            <a:spAutoFit/>
          </a:bodyPr>
          <a:lstStyle/>
          <a:p>
            <a:pPr algn="l">
              <a:spcAft>
                <a:spcPts val="400"/>
              </a:spcAft>
            </a:pPr>
            <a:r>
              <a:rPr sz="1050" b="1" i="0">
                <a:solidFill>
                  <a:srgbClr val="00C2B2"/>
                </a:solidFill>
                <a:latin typeface="Calibri"/>
              </a:rPr>
              <a:t>METRICS  ·  5</a:t>
            </a:r>
          </a:p>
        </p:txBody>
      </p:sp>
      <p:sp>
        <p:nvSpPr>
          <p:cNvPr id="24" name="TextBox 23"/>
          <p:cNvSpPr txBox="1"/>
          <p:nvPr/>
        </p:nvSpPr>
        <p:spPr>
          <a:xfrm>
            <a:off x="6196584" y="1609344"/>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TOTAL_NODES</a:t>
            </a:r>
          </a:p>
        </p:txBody>
      </p:sp>
      <p:sp>
        <p:nvSpPr>
          <p:cNvPr id="25" name="TextBox 24"/>
          <p:cNvSpPr txBox="1"/>
          <p:nvPr/>
        </p:nvSpPr>
        <p:spPr>
          <a:xfrm>
            <a:off x="6196584" y="1778508"/>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TOTAL_EDGES</a:t>
            </a:r>
          </a:p>
        </p:txBody>
      </p:sp>
      <p:sp>
        <p:nvSpPr>
          <p:cNvPr id="26" name="TextBox 25"/>
          <p:cNvSpPr txBox="1"/>
          <p:nvPr/>
        </p:nvSpPr>
        <p:spPr>
          <a:xfrm>
            <a:off x="6196584" y="1947672"/>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AVG_DEGREE</a:t>
            </a:r>
          </a:p>
        </p:txBody>
      </p:sp>
      <p:sp>
        <p:nvSpPr>
          <p:cNvPr id="27" name="TextBox 26"/>
          <p:cNvSpPr txBox="1"/>
          <p:nvPr/>
        </p:nvSpPr>
        <p:spPr>
          <a:xfrm>
            <a:off x="6196584" y="2116836"/>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COMPONENT_COUNT</a:t>
            </a:r>
          </a:p>
        </p:txBody>
      </p:sp>
      <p:sp>
        <p:nvSpPr>
          <p:cNvPr id="28" name="TextBox 27"/>
          <p:cNvSpPr txBox="1"/>
          <p:nvPr/>
        </p:nvSpPr>
        <p:spPr>
          <a:xfrm>
            <a:off x="6196584" y="2286000"/>
            <a:ext cx="238963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onsolas"/>
              </a:rPr>
              <a:t>MAX_PAGERANK</a:t>
            </a:r>
          </a:p>
        </p:txBody>
      </p:sp>
      <p:sp>
        <p:nvSpPr>
          <p:cNvPr id="29" name="Rounded Rectangle 28"/>
          <p:cNvSpPr/>
          <p:nvPr/>
        </p:nvSpPr>
        <p:spPr>
          <a:xfrm>
            <a:off x="411480" y="3401568"/>
            <a:ext cx="8321040" cy="932688"/>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12648" y="3511296"/>
            <a:ext cx="7918704" cy="237744"/>
          </a:xfrm>
          <a:prstGeom prst="rect">
            <a:avLst/>
          </a:prstGeom>
          <a:noFill/>
        </p:spPr>
        <p:txBody>
          <a:bodyPr wrap="square" lIns="0" rIns="0" tIns="0" bIns="0" anchor="t">
            <a:spAutoFit/>
          </a:bodyPr>
          <a:lstStyle/>
          <a:p>
            <a:pPr algn="l">
              <a:spcAft>
                <a:spcPts val="400"/>
              </a:spcAft>
            </a:pPr>
            <a:r>
              <a:rPr sz="1150" b="1" i="0">
                <a:solidFill>
                  <a:srgbClr val="00C2B2"/>
                </a:solidFill>
                <a:latin typeface="Cambria"/>
              </a:rPr>
              <a:t>Why this matters more than the model</a:t>
            </a:r>
          </a:p>
        </p:txBody>
      </p:sp>
      <p:sp>
        <p:nvSpPr>
          <p:cNvPr id="31" name="TextBox 30"/>
          <p:cNvSpPr txBox="1"/>
          <p:nvPr/>
        </p:nvSpPr>
        <p:spPr>
          <a:xfrm>
            <a:off x="612648" y="3785615"/>
            <a:ext cx="7918704" cy="475488"/>
          </a:xfrm>
          <a:prstGeom prst="rect">
            <a:avLst/>
          </a:prstGeom>
          <a:noFill/>
        </p:spPr>
        <p:txBody>
          <a:bodyPr wrap="square" lIns="0" rIns="0" tIns="0" bIns="0" anchor="t">
            <a:spAutoFit/>
          </a:bodyPr>
          <a:lstStyle/>
          <a:p>
            <a:pPr algn="l">
              <a:lnSpc>
                <a:spcPct val="120000"/>
              </a:lnSpc>
              <a:spcAft>
                <a:spcPts val="400"/>
              </a:spcAft>
            </a:pPr>
            <a:r>
              <a:rPr sz="1000" b="0" i="0">
                <a:solidFill>
                  <a:srgbClr val="C3D2E4"/>
                </a:solidFill>
                <a:latin typeface="Calibri"/>
              </a:rPr>
              <a:t>The view also carries synonyms (“entities”, “links”, “bottlenecks”), verified example queries, and an instruction telling the model to use PAGERANK for importance and BETWEENNESS for bottlenecks. That grounding is why text-to-SQL is reliable here and was not against raw tables.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unstructured half</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Cortex Search over the documents the graph cannot hold</a:t>
            </a:r>
          </a:p>
        </p:txBody>
      </p:sp>
      <p:graphicFrame>
        <p:nvGraphicFramePr>
          <p:cNvPr id="5" name="Chart 4"/>
          <p:cNvGraphicFramePr>
            <a:graphicFrameLocks noGrp="1"/>
          </p:cNvGraphicFramePr>
          <p:nvPr/>
        </p:nvGraphicFramePr>
        <p:xfrm>
          <a:off x="411480" y="1243584"/>
          <a:ext cx="4023360" cy="1920240"/>
        </p:xfrm>
        <a:graphic>
          <a:graphicData uri="http://schemas.openxmlformats.org/drawingml/2006/chart">
            <c:chart xmlns:c="http://schemas.openxmlformats.org/drawingml/2006/chart" r:id="rId4"/>
          </a:graphicData>
        </a:graphic>
      </p:graphicFrame>
      <p:sp>
        <p:nvSpPr>
          <p:cNvPr id="6" name="Rounded Rectangle 5"/>
          <p:cNvSpPr/>
          <p:nvPr/>
        </p:nvSpPr>
        <p:spPr>
          <a:xfrm>
            <a:off x="4617720" y="1243584"/>
            <a:ext cx="4114800" cy="192024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00600" y="1353312"/>
            <a:ext cx="3749039" cy="237744"/>
          </a:xfrm>
          <a:prstGeom prst="rect">
            <a:avLst/>
          </a:prstGeom>
          <a:noFill/>
        </p:spPr>
        <p:txBody>
          <a:bodyPr wrap="square" lIns="0" rIns="0" tIns="0" bIns="0" anchor="t">
            <a:spAutoFit/>
          </a:bodyPr>
          <a:lstStyle/>
          <a:p>
            <a:pPr algn="l">
              <a:spcAft>
                <a:spcPts val="400"/>
              </a:spcAft>
            </a:pPr>
            <a:r>
              <a:rPr sz="1200" b="1" i="0">
                <a:solidFill>
                  <a:srgbClr val="F5A623"/>
                </a:solidFill>
                <a:latin typeface="Cambria"/>
              </a:rPr>
              <a:t>SCM_DOCUMENT_SEARCH</a:t>
            </a:r>
          </a:p>
        </p:txBody>
      </p:sp>
      <p:sp>
        <p:nvSpPr>
          <p:cNvPr id="8" name="Oval 7"/>
          <p:cNvSpPr/>
          <p:nvPr/>
        </p:nvSpPr>
        <p:spPr>
          <a:xfrm>
            <a:off x="4800600" y="1732788"/>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83480" y="1682496"/>
            <a:ext cx="3566159" cy="34747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Contracts — </a:t>
            </a:r>
            <a:r>
              <a:rPr sz="950" b="0">
                <a:solidFill>
                  <a:srgbClr val="5A6B80"/>
                </a:solidFill>
                <a:latin typeface="Calibri"/>
              </a:rPr>
              <a:t>quality guarantees, penalty and liability clauses</a:t>
            </a:r>
          </a:p>
        </p:txBody>
      </p:sp>
      <p:sp>
        <p:nvSpPr>
          <p:cNvPr id="10" name="Oval 9"/>
          <p:cNvSpPr/>
          <p:nvPr/>
        </p:nvSpPr>
        <p:spPr>
          <a:xfrm>
            <a:off x="4800600" y="2080260"/>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83480" y="2029968"/>
            <a:ext cx="3566159" cy="34747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Scorecards — </a:t>
            </a:r>
            <a:r>
              <a:rPr sz="950" b="0">
                <a:solidFill>
                  <a:srgbClr val="5A6B80"/>
                </a:solidFill>
                <a:latin typeface="Calibri"/>
              </a:rPr>
              <a:t>quarterly PPM, OTD and responsiveness</a:t>
            </a:r>
          </a:p>
        </p:txBody>
      </p:sp>
      <p:sp>
        <p:nvSpPr>
          <p:cNvPr id="12" name="Oval 11"/>
          <p:cNvSpPr/>
          <p:nvPr/>
        </p:nvSpPr>
        <p:spPr>
          <a:xfrm>
            <a:off x="4800600" y="2427732"/>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83480" y="2377440"/>
            <a:ext cx="3566159" cy="34747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NCRs — </a:t>
            </a:r>
            <a:r>
              <a:rPr sz="950" b="0">
                <a:solidFill>
                  <a:srgbClr val="5A6B80"/>
                </a:solidFill>
                <a:latin typeface="Calibri"/>
              </a:rPr>
              <a:t>defect reports with root cause and disposition</a:t>
            </a:r>
          </a:p>
        </p:txBody>
      </p:sp>
      <p:sp>
        <p:nvSpPr>
          <p:cNvPr id="14" name="Oval 13"/>
          <p:cNvSpPr/>
          <p:nvPr/>
        </p:nvSpPr>
        <p:spPr>
          <a:xfrm>
            <a:off x="4800600" y="2775204"/>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983480" y="2724912"/>
            <a:ext cx="3566159" cy="34747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Alerts &amp; ECOs — </a:t>
            </a:r>
            <a:r>
              <a:rPr sz="950" b="0">
                <a:solidFill>
                  <a:srgbClr val="5A6B80"/>
                </a:solidFill>
                <a:latin typeface="Calibri"/>
              </a:rPr>
              <a:t>disruption notices and change orders</a:t>
            </a:r>
          </a:p>
        </p:txBody>
      </p:sp>
      <p:sp>
        <p:nvSpPr>
          <p:cNvPr id="16" name="Rounded Rectangle 15"/>
          <p:cNvSpPr/>
          <p:nvPr/>
        </p:nvSpPr>
        <p:spPr>
          <a:xfrm>
            <a:off x="411480" y="3291840"/>
            <a:ext cx="8321040" cy="106070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3401568"/>
            <a:ext cx="7955280"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One chat, both worlds</a:t>
            </a:r>
          </a:p>
        </p:txBody>
      </p:sp>
      <p:sp>
        <p:nvSpPr>
          <p:cNvPr id="18" name="TextBox 17"/>
          <p:cNvSpPr txBox="1"/>
          <p:nvPr/>
        </p:nvSpPr>
        <p:spPr>
          <a:xfrm>
            <a:off x="594360" y="3675887"/>
            <a:ext cx="7955280" cy="585216"/>
          </a:xfrm>
          <a:prstGeom prst="rect">
            <a:avLst/>
          </a:prstGeom>
          <a:noFill/>
        </p:spPr>
        <p:txBody>
          <a:bodyPr wrap="square" lIns="0" rIns="0" tIns="0" bIns="0" anchor="t">
            <a:spAutoFit/>
          </a:bodyPr>
          <a:lstStyle/>
          <a:p>
            <a:pPr algn="l">
              <a:lnSpc>
                <a:spcPct val="122000"/>
              </a:lnSpc>
              <a:spcAft>
                <a:spcPts val="400"/>
              </a:spcAft>
            </a:pPr>
            <a:r>
              <a:rPr sz="1050" b="0" i="0">
                <a:solidFill>
                  <a:srgbClr val="5A6B80"/>
                </a:solidFill>
                <a:latin typeface="Calibri"/>
              </a:rPr>
              <a:t>“Which critical suppliers also breach their quality targets?” needs betweenness from the graph and PPM from a scorecard PDF. The agent holds both tools, so that is one question — not a graph query plus a document search plus a human joining them in their head.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4</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CRITICALITY</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Why the graph
earns its place.</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These are the answers the warehouse cannot produce at any reasonable cost — not because the data is missing, but because the questions are about paths, not rows.</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1,790</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single-sourced parts</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18</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network components</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5</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true chokepoints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graph is real</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A live slice: two plants, one hop out, drawn from actual KG_EDGES rows</a:t>
            </a:r>
          </a:p>
        </p:txBody>
      </p:sp>
      <p:cxnSp>
        <p:nvCxnSpPr>
          <p:cNvPr id="5" name="Connector 4"/>
          <p:cNvCxnSpPr/>
          <p:nvPr/>
        </p:nvCxnSpPr>
        <p:spPr>
          <a:xfrm flipV="1">
            <a:off x="3483943" y="1499616"/>
            <a:ext cx="189215" cy="464729"/>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483943" y="1724901"/>
            <a:ext cx="714559" cy="239444"/>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2693546" y="1964345"/>
            <a:ext cx="790397" cy="615730"/>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693546" y="2580075"/>
            <a:ext cx="5808" cy="766597"/>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1583219" y="2372868"/>
            <a:ext cx="1110327" cy="207207"/>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951075" y="2580075"/>
            <a:ext cx="742471" cy="114138"/>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207495" y="2235197"/>
            <a:ext cx="486051" cy="344878"/>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93546" y="2580075"/>
            <a:ext cx="400933" cy="353156"/>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693546" y="2429055"/>
            <a:ext cx="679018" cy="151020"/>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279297" y="2580075"/>
            <a:ext cx="414249" cy="354766"/>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693546" y="2150477"/>
            <a:ext cx="22444" cy="429598"/>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93546" y="2580075"/>
            <a:ext cx="812556" cy="151692"/>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374722" y="3346672"/>
            <a:ext cx="324632" cy="438944"/>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699354" y="3346672"/>
            <a:ext cx="329699" cy="437762"/>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688993" y="2921164"/>
            <a:ext cx="659479" cy="304369"/>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848554" y="2460305"/>
            <a:ext cx="840439" cy="460859"/>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6510347" y="2460305"/>
            <a:ext cx="338207" cy="639002"/>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752166" y="2460305"/>
            <a:ext cx="1096388" cy="25501"/>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6249155" y="2247921"/>
            <a:ext cx="599399" cy="212384"/>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848554" y="2158326"/>
            <a:ext cx="726965" cy="301979"/>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564367" y="1929246"/>
            <a:ext cx="284187" cy="531059"/>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48554" y="2460305"/>
            <a:ext cx="668829" cy="76174"/>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848554" y="1931013"/>
            <a:ext cx="281211" cy="529292"/>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6251166" y="3099307"/>
            <a:ext cx="259181" cy="489863"/>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945497" y="2460828"/>
            <a:ext cx="806669" cy="24978"/>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795528" y="2226158"/>
            <a:ext cx="787691" cy="146710"/>
          </a:xfrm>
          <a:prstGeom prst="line">
            <a:avLst/>
          </a:prstGeom>
          <a:ln w="12700">
            <a:solidFill>
              <a:srgbClr val="D5DEE9"/>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353551" y="1833953"/>
            <a:ext cx="260784" cy="260784"/>
          </a:xfrm>
          <a:prstGeom prst="ellipse">
            <a:avLst/>
          </a:prstGeom>
          <a:solidFill>
            <a:srgbClr val="18A0F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917015" y="2105709"/>
            <a:ext cx="1133856" cy="146304"/>
          </a:xfrm>
          <a:prstGeom prst="rect">
            <a:avLst/>
          </a:prstGeom>
          <a:noFill/>
        </p:spPr>
        <p:txBody>
          <a:bodyPr wrap="none" lIns="0" rIns="0" tIns="0" bIns="0">
            <a:spAutoFit/>
          </a:bodyPr>
          <a:lstStyle/>
          <a:p>
            <a:pPr algn="ctr"/>
            <a:r>
              <a:rPr sz="600">
                <a:solidFill>
                  <a:srgbClr val="0B1220"/>
                </a:solidFill>
                <a:latin typeface="Calibri"/>
              </a:rPr>
              <a:t>NEXORA COMPONENTS</a:t>
            </a:r>
          </a:p>
        </p:txBody>
      </p:sp>
      <p:sp>
        <p:nvSpPr>
          <p:cNvPr id="33" name="Oval 32"/>
          <p:cNvSpPr/>
          <p:nvPr/>
        </p:nvSpPr>
        <p:spPr>
          <a:xfrm>
            <a:off x="3570106" y="1396564"/>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4095450" y="1621849"/>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2494802" y="2381331"/>
            <a:ext cx="397488" cy="397488"/>
          </a:xfrm>
          <a:prstGeom prst="ellipse">
            <a:avLst/>
          </a:prstGeom>
          <a:solidFill>
            <a:srgbClr val="E4572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126618" y="2789791"/>
            <a:ext cx="1133856" cy="146304"/>
          </a:xfrm>
          <a:prstGeom prst="rect">
            <a:avLst/>
          </a:prstGeom>
          <a:noFill/>
        </p:spPr>
        <p:txBody>
          <a:bodyPr wrap="none" lIns="0" rIns="0" tIns="0" bIns="0">
            <a:spAutoFit/>
          </a:bodyPr>
          <a:lstStyle/>
          <a:p>
            <a:pPr algn="ctr"/>
            <a:r>
              <a:rPr sz="600">
                <a:solidFill>
                  <a:srgbClr val="0B1220"/>
                </a:solidFill>
                <a:latin typeface="Calibri"/>
              </a:rPr>
              <a:t>Asterion San Jose</a:t>
            </a:r>
          </a:p>
        </p:txBody>
      </p:sp>
      <p:sp>
        <p:nvSpPr>
          <p:cNvPr id="37" name="Oval 36"/>
          <p:cNvSpPr/>
          <p:nvPr/>
        </p:nvSpPr>
        <p:spPr>
          <a:xfrm>
            <a:off x="2568962" y="3216280"/>
            <a:ext cx="260784" cy="260784"/>
          </a:xfrm>
          <a:prstGeom prst="ellipse">
            <a:avLst/>
          </a:prstGeom>
          <a:solidFill>
            <a:srgbClr val="18A0F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32426" y="3488036"/>
            <a:ext cx="1133856" cy="146304"/>
          </a:xfrm>
          <a:prstGeom prst="rect">
            <a:avLst/>
          </a:prstGeom>
          <a:noFill/>
        </p:spPr>
        <p:txBody>
          <a:bodyPr wrap="none" lIns="0" rIns="0" tIns="0" bIns="0">
            <a:spAutoFit/>
          </a:bodyPr>
          <a:lstStyle/>
          <a:p>
            <a:pPr algn="ctr"/>
            <a:r>
              <a:rPr sz="600">
                <a:solidFill>
                  <a:srgbClr val="0B1220"/>
                </a:solidFill>
                <a:latin typeface="Calibri"/>
              </a:rPr>
              <a:t>PENTAWAVE TECHNOLO…</a:t>
            </a:r>
          </a:p>
        </p:txBody>
      </p:sp>
      <p:sp>
        <p:nvSpPr>
          <p:cNvPr id="39" name="Oval 38"/>
          <p:cNvSpPr/>
          <p:nvPr/>
        </p:nvSpPr>
        <p:spPr>
          <a:xfrm>
            <a:off x="2271670" y="3682564"/>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2926001" y="3681382"/>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572271" y="2804442"/>
            <a:ext cx="233444" cy="233444"/>
          </a:xfrm>
          <a:prstGeom prst="ellipse">
            <a:avLst/>
          </a:prstGeom>
          <a:solidFill>
            <a:srgbClr val="18A0F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122065" y="3048858"/>
            <a:ext cx="1133856" cy="146304"/>
          </a:xfrm>
          <a:prstGeom prst="rect">
            <a:avLst/>
          </a:prstGeom>
          <a:noFill/>
        </p:spPr>
        <p:txBody>
          <a:bodyPr wrap="none" lIns="0" rIns="0" tIns="0" bIns="0">
            <a:spAutoFit/>
          </a:bodyPr>
          <a:lstStyle/>
          <a:p>
            <a:pPr algn="ctr"/>
            <a:r>
              <a:rPr sz="600">
                <a:solidFill>
                  <a:srgbClr val="0B1220"/>
                </a:solidFill>
                <a:latin typeface="Calibri"/>
              </a:rPr>
              <a:t>ORION COMPONENTS</a:t>
            </a:r>
          </a:p>
        </p:txBody>
      </p:sp>
      <p:sp>
        <p:nvSpPr>
          <p:cNvPr id="43" name="Oval 42"/>
          <p:cNvSpPr/>
          <p:nvPr/>
        </p:nvSpPr>
        <p:spPr>
          <a:xfrm>
            <a:off x="8245420" y="3122481"/>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649810" y="2261561"/>
            <a:ext cx="397488" cy="397488"/>
          </a:xfrm>
          <a:prstGeom prst="ellipse">
            <a:avLst/>
          </a:prstGeom>
          <a:solidFill>
            <a:srgbClr val="E4572E"/>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281626" y="2670021"/>
            <a:ext cx="1133856" cy="146304"/>
          </a:xfrm>
          <a:prstGeom prst="rect">
            <a:avLst/>
          </a:prstGeom>
          <a:noFill/>
        </p:spPr>
        <p:txBody>
          <a:bodyPr wrap="none" lIns="0" rIns="0" tIns="0" bIns="0">
            <a:spAutoFit/>
          </a:bodyPr>
          <a:lstStyle/>
          <a:p>
            <a:pPr algn="ctr"/>
            <a:r>
              <a:rPr sz="600">
                <a:solidFill>
                  <a:srgbClr val="0B1220"/>
                </a:solidFill>
                <a:latin typeface="Calibri"/>
              </a:rPr>
              <a:t>Asterion Sao Paulo</a:t>
            </a:r>
          </a:p>
        </p:txBody>
      </p:sp>
      <p:sp>
        <p:nvSpPr>
          <p:cNvPr id="46" name="Oval 45"/>
          <p:cNvSpPr/>
          <p:nvPr/>
        </p:nvSpPr>
        <p:spPr>
          <a:xfrm>
            <a:off x="6393625" y="2982585"/>
            <a:ext cx="233444" cy="233444"/>
          </a:xfrm>
          <a:prstGeom prst="ellipse">
            <a:avLst/>
          </a:prstGeom>
          <a:solidFill>
            <a:srgbClr val="18A0F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943419" y="3227001"/>
            <a:ext cx="1133856" cy="146304"/>
          </a:xfrm>
          <a:prstGeom prst="rect">
            <a:avLst/>
          </a:prstGeom>
          <a:noFill/>
        </p:spPr>
        <p:txBody>
          <a:bodyPr wrap="none" lIns="0" rIns="0" tIns="0" bIns="0">
            <a:spAutoFit/>
          </a:bodyPr>
          <a:lstStyle/>
          <a:p>
            <a:pPr algn="ctr"/>
            <a:r>
              <a:rPr sz="600">
                <a:solidFill>
                  <a:srgbClr val="0B1220"/>
                </a:solidFill>
                <a:latin typeface="Calibri"/>
              </a:rPr>
              <a:t>CIPHER SOLUTIONS</a:t>
            </a:r>
          </a:p>
        </p:txBody>
      </p:sp>
      <p:sp>
        <p:nvSpPr>
          <p:cNvPr id="48" name="Oval 47"/>
          <p:cNvSpPr/>
          <p:nvPr/>
        </p:nvSpPr>
        <p:spPr>
          <a:xfrm>
            <a:off x="6148114" y="3486118"/>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5635444" y="2369084"/>
            <a:ext cx="233444" cy="233444"/>
          </a:xfrm>
          <a:prstGeom prst="ellipse">
            <a:avLst/>
          </a:prstGeom>
          <a:solidFill>
            <a:srgbClr val="18A0F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5185238" y="2613500"/>
            <a:ext cx="1133856" cy="146304"/>
          </a:xfrm>
          <a:prstGeom prst="rect">
            <a:avLst/>
          </a:prstGeom>
          <a:noFill/>
        </p:spPr>
        <p:txBody>
          <a:bodyPr wrap="none" lIns="0" rIns="0" tIns="0" bIns="0">
            <a:spAutoFit/>
          </a:bodyPr>
          <a:lstStyle/>
          <a:p>
            <a:pPr algn="ctr"/>
            <a:r>
              <a:rPr sz="600">
                <a:solidFill>
                  <a:srgbClr val="0B1220"/>
                </a:solidFill>
                <a:latin typeface="Calibri"/>
              </a:rPr>
              <a:t>IONIC MANUFACTURING</a:t>
            </a:r>
          </a:p>
        </p:txBody>
      </p:sp>
      <p:sp>
        <p:nvSpPr>
          <p:cNvPr id="51" name="Oval 50"/>
          <p:cNvSpPr/>
          <p:nvPr/>
        </p:nvSpPr>
        <p:spPr>
          <a:xfrm>
            <a:off x="4842445" y="2357776"/>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1466497" y="2256146"/>
            <a:ext cx="233444" cy="233444"/>
          </a:xfrm>
          <a:prstGeom prst="ellipse">
            <a:avLst/>
          </a:prstGeom>
          <a:solidFill>
            <a:srgbClr val="18A0F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16291" y="2500562"/>
            <a:ext cx="1133856" cy="146304"/>
          </a:xfrm>
          <a:prstGeom prst="rect">
            <a:avLst/>
          </a:prstGeom>
          <a:noFill/>
        </p:spPr>
        <p:txBody>
          <a:bodyPr wrap="none" lIns="0" rIns="0" tIns="0" bIns="0">
            <a:spAutoFit/>
          </a:bodyPr>
          <a:lstStyle/>
          <a:p>
            <a:pPr algn="ctr"/>
            <a:r>
              <a:rPr sz="600">
                <a:solidFill>
                  <a:srgbClr val="0B1220"/>
                </a:solidFill>
                <a:latin typeface="Calibri"/>
              </a:rPr>
              <a:t>THETA SEMICONDUCTORS</a:t>
            </a:r>
          </a:p>
        </p:txBody>
      </p:sp>
      <p:sp>
        <p:nvSpPr>
          <p:cNvPr id="54" name="Oval 53"/>
          <p:cNvSpPr/>
          <p:nvPr/>
        </p:nvSpPr>
        <p:spPr>
          <a:xfrm>
            <a:off x="692476" y="2123106"/>
            <a:ext cx="206104" cy="206104"/>
          </a:xfrm>
          <a:prstGeom prst="ellipse">
            <a:avLst/>
          </a:prstGeom>
          <a:solidFill>
            <a:srgbClr val="0B6FC4"/>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1848023" y="2591161"/>
            <a:ext cx="206104" cy="206104"/>
          </a:xfrm>
          <a:prstGeom prst="ellipse">
            <a:avLst/>
          </a:prstGeom>
          <a:solidFill>
            <a:srgbClr val="18A0F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2104443" y="2132145"/>
            <a:ext cx="206104" cy="206104"/>
          </a:xfrm>
          <a:prstGeom prst="ellipse">
            <a:avLst/>
          </a:prstGeom>
          <a:solidFill>
            <a:srgbClr val="2E9E5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2991427" y="2830179"/>
            <a:ext cx="206104" cy="206104"/>
          </a:xfrm>
          <a:prstGeom prst="ellipse">
            <a:avLst/>
          </a:prstGeom>
          <a:solidFill>
            <a:srgbClr val="4A5A6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3269512" y="2326003"/>
            <a:ext cx="206104" cy="206104"/>
          </a:xfrm>
          <a:prstGeom prst="ellipse">
            <a:avLst/>
          </a:prstGeom>
          <a:solidFill>
            <a:srgbClr val="8A5C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2176245" y="2831789"/>
            <a:ext cx="206104" cy="206104"/>
          </a:xfrm>
          <a:prstGeom prst="ellipse">
            <a:avLst/>
          </a:prstGeom>
          <a:solidFill>
            <a:srgbClr val="8A5C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2612938" y="2047425"/>
            <a:ext cx="206104" cy="206104"/>
          </a:xfrm>
          <a:prstGeom prst="ellipse">
            <a:avLst/>
          </a:prstGeom>
          <a:solidFill>
            <a:srgbClr val="8A5C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3403050" y="2628715"/>
            <a:ext cx="206104" cy="206104"/>
          </a:xfrm>
          <a:prstGeom prst="ellipse">
            <a:avLst/>
          </a:prstGeom>
          <a:solidFill>
            <a:srgbClr val="8A5C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6146103" y="2144869"/>
            <a:ext cx="206104" cy="206104"/>
          </a:xfrm>
          <a:prstGeom prst="ellipse">
            <a:avLst/>
          </a:prstGeom>
          <a:solidFill>
            <a:srgbClr val="2E9E5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7472467" y="2055274"/>
            <a:ext cx="206104" cy="206104"/>
          </a:xfrm>
          <a:prstGeom prst="ellipse">
            <a:avLst/>
          </a:prstGeom>
          <a:solidFill>
            <a:srgbClr val="4A5A6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461315" y="1826194"/>
            <a:ext cx="206104" cy="206104"/>
          </a:xfrm>
          <a:prstGeom prst="ellipse">
            <a:avLst/>
          </a:prstGeom>
          <a:solidFill>
            <a:srgbClr val="8A5C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7414331" y="2433427"/>
            <a:ext cx="206104" cy="206104"/>
          </a:xfrm>
          <a:prstGeom prst="ellipse">
            <a:avLst/>
          </a:prstGeom>
          <a:solidFill>
            <a:srgbClr val="8A5C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7026713" y="1827961"/>
            <a:ext cx="206104" cy="206104"/>
          </a:xfrm>
          <a:prstGeom prst="ellipse">
            <a:avLst/>
          </a:prstGeom>
          <a:solidFill>
            <a:srgbClr val="8A5C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411480" y="4279392"/>
            <a:ext cx="100584" cy="100584"/>
          </a:xfrm>
          <a:prstGeom prst="ellipse">
            <a:avLst/>
          </a:prstGeom>
          <a:solidFill>
            <a:srgbClr val="4A5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557784" y="4261104"/>
            <a:ext cx="667512"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alibri"/>
              </a:rPr>
              <a:t>Country</a:t>
            </a:r>
          </a:p>
        </p:txBody>
      </p:sp>
      <p:sp>
        <p:nvSpPr>
          <p:cNvPr id="69" name="Oval 68"/>
          <p:cNvSpPr/>
          <p:nvPr/>
        </p:nvSpPr>
        <p:spPr>
          <a:xfrm>
            <a:off x="1225296" y="4279392"/>
            <a:ext cx="100584" cy="100584"/>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371600" y="4261104"/>
            <a:ext cx="749808"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alibri"/>
              </a:rPr>
              <a:t>Customer</a:t>
            </a:r>
          </a:p>
        </p:txBody>
      </p:sp>
      <p:sp>
        <p:nvSpPr>
          <p:cNvPr id="71" name="Oval 70"/>
          <p:cNvSpPr/>
          <p:nvPr/>
        </p:nvSpPr>
        <p:spPr>
          <a:xfrm>
            <a:off x="2121408" y="4279392"/>
            <a:ext cx="100584" cy="1005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2267712" y="4261104"/>
            <a:ext cx="502920"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alibri"/>
              </a:rPr>
              <a:t>Plant</a:t>
            </a:r>
          </a:p>
        </p:txBody>
      </p:sp>
      <p:sp>
        <p:nvSpPr>
          <p:cNvPr id="73" name="Oval 72"/>
          <p:cNvSpPr/>
          <p:nvPr/>
        </p:nvSpPr>
        <p:spPr>
          <a:xfrm>
            <a:off x="2770632" y="4279392"/>
            <a:ext cx="100584" cy="10058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2916936" y="4261104"/>
            <a:ext cx="749808"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alibri"/>
              </a:rPr>
              <a:t>Supplier</a:t>
            </a:r>
          </a:p>
        </p:txBody>
      </p:sp>
      <p:sp>
        <p:nvSpPr>
          <p:cNvPr id="75" name="Oval 74"/>
          <p:cNvSpPr/>
          <p:nvPr/>
        </p:nvSpPr>
        <p:spPr>
          <a:xfrm>
            <a:off x="3666744" y="4279392"/>
            <a:ext cx="100584" cy="100584"/>
          </a:xfrm>
          <a:prstGeom prst="ellipse">
            <a:avLst/>
          </a:prstGeom>
          <a:solidFill>
            <a:srgbClr val="0B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3813048" y="4261104"/>
            <a:ext cx="1161288"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alibri"/>
              </a:rPr>
              <a:t>Supplier Site</a:t>
            </a:r>
          </a:p>
        </p:txBody>
      </p:sp>
      <p:sp>
        <p:nvSpPr>
          <p:cNvPr id="77" name="Oval 76"/>
          <p:cNvSpPr/>
          <p:nvPr/>
        </p:nvSpPr>
        <p:spPr>
          <a:xfrm>
            <a:off x="4974336" y="4279392"/>
            <a:ext cx="100584" cy="10058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120640" y="4261104"/>
            <a:ext cx="832104" cy="182880"/>
          </a:xfrm>
          <a:prstGeom prst="rect">
            <a:avLst/>
          </a:prstGeom>
          <a:noFill/>
        </p:spPr>
        <p:txBody>
          <a:bodyPr wrap="square" lIns="0" rIns="0" tIns="0" bIns="0" anchor="t">
            <a:spAutoFit/>
          </a:bodyPr>
          <a:lstStyle/>
          <a:p>
            <a:pPr algn="l">
              <a:spcAft>
                <a:spcPts val="400"/>
              </a:spcAft>
            </a:pPr>
            <a:r>
              <a:rPr sz="850" b="0" i="0">
                <a:solidFill>
                  <a:srgbClr val="0B1220"/>
                </a:solidFill>
                <a:latin typeface="Calibri"/>
              </a:rPr>
              <a:t>Warehouse</a:t>
            </a:r>
          </a:p>
        </p:txBody>
      </p:sp>
      <p:sp>
        <p:nvSpPr>
          <p:cNvPr id="79" name="TextBox 78"/>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28 nodes and 26 edges sampled live from SCS.KG · layout by force-directed spring embedding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Criticality 1 — single points of failure</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Ranked by betweenness: sites that sit on paths with no alternative</a:t>
            </a:r>
          </a:p>
        </p:txBody>
      </p:sp>
      <p:graphicFrame>
        <p:nvGraphicFramePr>
          <p:cNvPr id="5" name="Chart 4"/>
          <p:cNvGraphicFramePr>
            <a:graphicFrameLocks noGrp="1"/>
          </p:cNvGraphicFramePr>
          <p:nvPr/>
        </p:nvGraphicFramePr>
        <p:xfrm>
          <a:off x="411480" y="1207008"/>
          <a:ext cx="5029200" cy="3127248"/>
        </p:xfrm>
        <a:graphic>
          <a:graphicData uri="http://schemas.openxmlformats.org/drawingml/2006/chart">
            <c:chart xmlns:c="http://schemas.openxmlformats.org/drawingml/2006/chart" r:id="rId4"/>
          </a:graphicData>
        </a:graphic>
      </p:graphicFrame>
      <p:sp>
        <p:nvSpPr>
          <p:cNvPr id="6" name="Rounded Rectangle 5"/>
          <p:cNvSpPr/>
          <p:nvPr/>
        </p:nvSpPr>
        <p:spPr>
          <a:xfrm>
            <a:off x="5687568" y="1280160"/>
            <a:ext cx="3044952" cy="301752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852160" y="1408176"/>
            <a:ext cx="2743200" cy="237744"/>
          </a:xfrm>
          <a:prstGeom prst="rect">
            <a:avLst/>
          </a:prstGeom>
          <a:noFill/>
        </p:spPr>
        <p:txBody>
          <a:bodyPr wrap="square" lIns="0" rIns="0" tIns="0" bIns="0" anchor="t">
            <a:spAutoFit/>
          </a:bodyPr>
          <a:lstStyle/>
          <a:p>
            <a:pPr algn="l">
              <a:spcAft>
                <a:spcPts val="400"/>
              </a:spcAft>
            </a:pPr>
            <a:r>
              <a:rPr sz="1200" b="1" i="0">
                <a:solidFill>
                  <a:srgbClr val="E4572E"/>
                </a:solidFill>
                <a:latin typeface="Cambria"/>
              </a:rPr>
              <a:t>Why this is not a row count</a:t>
            </a:r>
          </a:p>
        </p:txBody>
      </p:sp>
      <p:sp>
        <p:nvSpPr>
          <p:cNvPr id="8" name="TextBox 7"/>
          <p:cNvSpPr txBox="1"/>
          <p:nvPr/>
        </p:nvSpPr>
        <p:spPr>
          <a:xfrm>
            <a:off x="5852160" y="1719072"/>
            <a:ext cx="2743200" cy="1188720"/>
          </a:xfrm>
          <a:prstGeom prst="rect">
            <a:avLst/>
          </a:prstGeom>
          <a:noFill/>
        </p:spPr>
        <p:txBody>
          <a:bodyPr wrap="square" lIns="0" rIns="0" tIns="0" bIns="0" anchor="t">
            <a:spAutoFit/>
          </a:bodyPr>
          <a:lstStyle/>
          <a:p>
            <a:pPr algn="l">
              <a:lnSpc>
                <a:spcPct val="120000"/>
              </a:lnSpc>
              <a:spcAft>
                <a:spcPts val="400"/>
              </a:spcAft>
            </a:pPr>
            <a:r>
              <a:rPr sz="1000" b="0" i="0">
                <a:solidFill>
                  <a:srgbClr val="5A6B80"/>
                </a:solidFill>
                <a:latin typeface="Calibri"/>
              </a:rPr>
              <a:t>A site with many connections is busy. A site with high betweenness is load-bearing — traffic has no other route through. The two are different, and only the second tells you what to dual-source first.</a:t>
            </a:r>
          </a:p>
        </p:txBody>
      </p:sp>
      <p:sp>
        <p:nvSpPr>
          <p:cNvPr id="9" name="TextBox 8"/>
          <p:cNvSpPr txBox="1"/>
          <p:nvPr/>
        </p:nvSpPr>
        <p:spPr>
          <a:xfrm>
            <a:off x="5852160" y="2980944"/>
            <a:ext cx="2743200" cy="201168"/>
          </a:xfrm>
          <a:prstGeom prst="rect">
            <a:avLst/>
          </a:prstGeom>
          <a:noFill/>
        </p:spPr>
        <p:txBody>
          <a:bodyPr wrap="square" lIns="0" rIns="0" tIns="0" bIns="0" anchor="t">
            <a:spAutoFit/>
          </a:bodyPr>
          <a:lstStyle/>
          <a:p>
            <a:pPr algn="l">
              <a:spcAft>
                <a:spcPts val="400"/>
              </a:spcAft>
            </a:pPr>
            <a:r>
              <a:rPr sz="900" b="1" i="0">
                <a:solidFill>
                  <a:srgbClr val="E4572E"/>
                </a:solidFill>
                <a:latin typeface="Calibri"/>
              </a:rPr>
              <a:t>TOP FIVE CHOKEPOINTS</a:t>
            </a:r>
          </a:p>
        </p:txBody>
      </p:sp>
      <p:sp>
        <p:nvSpPr>
          <p:cNvPr id="10" name="TextBox 9"/>
          <p:cNvSpPr txBox="1"/>
          <p:nvPr/>
        </p:nvSpPr>
        <p:spPr>
          <a:xfrm>
            <a:off x="5852160" y="3218688"/>
            <a:ext cx="2743200" cy="182880"/>
          </a:xfrm>
          <a:prstGeom prst="rect">
            <a:avLst/>
          </a:prstGeom>
          <a:noFill/>
        </p:spPr>
        <p:txBody>
          <a:bodyPr wrap="square" lIns="0" rIns="0" tIns="0" bIns="0" anchor="t">
            <a:spAutoFit/>
          </a:bodyPr>
          <a:lstStyle/>
          <a:p>
            <a:pPr algn="l">
              <a:spcAft>
                <a:spcPts val="400"/>
              </a:spcAft>
            </a:pPr>
            <a:r>
              <a:rPr sz="900" b="0" i="0">
                <a:solidFill>
                  <a:srgbClr val="0B1220"/>
                </a:solidFill>
                <a:latin typeface="Calibri"/>
              </a:rPr>
              <a:t>▸  KAPPA INDUSTRIES - Bogota</a:t>
            </a:r>
          </a:p>
        </p:txBody>
      </p:sp>
      <p:sp>
        <p:nvSpPr>
          <p:cNvPr id="11" name="TextBox 10"/>
          <p:cNvSpPr txBox="1"/>
          <p:nvPr/>
        </p:nvSpPr>
        <p:spPr>
          <a:xfrm>
            <a:off x="5852160" y="3415284"/>
            <a:ext cx="2743200" cy="182880"/>
          </a:xfrm>
          <a:prstGeom prst="rect">
            <a:avLst/>
          </a:prstGeom>
          <a:noFill/>
        </p:spPr>
        <p:txBody>
          <a:bodyPr wrap="square" lIns="0" rIns="0" tIns="0" bIns="0" anchor="t">
            <a:spAutoFit/>
          </a:bodyPr>
          <a:lstStyle/>
          <a:p>
            <a:pPr algn="l">
              <a:spcAft>
                <a:spcPts val="400"/>
              </a:spcAft>
            </a:pPr>
            <a:r>
              <a:rPr sz="900" b="0" i="0">
                <a:solidFill>
                  <a:srgbClr val="0B1220"/>
                </a:solidFill>
                <a:latin typeface="Calibri"/>
              </a:rPr>
              <a:t>▸  LAMBDA SEMICONDUCTORS - Guadalaj…</a:t>
            </a:r>
          </a:p>
        </p:txBody>
      </p:sp>
      <p:sp>
        <p:nvSpPr>
          <p:cNvPr id="12" name="TextBox 11"/>
          <p:cNvSpPr txBox="1"/>
          <p:nvPr/>
        </p:nvSpPr>
        <p:spPr>
          <a:xfrm>
            <a:off x="5852160" y="3611880"/>
            <a:ext cx="2743200" cy="182880"/>
          </a:xfrm>
          <a:prstGeom prst="rect">
            <a:avLst/>
          </a:prstGeom>
          <a:noFill/>
        </p:spPr>
        <p:txBody>
          <a:bodyPr wrap="square" lIns="0" rIns="0" tIns="0" bIns="0" anchor="t">
            <a:spAutoFit/>
          </a:bodyPr>
          <a:lstStyle/>
          <a:p>
            <a:pPr algn="l">
              <a:spcAft>
                <a:spcPts val="400"/>
              </a:spcAft>
            </a:pPr>
            <a:r>
              <a:rPr sz="900" b="0" i="0">
                <a:solidFill>
                  <a:srgbClr val="0B1220"/>
                </a:solidFill>
                <a:latin typeface="Calibri"/>
              </a:rPr>
              <a:t>▸  QUANTUM COMPONENTS - Stuttgart</a:t>
            </a:r>
          </a:p>
        </p:txBody>
      </p:sp>
      <p:sp>
        <p:nvSpPr>
          <p:cNvPr id="13" name="TextBox 12"/>
          <p:cNvSpPr txBox="1"/>
          <p:nvPr/>
        </p:nvSpPr>
        <p:spPr>
          <a:xfrm>
            <a:off x="5852160" y="3808476"/>
            <a:ext cx="2743200" cy="182880"/>
          </a:xfrm>
          <a:prstGeom prst="rect">
            <a:avLst/>
          </a:prstGeom>
          <a:noFill/>
        </p:spPr>
        <p:txBody>
          <a:bodyPr wrap="square" lIns="0" rIns="0" tIns="0" bIns="0" anchor="t">
            <a:spAutoFit/>
          </a:bodyPr>
          <a:lstStyle/>
          <a:p>
            <a:pPr algn="l">
              <a:spcAft>
                <a:spcPts val="400"/>
              </a:spcAft>
            </a:pPr>
            <a:r>
              <a:rPr sz="900" b="0" i="0">
                <a:solidFill>
                  <a:srgbClr val="0B1220"/>
                </a:solidFill>
                <a:latin typeface="Calibri"/>
              </a:rPr>
              <a:t>▸  CREST MANUFACTURING - Manila</a:t>
            </a:r>
          </a:p>
        </p:txBody>
      </p:sp>
      <p:sp>
        <p:nvSpPr>
          <p:cNvPr id="14" name="TextBox 13"/>
          <p:cNvSpPr txBox="1"/>
          <p:nvPr/>
        </p:nvSpPr>
        <p:spPr>
          <a:xfrm>
            <a:off x="5852160" y="4005072"/>
            <a:ext cx="2743200" cy="182880"/>
          </a:xfrm>
          <a:prstGeom prst="rect">
            <a:avLst/>
          </a:prstGeom>
          <a:noFill/>
        </p:spPr>
        <p:txBody>
          <a:bodyPr wrap="square" lIns="0" rIns="0" tIns="0" bIns="0" anchor="t">
            <a:spAutoFit/>
          </a:bodyPr>
          <a:lstStyle/>
          <a:p>
            <a:pPr algn="l">
              <a:spcAft>
                <a:spcPts val="400"/>
              </a:spcAft>
            </a:pPr>
            <a:r>
              <a:rPr sz="900" b="0" i="0">
                <a:solidFill>
                  <a:srgbClr val="0B1220"/>
                </a:solidFill>
                <a:latin typeface="Calibri"/>
              </a:rPr>
              <a:t>▸  CREST SOLUTIONS - Guadalajara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Criticality 2 — the network is not one network</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18 connected components: one giant, 17 orphaned fragments</a:t>
            </a:r>
          </a:p>
        </p:txBody>
      </p:sp>
      <p:graphicFrame>
        <p:nvGraphicFramePr>
          <p:cNvPr id="5" name="Chart 4"/>
          <p:cNvGraphicFramePr>
            <a:graphicFrameLocks noGrp="1"/>
          </p:cNvGraphicFramePr>
          <p:nvPr/>
        </p:nvGraphicFramePr>
        <p:xfrm>
          <a:off x="411480" y="1170432"/>
          <a:ext cx="3840480" cy="3017520"/>
        </p:xfrm>
        <a:graphic>
          <a:graphicData uri="http://schemas.openxmlformats.org/drawingml/2006/chart">
            <c:chart xmlns:c="http://schemas.openxmlformats.org/drawingml/2006/chart" r:id="rId4"/>
          </a:graphicData>
        </a:graphic>
      </p:graphicFrame>
      <p:sp>
        <p:nvSpPr>
          <p:cNvPr id="6" name="Rounded Rectangle 5"/>
          <p:cNvSpPr/>
          <p:nvPr/>
        </p:nvSpPr>
        <p:spPr>
          <a:xfrm>
            <a:off x="4480560" y="1280160"/>
            <a:ext cx="4251960" cy="278892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663440" y="1408176"/>
            <a:ext cx="3886200" cy="237744"/>
          </a:xfrm>
          <a:prstGeom prst="rect">
            <a:avLst/>
          </a:prstGeom>
          <a:noFill/>
        </p:spPr>
        <p:txBody>
          <a:bodyPr wrap="square" lIns="0" rIns="0" tIns="0" bIns="0" anchor="t">
            <a:spAutoFit/>
          </a:bodyPr>
          <a:lstStyle/>
          <a:p>
            <a:pPr algn="l">
              <a:spcAft>
                <a:spcPts val="400"/>
              </a:spcAft>
            </a:pPr>
            <a:r>
              <a:rPr sz="1200" b="1" i="0">
                <a:solidFill>
                  <a:srgbClr val="F5A623"/>
                </a:solidFill>
                <a:latin typeface="Cambria"/>
              </a:rPr>
              <a:t>What the fragments mean</a:t>
            </a:r>
          </a:p>
        </p:txBody>
      </p:sp>
      <p:sp>
        <p:nvSpPr>
          <p:cNvPr id="8" name="Oval 7"/>
          <p:cNvSpPr/>
          <p:nvPr/>
        </p:nvSpPr>
        <p:spPr>
          <a:xfrm>
            <a:off x="4663440" y="1805940"/>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46320" y="1755648"/>
            <a:ext cx="3703320" cy="56692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Unreachable stock. </a:t>
            </a:r>
            <a:r>
              <a:rPr sz="1000" b="0">
                <a:solidFill>
                  <a:srgbClr val="5A6B80"/>
                </a:solidFill>
                <a:latin typeface="Calibri"/>
              </a:rPr>
              <a:t>Entities with no path to any plant — inventory nobody can consume.</a:t>
            </a:r>
          </a:p>
        </p:txBody>
      </p:sp>
      <p:sp>
        <p:nvSpPr>
          <p:cNvPr id="10" name="Oval 9"/>
          <p:cNvSpPr/>
          <p:nvPr/>
        </p:nvSpPr>
        <p:spPr>
          <a:xfrm>
            <a:off x="4663440" y="2372868"/>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846320" y="2322576"/>
            <a:ext cx="3703320" cy="56692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Broken master data. </a:t>
            </a:r>
            <a:r>
              <a:rPr sz="1000" b="0">
                <a:solidFill>
                  <a:srgbClr val="5A6B80"/>
                </a:solidFill>
                <a:latin typeface="Calibri"/>
              </a:rPr>
              <a:t>A supplier with no approved part, a part with no BOM. The graph surfaces it as an island.</a:t>
            </a:r>
          </a:p>
        </p:txBody>
      </p:sp>
      <p:sp>
        <p:nvSpPr>
          <p:cNvPr id="12" name="Oval 11"/>
          <p:cNvSpPr/>
          <p:nvPr/>
        </p:nvSpPr>
        <p:spPr>
          <a:xfrm>
            <a:off x="4663440" y="2939796"/>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46320" y="2889504"/>
            <a:ext cx="3703320" cy="56692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Acquisition residue. </a:t>
            </a:r>
            <a:r>
              <a:rPr sz="1000" b="0">
                <a:solidFill>
                  <a:srgbClr val="5A6B80"/>
                </a:solidFill>
                <a:latin typeface="Calibri"/>
              </a:rPr>
              <a:t>Sub-networks that were never joined to the main sourcing structure.</a:t>
            </a:r>
          </a:p>
        </p:txBody>
      </p:sp>
      <p:sp>
        <p:nvSpPr>
          <p:cNvPr id="14" name="TextBox 13"/>
          <p:cNvSpPr txBox="1"/>
          <p:nvPr/>
        </p:nvSpPr>
        <p:spPr>
          <a:xfrm>
            <a:off x="4663440" y="3547872"/>
            <a:ext cx="3886200" cy="402336"/>
          </a:xfrm>
          <a:prstGeom prst="rect">
            <a:avLst/>
          </a:prstGeom>
          <a:noFill/>
        </p:spPr>
        <p:txBody>
          <a:bodyPr wrap="square" lIns="0" rIns="0" tIns="0" bIns="0" anchor="t">
            <a:spAutoFit/>
          </a:bodyPr>
          <a:lstStyle/>
          <a:p>
            <a:pPr algn="l">
              <a:lnSpc>
                <a:spcPct val="118000"/>
              </a:lnSpc>
              <a:spcAft>
                <a:spcPts val="400"/>
              </a:spcAft>
            </a:pPr>
            <a:r>
              <a:rPr sz="950" b="0" i="1">
                <a:solidFill>
                  <a:srgbClr val="5A6B80"/>
                </a:solidFill>
                <a:latin typeface="Calibri"/>
              </a:rPr>
              <a:t>99.8% of entities sit in one component. The remaining 17 are exactly the kind of quiet data-quality failure nobody queries for.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Criticality 3 — where the network concentrates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Average connections per entity type: plants absorb every flow</a:t>
            </a:r>
          </a:p>
        </p:txBody>
      </p:sp>
      <p:graphicFrame>
        <p:nvGraphicFramePr>
          <p:cNvPr id="5" name="Chart 4"/>
          <p:cNvGraphicFramePr>
            <a:graphicFrameLocks noGrp="1"/>
          </p:cNvGraphicFramePr>
          <p:nvPr/>
        </p:nvGraphicFramePr>
        <p:xfrm>
          <a:off x="411480" y="1207008"/>
          <a:ext cx="5029200" cy="3163824"/>
        </p:xfrm>
        <a:graphic>
          <a:graphicData uri="http://schemas.openxmlformats.org/drawingml/2006/chart">
            <c:chart xmlns:c="http://schemas.openxmlformats.org/drawingml/2006/chart" r:id="rId4"/>
          </a:graphicData>
        </a:graphic>
      </p:graphicFrame>
      <p:sp>
        <p:nvSpPr>
          <p:cNvPr id="6" name="Rounded Rectangle 5"/>
          <p:cNvSpPr/>
          <p:nvPr/>
        </p:nvSpPr>
        <p:spPr>
          <a:xfrm>
            <a:off x="5687568" y="1298448"/>
            <a:ext cx="3044952" cy="296265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852160" y="1426464"/>
            <a:ext cx="2743200"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Reading this chart</a:t>
            </a:r>
          </a:p>
        </p:txBody>
      </p:sp>
      <p:sp>
        <p:nvSpPr>
          <p:cNvPr id="8" name="TextBox 7"/>
          <p:cNvSpPr txBox="1"/>
          <p:nvPr/>
        </p:nvSpPr>
        <p:spPr>
          <a:xfrm>
            <a:off x="5852160" y="1737360"/>
            <a:ext cx="2743200" cy="2194560"/>
          </a:xfrm>
          <a:prstGeom prst="rect">
            <a:avLst/>
          </a:prstGeom>
          <a:noFill/>
        </p:spPr>
        <p:txBody>
          <a:bodyPr wrap="square" lIns="0" rIns="0" tIns="0" bIns="0" anchor="t">
            <a:spAutoFit/>
          </a:bodyPr>
          <a:lstStyle/>
          <a:p>
            <a:pPr algn="l">
              <a:lnSpc>
                <a:spcPct val="122000"/>
              </a:lnSpc>
              <a:spcAft>
                <a:spcPts val="400"/>
              </a:spcAft>
            </a:pPr>
            <a:r>
              <a:rPr sz="1000" b="0" i="0">
                <a:solidFill>
                  <a:srgbClr val="5A6B80"/>
                </a:solidFill>
                <a:latin typeface="Calibri"/>
              </a:rPr>
              <a:t>Twelve plants carry 566 connections each on average — eighty times a typical part.
That asymmetry is the risk profile of the whole network in one number: disruption at a plant propagates everywhere, disruption at a part is contained.
It also says where to instrument first. Twelve entities, monitored well, cover most of the blast radius.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What the warehouse alone cannot answer</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Not “harder” — structurally absent without traversal and centrality</a:t>
            </a:r>
          </a:p>
        </p:txBody>
      </p:sp>
      <p:graphicFrame>
        <p:nvGraphicFramePr>
          <p:cNvPr id="5" name="Table 4"/>
          <p:cNvGraphicFramePr>
            <a:graphicFrameLocks noGrp="1"/>
          </p:cNvGraphicFramePr>
          <p:nvPr/>
        </p:nvGraphicFramePr>
        <p:xfrm>
          <a:off x="411480" y="1280160"/>
          <a:ext cx="8321038" cy="2523744"/>
        </p:xfrm>
        <a:graphic>
          <a:graphicData uri="http://schemas.openxmlformats.org/drawingml/2006/table">
            <a:tbl>
              <a:tblPr firstRow="1" bandRow="1">
                <a:tableStyleId>{5C22544A-7EE6-4342-B048-85BDC9FD1C3A}</a:tableStyleId>
              </a:tblPr>
              <a:tblGrid>
                <a:gridCol w="3059205"/>
                <a:gridCol w="2936837"/>
                <a:gridCol w="2324996"/>
              </a:tblGrid>
              <a:tr h="420624">
                <a:tc>
                  <a:txBody>
                    <a:bodyPr wrap="square"/>
                    <a:lstStyle/>
                    <a:p>
                      <a:pPr algn="l"/>
                      <a:r>
                        <a:rPr sz="950" b="1">
                          <a:solidFill>
                            <a:srgbClr val="FFFFFF"/>
                          </a:solidFill>
                          <a:latin typeface="Calibri"/>
                        </a:rPr>
                        <a:t>Question</a:t>
                      </a:r>
                    </a:p>
                  </a:txBody>
                  <a:tcPr marL="54864" marR="54864" marT="9144" marB="9144" anchor="ctr">
                    <a:solidFill>
                      <a:srgbClr val="0B1220"/>
                    </a:solidFill>
                  </a:tcPr>
                </a:tc>
                <a:tc>
                  <a:txBody>
                    <a:bodyPr wrap="square"/>
                    <a:lstStyle/>
                    <a:p>
                      <a:pPr algn="l"/>
                      <a:r>
                        <a:rPr sz="950" b="1">
                          <a:solidFill>
                            <a:srgbClr val="FFFFFF"/>
                          </a:solidFill>
                          <a:latin typeface="Calibri"/>
                        </a:rPr>
                        <a:t>Without the graph</a:t>
                      </a:r>
                    </a:p>
                  </a:txBody>
                  <a:tcPr marL="54864" marR="54864" marT="9144" marB="9144" anchor="ctr">
                    <a:solidFill>
                      <a:srgbClr val="0B1220"/>
                    </a:solidFill>
                  </a:tcPr>
                </a:tc>
                <a:tc>
                  <a:txBody>
                    <a:bodyPr wrap="square"/>
                    <a:lstStyle/>
                    <a:p>
                      <a:pPr algn="l"/>
                      <a:r>
                        <a:rPr sz="950" b="1">
                          <a:solidFill>
                            <a:srgbClr val="FFFFFF"/>
                          </a:solidFill>
                          <a:latin typeface="Calibri"/>
                        </a:rPr>
                        <a:t>With the graph</a:t>
                      </a:r>
                    </a:p>
                  </a:txBody>
                  <a:tcPr marL="54864" marR="54864" marT="9144" marB="9144" anchor="ctr">
                    <a:solidFill>
                      <a:srgbClr val="0B1220"/>
                    </a:solidFill>
                  </a:tcPr>
                </a:tc>
              </a:tr>
              <a:tr h="420624">
                <a:tc>
                  <a:txBody>
                    <a:bodyPr wrap="square"/>
                    <a:lstStyle/>
                    <a:p>
                      <a:pPr algn="l"/>
                      <a:r>
                        <a:rPr sz="950" b="0">
                          <a:solidFill>
                            <a:srgbClr val="0B1220"/>
                          </a:solidFill>
                          <a:latin typeface="Calibri"/>
                        </a:rPr>
                        <a:t>Which sites are single points of failure?</a:t>
                      </a:r>
                    </a:p>
                  </a:txBody>
                  <a:tcPr marL="54864" marR="54864" marT="9144" marB="9144" anchor="ctr">
                    <a:solidFill>
                      <a:srgbClr val="FFFFFF"/>
                    </a:solidFill>
                  </a:tcPr>
                </a:tc>
                <a:tc>
                  <a:txBody>
                    <a:bodyPr wrap="square"/>
                    <a:lstStyle/>
                    <a:p>
                      <a:pPr algn="l"/>
                      <a:r>
                        <a:rPr sz="950" b="0">
                          <a:solidFill>
                            <a:srgbClr val="0B1220"/>
                          </a:solidFill>
                          <a:latin typeface="Calibri"/>
                        </a:rPr>
                        <a:t>No measure of path criticality exists</a:t>
                      </a:r>
                    </a:p>
                  </a:txBody>
                  <a:tcPr marL="54864" marR="54864" marT="9144" marB="9144" anchor="ctr">
                    <a:solidFill>
                      <a:srgbClr val="FFFFFF"/>
                    </a:solidFill>
                  </a:tcPr>
                </a:tc>
                <a:tc>
                  <a:txBody>
                    <a:bodyPr wrap="square"/>
                    <a:lstStyle/>
                    <a:p>
                      <a:pPr algn="l"/>
                      <a:r>
                        <a:rPr sz="950" b="0">
                          <a:solidFill>
                            <a:srgbClr val="0B1220"/>
                          </a:solidFill>
                          <a:latin typeface="Calibri"/>
                        </a:rPr>
                        <a:t>Betweenness, one ORDER BY</a:t>
                      </a:r>
                    </a:p>
                  </a:txBody>
                  <a:tcPr marL="54864" marR="54864" marT="9144" marB="9144" anchor="ctr">
                    <a:solidFill>
                      <a:srgbClr val="FFFFFF"/>
                    </a:solidFill>
                  </a:tcPr>
                </a:tc>
              </a:tr>
              <a:tr h="420624">
                <a:tc>
                  <a:txBody>
                    <a:bodyPr wrap="square"/>
                    <a:lstStyle/>
                    <a:p>
                      <a:pPr algn="l"/>
                      <a:r>
                        <a:rPr sz="950" b="0">
                          <a:solidFill>
                            <a:srgbClr val="0B1220"/>
                          </a:solidFill>
                          <a:latin typeface="Calibri"/>
                        </a:rPr>
                        <a:t>What breaks if this part is discontinued?</a:t>
                      </a:r>
                    </a:p>
                  </a:txBody>
                  <a:tcPr marL="54864" marR="54864" marT="9144" marB="9144" anchor="ctr">
                    <a:solidFill>
                      <a:srgbClr val="F1F6FB"/>
                    </a:solidFill>
                  </a:tcPr>
                </a:tc>
                <a:tc>
                  <a:txBody>
                    <a:bodyPr wrap="square"/>
                    <a:lstStyle/>
                    <a:p>
                      <a:pPr algn="l"/>
                      <a:r>
                        <a:rPr sz="950" b="0">
                          <a:solidFill>
                            <a:srgbClr val="0B1220"/>
                          </a:solidFill>
                          <a:latin typeface="Calibri"/>
                        </a:rPr>
                        <a:t>Recursive CTE, hand-written per case</a:t>
                      </a:r>
                    </a:p>
                  </a:txBody>
                  <a:tcPr marL="54864" marR="54864" marT="9144" marB="9144" anchor="ctr">
                    <a:solidFill>
                      <a:srgbClr val="F1F6FB"/>
                    </a:solidFill>
                  </a:tcPr>
                </a:tc>
                <a:tc>
                  <a:txBody>
                    <a:bodyPr wrap="square"/>
                    <a:lstStyle/>
                    <a:p>
                      <a:pPr algn="l"/>
                      <a:r>
                        <a:rPr sz="950" b="0">
                          <a:solidFill>
                            <a:srgbClr val="0B1220"/>
                          </a:solidFill>
                          <a:latin typeface="Calibri"/>
                        </a:rPr>
                        <a:t>COMPONENT_OF traversal</a:t>
                      </a:r>
                    </a:p>
                  </a:txBody>
                  <a:tcPr marL="54864" marR="54864" marT="9144" marB="9144" anchor="ctr">
                    <a:solidFill>
                      <a:srgbClr val="F1F6FB"/>
                    </a:solidFill>
                  </a:tcPr>
                </a:tc>
              </a:tr>
              <a:tr h="420624">
                <a:tc>
                  <a:txBody>
                    <a:bodyPr wrap="square"/>
                    <a:lstStyle/>
                    <a:p>
                      <a:pPr algn="l"/>
                      <a:r>
                        <a:rPr sz="950" b="0">
                          <a:solidFill>
                            <a:srgbClr val="0B1220"/>
                          </a:solidFill>
                          <a:latin typeface="Calibri"/>
                        </a:rPr>
                        <a:t>Which suppliers actually matter?</a:t>
                      </a:r>
                    </a:p>
                  </a:txBody>
                  <a:tcPr marL="54864" marR="54864" marT="9144" marB="9144" anchor="ctr">
                    <a:solidFill>
                      <a:srgbClr val="FFFFFF"/>
                    </a:solidFill>
                  </a:tcPr>
                </a:tc>
                <a:tc>
                  <a:txBody>
                    <a:bodyPr wrap="square"/>
                    <a:lstStyle/>
                    <a:p>
                      <a:pPr algn="l"/>
                      <a:r>
                        <a:rPr sz="950" b="0">
                          <a:solidFill>
                            <a:srgbClr val="0B1220"/>
                          </a:solidFill>
                          <a:latin typeface="Calibri"/>
                        </a:rPr>
                        <a:t>Spend ranking — misses structural importance</a:t>
                      </a:r>
                    </a:p>
                  </a:txBody>
                  <a:tcPr marL="54864" marR="54864" marT="9144" marB="9144" anchor="ctr">
                    <a:solidFill>
                      <a:srgbClr val="FFFFFF"/>
                    </a:solidFill>
                  </a:tcPr>
                </a:tc>
                <a:tc>
                  <a:txBody>
                    <a:bodyPr wrap="square"/>
                    <a:lstStyle/>
                    <a:p>
                      <a:pPr algn="l"/>
                      <a:r>
                        <a:rPr sz="950" b="0">
                          <a:solidFill>
                            <a:srgbClr val="0B1220"/>
                          </a:solidFill>
                          <a:latin typeface="Calibri"/>
                        </a:rPr>
                        <a:t>PageRank over the network</a:t>
                      </a:r>
                    </a:p>
                  </a:txBody>
                  <a:tcPr marL="54864" marR="54864" marT="9144" marB="9144" anchor="ctr">
                    <a:solidFill>
                      <a:srgbClr val="FFFFFF"/>
                    </a:solidFill>
                  </a:tcPr>
                </a:tc>
              </a:tr>
              <a:tr h="420624">
                <a:tc>
                  <a:txBody>
                    <a:bodyPr wrap="square"/>
                    <a:lstStyle/>
                    <a:p>
                      <a:pPr algn="l"/>
                      <a:r>
                        <a:rPr sz="950" b="0">
                          <a:solidFill>
                            <a:srgbClr val="0B1220"/>
                          </a:solidFill>
                          <a:latin typeface="Calibri"/>
                        </a:rPr>
                        <a:t>Are there isolated pockets of the network?</a:t>
                      </a:r>
                    </a:p>
                  </a:txBody>
                  <a:tcPr marL="54864" marR="54864" marT="9144" marB="9144" anchor="ctr">
                    <a:solidFill>
                      <a:srgbClr val="F1F6FB"/>
                    </a:solidFill>
                  </a:tcPr>
                </a:tc>
                <a:tc>
                  <a:txBody>
                    <a:bodyPr wrap="square"/>
                    <a:lstStyle/>
                    <a:p>
                      <a:pPr algn="l"/>
                      <a:r>
                        <a:rPr sz="950" b="0">
                          <a:solidFill>
                            <a:srgbClr val="0B1220"/>
                          </a:solidFill>
                          <a:latin typeface="Calibri"/>
                        </a:rPr>
                        <a:t>Nobody thinks to ask</a:t>
                      </a:r>
                    </a:p>
                  </a:txBody>
                  <a:tcPr marL="54864" marR="54864" marT="9144" marB="9144" anchor="ctr">
                    <a:solidFill>
                      <a:srgbClr val="F1F6FB"/>
                    </a:solidFill>
                  </a:tcPr>
                </a:tc>
                <a:tc>
                  <a:txBody>
                    <a:bodyPr wrap="square"/>
                    <a:lstStyle/>
                    <a:p>
                      <a:pPr algn="l"/>
                      <a:r>
                        <a:rPr sz="950" b="0">
                          <a:solidFill>
                            <a:srgbClr val="0B1220"/>
                          </a:solidFill>
                          <a:latin typeface="Calibri"/>
                        </a:rPr>
                        <a:t>COMPONENT_ID, already computed</a:t>
                      </a:r>
                    </a:p>
                  </a:txBody>
                  <a:tcPr marL="54864" marR="54864" marT="9144" marB="9144" anchor="ctr">
                    <a:solidFill>
                      <a:srgbClr val="F1F6FB"/>
                    </a:solidFill>
                  </a:tcPr>
                </a:tc>
              </a:tr>
              <a:tr h="420624">
                <a:tc>
                  <a:txBody>
                    <a:bodyPr wrap="square"/>
                    <a:lstStyle/>
                    <a:p>
                      <a:pPr algn="l"/>
                      <a:r>
                        <a:rPr sz="950" b="0">
                          <a:solidFill>
                            <a:srgbClr val="0B1220"/>
                          </a:solidFill>
                          <a:latin typeface="Calibri"/>
                        </a:rPr>
                        <a:t>Which parts have no second source?</a:t>
                      </a:r>
                    </a:p>
                  </a:txBody>
                  <a:tcPr marL="54864" marR="54864" marT="9144" marB="9144" anchor="ctr">
                    <a:solidFill>
                      <a:srgbClr val="FFFFFF"/>
                    </a:solidFill>
                  </a:tcPr>
                </a:tc>
                <a:tc>
                  <a:txBody>
                    <a:bodyPr wrap="square"/>
                    <a:lstStyle/>
                    <a:p>
                      <a:pPr algn="l"/>
                      <a:r>
                        <a:rPr sz="950" b="0">
                          <a:solidFill>
                            <a:srgbClr val="0B1220"/>
                          </a:solidFill>
                          <a:latin typeface="Calibri"/>
                        </a:rPr>
                        <a:t>GROUP BY HAVING — possible, but blind to depth</a:t>
                      </a:r>
                    </a:p>
                  </a:txBody>
                  <a:tcPr marL="54864" marR="54864" marT="9144" marB="9144" anchor="ctr">
                    <a:solidFill>
                      <a:srgbClr val="FFFFFF"/>
                    </a:solidFill>
                  </a:tcPr>
                </a:tc>
                <a:tc>
                  <a:txBody>
                    <a:bodyPr wrap="square"/>
                    <a:lstStyle/>
                    <a:p>
                      <a:pPr algn="l"/>
                      <a:r>
                        <a:rPr sz="950" b="0">
                          <a:solidFill>
                            <a:srgbClr val="0B1220"/>
                          </a:solidFill>
                          <a:latin typeface="Calibri"/>
                        </a:rPr>
                        <a:t>APPROVED_SOURCE degree, with blast radius</a:t>
                      </a:r>
                    </a:p>
                  </a:txBody>
                  <a:tcPr marL="54864" marR="54864" marT="9144" marB="9144" anchor="ctr">
                    <a:solidFill>
                      <a:srgbClr val="FFFFFF"/>
                    </a:solidFill>
                  </a:tcPr>
                </a:tc>
              </a:tr>
            </a:tbl>
          </a:graphicData>
        </a:graphic>
      </p:graphicFrame>
      <p:sp>
        <p:nvSpPr>
          <p:cNvPr id="6" name="Rounded Rectangle 5"/>
          <p:cNvSpPr/>
          <p:nvPr/>
        </p:nvSpPr>
        <p:spPr>
          <a:xfrm>
            <a:off x="411480" y="3913632"/>
            <a:ext cx="8321040" cy="621792"/>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2648" y="4041648"/>
            <a:ext cx="7918704" cy="384048"/>
          </a:xfrm>
          <a:prstGeom prst="rect">
            <a:avLst/>
          </a:prstGeom>
          <a:noFill/>
        </p:spPr>
        <p:txBody>
          <a:bodyPr wrap="square" lIns="0" rIns="0" tIns="0" bIns="0" anchor="t">
            <a:spAutoFit/>
          </a:bodyPr>
          <a:lstStyle/>
          <a:p>
            <a:pPr algn="ctr">
              <a:spcAft>
                <a:spcPts val="400"/>
              </a:spcAft>
            </a:pPr>
            <a:r>
              <a:rPr sz="1100" b="0" i="1">
                <a:solidFill>
                  <a:srgbClr val="FFFFFF"/>
                </a:solidFill>
                <a:latin typeface="Calibri"/>
              </a:rPr>
              <a:t>The middle column is not a technology gap. It is the reason these questions are asked after a disruption instead of before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5</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THE AGENT</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Four tools.
Zero deployment.</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The agent's model, instructions and tools are defined in the application and sent with every request. There is no stored AGENT object to create, grant, or keep in sync with the code.</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4</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tools attached</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0</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stored agent objects</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place to change config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four tools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Attached inline on every agent:run request</a:t>
            </a:r>
          </a:p>
        </p:txBody>
      </p:sp>
      <p:sp>
        <p:nvSpPr>
          <p:cNvPr id="5" name="Rounded Rectangle 4"/>
          <p:cNvSpPr/>
          <p:nvPr/>
        </p:nvSpPr>
        <p:spPr>
          <a:xfrm>
            <a:off x="411480" y="1188720"/>
            <a:ext cx="8321040" cy="76809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76072" y="1371600"/>
            <a:ext cx="402336" cy="4023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K</a:t>
            </a:r>
          </a:p>
        </p:txBody>
      </p:sp>
      <p:sp>
        <p:nvSpPr>
          <p:cNvPr id="7" name="TextBox 6"/>
          <p:cNvSpPr txBox="1"/>
          <p:nvPr/>
        </p:nvSpPr>
        <p:spPr>
          <a:xfrm>
            <a:off x="1106424" y="1289304"/>
            <a:ext cx="1920240" cy="219456"/>
          </a:xfrm>
          <a:prstGeom prst="rect">
            <a:avLst/>
          </a:prstGeom>
          <a:noFill/>
        </p:spPr>
        <p:txBody>
          <a:bodyPr wrap="square" lIns="0" rIns="0" tIns="0" bIns="0" anchor="t">
            <a:spAutoFit/>
          </a:bodyPr>
          <a:lstStyle/>
          <a:p>
            <a:pPr algn="l">
              <a:spcAft>
                <a:spcPts val="400"/>
              </a:spcAft>
            </a:pPr>
            <a:r>
              <a:rPr sz="1200" b="1" i="0">
                <a:solidFill>
                  <a:srgbClr val="0B1220"/>
                </a:solidFill>
                <a:latin typeface="Consolas"/>
              </a:rPr>
              <a:t>kg_analyst</a:t>
            </a:r>
          </a:p>
        </p:txBody>
      </p:sp>
      <p:sp>
        <p:nvSpPr>
          <p:cNvPr id="8" name="TextBox 7"/>
          <p:cNvSpPr txBox="1"/>
          <p:nvPr/>
        </p:nvSpPr>
        <p:spPr>
          <a:xfrm>
            <a:off x="1106424" y="1554480"/>
            <a:ext cx="1920240" cy="201168"/>
          </a:xfrm>
          <a:prstGeom prst="rect">
            <a:avLst/>
          </a:prstGeom>
          <a:noFill/>
        </p:spPr>
        <p:txBody>
          <a:bodyPr wrap="square" lIns="0" rIns="0" tIns="0" bIns="0" anchor="t">
            <a:spAutoFit/>
          </a:bodyPr>
          <a:lstStyle/>
          <a:p>
            <a:pPr algn="l">
              <a:spcAft>
                <a:spcPts val="400"/>
              </a:spcAft>
            </a:pPr>
            <a:r>
              <a:rPr sz="800" b="0" i="0">
                <a:solidFill>
                  <a:srgbClr val="5A6B80"/>
                </a:solidFill>
                <a:latin typeface="Consolas"/>
              </a:rPr>
              <a:t>cortex_analyst_text_to_sql</a:t>
            </a:r>
          </a:p>
        </p:txBody>
      </p:sp>
      <p:sp>
        <p:nvSpPr>
          <p:cNvPr id="9" name="TextBox 8"/>
          <p:cNvSpPr txBox="1"/>
          <p:nvPr/>
        </p:nvSpPr>
        <p:spPr>
          <a:xfrm>
            <a:off x="3200400" y="1335024"/>
            <a:ext cx="3566160" cy="475488"/>
          </a:xfrm>
          <a:prstGeom prst="rect">
            <a:avLst/>
          </a:prstGeom>
          <a:noFill/>
        </p:spPr>
        <p:txBody>
          <a:bodyPr wrap="square" lIns="0" rIns="0" tIns="0" bIns="0" anchor="t">
            <a:spAutoFit/>
          </a:bodyPr>
          <a:lstStyle/>
          <a:p>
            <a:pPr algn="l">
              <a:lnSpc>
                <a:spcPct val="115000"/>
              </a:lnSpc>
              <a:spcAft>
                <a:spcPts val="400"/>
              </a:spcAft>
            </a:pPr>
            <a:r>
              <a:rPr sz="1000" b="0" i="0">
                <a:solidFill>
                  <a:srgbClr val="0B1220"/>
                </a:solidFill>
                <a:latin typeface="Calibri"/>
              </a:rPr>
              <a:t>Turns the question into SQL against the semantic view</a:t>
            </a:r>
          </a:p>
        </p:txBody>
      </p:sp>
      <p:sp>
        <p:nvSpPr>
          <p:cNvPr id="10" name="TextBox 9"/>
          <p:cNvSpPr txBox="1"/>
          <p:nvPr/>
        </p:nvSpPr>
        <p:spPr>
          <a:xfrm>
            <a:off x="6903720" y="1335024"/>
            <a:ext cx="1783080" cy="219456"/>
          </a:xfrm>
          <a:prstGeom prst="rect">
            <a:avLst/>
          </a:prstGeom>
          <a:noFill/>
        </p:spPr>
        <p:txBody>
          <a:bodyPr wrap="square" lIns="0" rIns="0" tIns="0" bIns="0" anchor="t">
            <a:spAutoFit/>
          </a:bodyPr>
          <a:lstStyle/>
          <a:p>
            <a:pPr algn="l">
              <a:spcAft>
                <a:spcPts val="400"/>
              </a:spcAft>
            </a:pPr>
            <a:r>
              <a:rPr sz="750" b="1" i="0">
                <a:solidFill>
                  <a:srgbClr val="5A6B80"/>
                </a:solidFill>
                <a:latin typeface="Calibri"/>
              </a:rPr>
              <a:t>RESOURCE</a:t>
            </a:r>
          </a:p>
        </p:txBody>
      </p:sp>
      <p:sp>
        <p:nvSpPr>
          <p:cNvPr id="11" name="TextBox 10"/>
          <p:cNvSpPr txBox="1"/>
          <p:nvPr/>
        </p:nvSpPr>
        <p:spPr>
          <a:xfrm>
            <a:off x="6903720" y="1536192"/>
            <a:ext cx="1783080" cy="274320"/>
          </a:xfrm>
          <a:prstGeom prst="rect">
            <a:avLst/>
          </a:prstGeom>
          <a:noFill/>
        </p:spPr>
        <p:txBody>
          <a:bodyPr wrap="square" lIns="0" rIns="0" tIns="0" bIns="0" anchor="t">
            <a:spAutoFit/>
          </a:bodyPr>
          <a:lstStyle/>
          <a:p>
            <a:pPr algn="l">
              <a:spcAft>
                <a:spcPts val="400"/>
              </a:spcAft>
            </a:pPr>
            <a:r>
              <a:rPr sz="850" b="0" i="0">
                <a:solidFill>
                  <a:srgbClr val="18A0FB"/>
                </a:solidFill>
                <a:latin typeface="Consolas"/>
              </a:rPr>
              <a:t>SV_SUPPLY_CHAIN_KG</a:t>
            </a:r>
          </a:p>
        </p:txBody>
      </p:sp>
      <p:sp>
        <p:nvSpPr>
          <p:cNvPr id="12" name="Rounded Rectangle 11"/>
          <p:cNvSpPr/>
          <p:nvPr/>
        </p:nvSpPr>
        <p:spPr>
          <a:xfrm>
            <a:off x="411480" y="2048256"/>
            <a:ext cx="8321040" cy="76809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76072" y="2231136"/>
            <a:ext cx="402336" cy="4023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K</a:t>
            </a:r>
          </a:p>
        </p:txBody>
      </p:sp>
      <p:sp>
        <p:nvSpPr>
          <p:cNvPr id="14" name="TextBox 13"/>
          <p:cNvSpPr txBox="1"/>
          <p:nvPr/>
        </p:nvSpPr>
        <p:spPr>
          <a:xfrm>
            <a:off x="1106424" y="2148840"/>
            <a:ext cx="1920240" cy="219456"/>
          </a:xfrm>
          <a:prstGeom prst="rect">
            <a:avLst/>
          </a:prstGeom>
          <a:noFill/>
        </p:spPr>
        <p:txBody>
          <a:bodyPr wrap="square" lIns="0" rIns="0" tIns="0" bIns="0" anchor="t">
            <a:spAutoFit/>
          </a:bodyPr>
          <a:lstStyle/>
          <a:p>
            <a:pPr algn="l">
              <a:spcAft>
                <a:spcPts val="400"/>
              </a:spcAft>
            </a:pPr>
            <a:r>
              <a:rPr sz="1200" b="1" i="0">
                <a:solidFill>
                  <a:srgbClr val="0B1220"/>
                </a:solidFill>
                <a:latin typeface="Consolas"/>
              </a:rPr>
              <a:t>kg_search</a:t>
            </a:r>
          </a:p>
        </p:txBody>
      </p:sp>
      <p:sp>
        <p:nvSpPr>
          <p:cNvPr id="15" name="TextBox 14"/>
          <p:cNvSpPr txBox="1"/>
          <p:nvPr/>
        </p:nvSpPr>
        <p:spPr>
          <a:xfrm>
            <a:off x="1106424" y="2414016"/>
            <a:ext cx="1920240" cy="201168"/>
          </a:xfrm>
          <a:prstGeom prst="rect">
            <a:avLst/>
          </a:prstGeom>
          <a:noFill/>
        </p:spPr>
        <p:txBody>
          <a:bodyPr wrap="square" lIns="0" rIns="0" tIns="0" bIns="0" anchor="t">
            <a:spAutoFit/>
          </a:bodyPr>
          <a:lstStyle/>
          <a:p>
            <a:pPr algn="l">
              <a:spcAft>
                <a:spcPts val="400"/>
              </a:spcAft>
            </a:pPr>
            <a:r>
              <a:rPr sz="800" b="0" i="0">
                <a:solidFill>
                  <a:srgbClr val="5A6B80"/>
                </a:solidFill>
                <a:latin typeface="Consolas"/>
              </a:rPr>
              <a:t>cortex_search</a:t>
            </a:r>
          </a:p>
        </p:txBody>
      </p:sp>
      <p:sp>
        <p:nvSpPr>
          <p:cNvPr id="16" name="TextBox 15"/>
          <p:cNvSpPr txBox="1"/>
          <p:nvPr/>
        </p:nvSpPr>
        <p:spPr>
          <a:xfrm>
            <a:off x="3200400" y="2194560"/>
            <a:ext cx="3566160" cy="475488"/>
          </a:xfrm>
          <a:prstGeom prst="rect">
            <a:avLst/>
          </a:prstGeom>
          <a:noFill/>
        </p:spPr>
        <p:txBody>
          <a:bodyPr wrap="square" lIns="0" rIns="0" tIns="0" bIns="0" anchor="t">
            <a:spAutoFit/>
          </a:bodyPr>
          <a:lstStyle/>
          <a:p>
            <a:pPr algn="l">
              <a:lnSpc>
                <a:spcPct val="115000"/>
              </a:lnSpc>
              <a:spcAft>
                <a:spcPts val="400"/>
              </a:spcAft>
            </a:pPr>
            <a:r>
              <a:rPr sz="1000" b="0" i="0">
                <a:solidFill>
                  <a:srgbClr val="0B1220"/>
                </a:solidFill>
                <a:latin typeface="Calibri"/>
              </a:rPr>
              <a:t>Retrieves passages from contracts, NCRs, scorecards, alerts</a:t>
            </a:r>
          </a:p>
        </p:txBody>
      </p:sp>
      <p:sp>
        <p:nvSpPr>
          <p:cNvPr id="17" name="TextBox 16"/>
          <p:cNvSpPr txBox="1"/>
          <p:nvPr/>
        </p:nvSpPr>
        <p:spPr>
          <a:xfrm>
            <a:off x="6903720" y="2194560"/>
            <a:ext cx="1783080" cy="219456"/>
          </a:xfrm>
          <a:prstGeom prst="rect">
            <a:avLst/>
          </a:prstGeom>
          <a:noFill/>
        </p:spPr>
        <p:txBody>
          <a:bodyPr wrap="square" lIns="0" rIns="0" tIns="0" bIns="0" anchor="t">
            <a:spAutoFit/>
          </a:bodyPr>
          <a:lstStyle/>
          <a:p>
            <a:pPr algn="l">
              <a:spcAft>
                <a:spcPts val="400"/>
              </a:spcAft>
            </a:pPr>
            <a:r>
              <a:rPr sz="750" b="1" i="0">
                <a:solidFill>
                  <a:srgbClr val="5A6B80"/>
                </a:solidFill>
                <a:latin typeface="Calibri"/>
              </a:rPr>
              <a:t>RESOURCE</a:t>
            </a:r>
          </a:p>
        </p:txBody>
      </p:sp>
      <p:sp>
        <p:nvSpPr>
          <p:cNvPr id="18" name="TextBox 17"/>
          <p:cNvSpPr txBox="1"/>
          <p:nvPr/>
        </p:nvSpPr>
        <p:spPr>
          <a:xfrm>
            <a:off x="6903720" y="2395728"/>
            <a:ext cx="1783080" cy="274320"/>
          </a:xfrm>
          <a:prstGeom prst="rect">
            <a:avLst/>
          </a:prstGeom>
          <a:noFill/>
        </p:spPr>
        <p:txBody>
          <a:bodyPr wrap="square" lIns="0" rIns="0" tIns="0" bIns="0" anchor="t">
            <a:spAutoFit/>
          </a:bodyPr>
          <a:lstStyle/>
          <a:p>
            <a:pPr algn="l">
              <a:spcAft>
                <a:spcPts val="400"/>
              </a:spcAft>
            </a:pPr>
            <a:r>
              <a:rPr sz="850" b="0" i="0">
                <a:solidFill>
                  <a:srgbClr val="F5A623"/>
                </a:solidFill>
                <a:latin typeface="Consolas"/>
              </a:rPr>
              <a:t>SCM_DOCUMENT_SEARCH</a:t>
            </a:r>
          </a:p>
        </p:txBody>
      </p:sp>
      <p:sp>
        <p:nvSpPr>
          <p:cNvPr id="19" name="Rounded Rectangle 18"/>
          <p:cNvSpPr/>
          <p:nvPr/>
        </p:nvSpPr>
        <p:spPr>
          <a:xfrm>
            <a:off x="411480" y="2907792"/>
            <a:ext cx="8321040" cy="76809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6072" y="3090672"/>
            <a:ext cx="402336" cy="402336"/>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S</a:t>
            </a:r>
          </a:p>
        </p:txBody>
      </p:sp>
      <p:sp>
        <p:nvSpPr>
          <p:cNvPr id="21" name="TextBox 20"/>
          <p:cNvSpPr txBox="1"/>
          <p:nvPr/>
        </p:nvSpPr>
        <p:spPr>
          <a:xfrm>
            <a:off x="1106424" y="3008376"/>
            <a:ext cx="1920240" cy="219456"/>
          </a:xfrm>
          <a:prstGeom prst="rect">
            <a:avLst/>
          </a:prstGeom>
          <a:noFill/>
        </p:spPr>
        <p:txBody>
          <a:bodyPr wrap="square" lIns="0" rIns="0" tIns="0" bIns="0" anchor="t">
            <a:spAutoFit/>
          </a:bodyPr>
          <a:lstStyle/>
          <a:p>
            <a:pPr algn="l">
              <a:spcAft>
                <a:spcPts val="400"/>
              </a:spcAft>
            </a:pPr>
            <a:r>
              <a:rPr sz="1200" b="1" i="0">
                <a:solidFill>
                  <a:srgbClr val="0B1220"/>
                </a:solidFill>
                <a:latin typeface="Consolas"/>
              </a:rPr>
              <a:t>sql_exec</a:t>
            </a:r>
          </a:p>
        </p:txBody>
      </p:sp>
      <p:sp>
        <p:nvSpPr>
          <p:cNvPr id="22" name="TextBox 21"/>
          <p:cNvSpPr txBox="1"/>
          <p:nvPr/>
        </p:nvSpPr>
        <p:spPr>
          <a:xfrm>
            <a:off x="1106424" y="3273552"/>
            <a:ext cx="1920240" cy="201168"/>
          </a:xfrm>
          <a:prstGeom prst="rect">
            <a:avLst/>
          </a:prstGeom>
          <a:noFill/>
        </p:spPr>
        <p:txBody>
          <a:bodyPr wrap="square" lIns="0" rIns="0" tIns="0" bIns="0" anchor="t">
            <a:spAutoFit/>
          </a:bodyPr>
          <a:lstStyle/>
          <a:p>
            <a:pPr algn="l">
              <a:spcAft>
                <a:spcPts val="400"/>
              </a:spcAft>
            </a:pPr>
            <a:r>
              <a:rPr sz="800" b="0" i="0">
                <a:solidFill>
                  <a:srgbClr val="5A6B80"/>
                </a:solidFill>
                <a:latin typeface="Consolas"/>
              </a:rPr>
              <a:t>sql_exec</a:t>
            </a:r>
          </a:p>
        </p:txBody>
      </p:sp>
      <p:sp>
        <p:nvSpPr>
          <p:cNvPr id="23" name="TextBox 22"/>
          <p:cNvSpPr txBox="1"/>
          <p:nvPr/>
        </p:nvSpPr>
        <p:spPr>
          <a:xfrm>
            <a:off x="3200400" y="3054096"/>
            <a:ext cx="3566160" cy="475488"/>
          </a:xfrm>
          <a:prstGeom prst="rect">
            <a:avLst/>
          </a:prstGeom>
          <a:noFill/>
        </p:spPr>
        <p:txBody>
          <a:bodyPr wrap="square" lIns="0" rIns="0" tIns="0" bIns="0" anchor="t">
            <a:spAutoFit/>
          </a:bodyPr>
          <a:lstStyle/>
          <a:p>
            <a:pPr algn="l">
              <a:lnSpc>
                <a:spcPct val="115000"/>
              </a:lnSpc>
              <a:spcAft>
                <a:spcPts val="400"/>
              </a:spcAft>
            </a:pPr>
            <a:r>
              <a:rPr sz="1000" b="0" i="0">
                <a:solidFill>
                  <a:srgbClr val="0B1220"/>
                </a:solidFill>
                <a:latin typeface="Calibri"/>
              </a:rPr>
              <a:t>Executes the generated SQL and returns typed rows</a:t>
            </a:r>
          </a:p>
        </p:txBody>
      </p:sp>
      <p:sp>
        <p:nvSpPr>
          <p:cNvPr id="24" name="TextBox 23"/>
          <p:cNvSpPr txBox="1"/>
          <p:nvPr/>
        </p:nvSpPr>
        <p:spPr>
          <a:xfrm>
            <a:off x="6903720" y="3054096"/>
            <a:ext cx="1783080" cy="219456"/>
          </a:xfrm>
          <a:prstGeom prst="rect">
            <a:avLst/>
          </a:prstGeom>
          <a:noFill/>
        </p:spPr>
        <p:txBody>
          <a:bodyPr wrap="square" lIns="0" rIns="0" tIns="0" bIns="0" anchor="t">
            <a:spAutoFit/>
          </a:bodyPr>
          <a:lstStyle/>
          <a:p>
            <a:pPr algn="l">
              <a:spcAft>
                <a:spcPts val="400"/>
              </a:spcAft>
            </a:pPr>
            <a:r>
              <a:rPr sz="750" b="1" i="0">
                <a:solidFill>
                  <a:srgbClr val="5A6B80"/>
                </a:solidFill>
                <a:latin typeface="Calibri"/>
              </a:rPr>
              <a:t>RESOURCE</a:t>
            </a:r>
          </a:p>
        </p:txBody>
      </p:sp>
      <p:sp>
        <p:nvSpPr>
          <p:cNvPr id="25" name="TextBox 24"/>
          <p:cNvSpPr txBox="1"/>
          <p:nvPr/>
        </p:nvSpPr>
        <p:spPr>
          <a:xfrm>
            <a:off x="6903720" y="3255264"/>
            <a:ext cx="1783080" cy="274320"/>
          </a:xfrm>
          <a:prstGeom prst="rect">
            <a:avLst/>
          </a:prstGeom>
          <a:noFill/>
        </p:spPr>
        <p:txBody>
          <a:bodyPr wrap="square" lIns="0" rIns="0" tIns="0" bIns="0" anchor="t">
            <a:spAutoFit/>
          </a:bodyPr>
          <a:lstStyle/>
          <a:p>
            <a:pPr algn="l">
              <a:spcAft>
                <a:spcPts val="400"/>
              </a:spcAft>
            </a:pPr>
            <a:r>
              <a:rPr sz="850" b="0" i="0">
                <a:solidFill>
                  <a:srgbClr val="00C2B2"/>
                </a:solidFill>
                <a:latin typeface="Consolas"/>
              </a:rPr>
              <a:t>COMPUTE_WH</a:t>
            </a:r>
          </a:p>
        </p:txBody>
      </p:sp>
      <p:sp>
        <p:nvSpPr>
          <p:cNvPr id="26" name="Rounded Rectangle 25"/>
          <p:cNvSpPr/>
          <p:nvPr/>
        </p:nvSpPr>
        <p:spPr>
          <a:xfrm>
            <a:off x="411480" y="3767328"/>
            <a:ext cx="8321040" cy="768096"/>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76072" y="3950208"/>
            <a:ext cx="402336" cy="402336"/>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D</a:t>
            </a:r>
          </a:p>
        </p:txBody>
      </p:sp>
      <p:sp>
        <p:nvSpPr>
          <p:cNvPr id="28" name="TextBox 27"/>
          <p:cNvSpPr txBox="1"/>
          <p:nvPr/>
        </p:nvSpPr>
        <p:spPr>
          <a:xfrm>
            <a:off x="1106424" y="3867912"/>
            <a:ext cx="1920240" cy="219456"/>
          </a:xfrm>
          <a:prstGeom prst="rect">
            <a:avLst/>
          </a:prstGeom>
          <a:noFill/>
        </p:spPr>
        <p:txBody>
          <a:bodyPr wrap="square" lIns="0" rIns="0" tIns="0" bIns="0" anchor="t">
            <a:spAutoFit/>
          </a:bodyPr>
          <a:lstStyle/>
          <a:p>
            <a:pPr algn="l">
              <a:spcAft>
                <a:spcPts val="400"/>
              </a:spcAft>
            </a:pPr>
            <a:r>
              <a:rPr sz="1200" b="1" i="0">
                <a:solidFill>
                  <a:srgbClr val="0B1220"/>
                </a:solidFill>
                <a:latin typeface="Consolas"/>
              </a:rPr>
              <a:t>data_to_chart</a:t>
            </a:r>
          </a:p>
        </p:txBody>
      </p:sp>
      <p:sp>
        <p:nvSpPr>
          <p:cNvPr id="29" name="TextBox 28"/>
          <p:cNvSpPr txBox="1"/>
          <p:nvPr/>
        </p:nvSpPr>
        <p:spPr>
          <a:xfrm>
            <a:off x="1106424" y="4133088"/>
            <a:ext cx="1920240" cy="201168"/>
          </a:xfrm>
          <a:prstGeom prst="rect">
            <a:avLst/>
          </a:prstGeom>
          <a:noFill/>
        </p:spPr>
        <p:txBody>
          <a:bodyPr wrap="square" lIns="0" rIns="0" tIns="0" bIns="0" anchor="t">
            <a:spAutoFit/>
          </a:bodyPr>
          <a:lstStyle/>
          <a:p>
            <a:pPr algn="l">
              <a:spcAft>
                <a:spcPts val="400"/>
              </a:spcAft>
            </a:pPr>
            <a:r>
              <a:rPr sz="800" b="0" i="0">
                <a:solidFill>
                  <a:srgbClr val="5A6B80"/>
                </a:solidFill>
                <a:latin typeface="Consolas"/>
              </a:rPr>
              <a:t>data_to_chart</a:t>
            </a:r>
          </a:p>
        </p:txBody>
      </p:sp>
      <p:sp>
        <p:nvSpPr>
          <p:cNvPr id="30" name="TextBox 29"/>
          <p:cNvSpPr txBox="1"/>
          <p:nvPr/>
        </p:nvSpPr>
        <p:spPr>
          <a:xfrm>
            <a:off x="3200400" y="3913632"/>
            <a:ext cx="3566160" cy="475488"/>
          </a:xfrm>
          <a:prstGeom prst="rect">
            <a:avLst/>
          </a:prstGeom>
          <a:noFill/>
        </p:spPr>
        <p:txBody>
          <a:bodyPr wrap="square" lIns="0" rIns="0" tIns="0" bIns="0" anchor="t">
            <a:spAutoFit/>
          </a:bodyPr>
          <a:lstStyle/>
          <a:p>
            <a:pPr algn="l">
              <a:lnSpc>
                <a:spcPct val="115000"/>
              </a:lnSpc>
              <a:spcAft>
                <a:spcPts val="400"/>
              </a:spcAft>
            </a:pPr>
            <a:r>
              <a:rPr sz="1000" b="0" i="0">
                <a:solidFill>
                  <a:srgbClr val="0B1220"/>
                </a:solidFill>
                <a:latin typeface="Calibri"/>
              </a:rPr>
              <a:t>Emits a Vega-Lite spec the UI renders directly</a:t>
            </a:r>
          </a:p>
        </p:txBody>
      </p:sp>
      <p:sp>
        <p:nvSpPr>
          <p:cNvPr id="31" name="TextBox 30"/>
          <p:cNvSpPr txBox="1"/>
          <p:nvPr/>
        </p:nvSpPr>
        <p:spPr>
          <a:xfrm>
            <a:off x="6903720" y="3913632"/>
            <a:ext cx="1783080" cy="219456"/>
          </a:xfrm>
          <a:prstGeom prst="rect">
            <a:avLst/>
          </a:prstGeom>
          <a:noFill/>
        </p:spPr>
        <p:txBody>
          <a:bodyPr wrap="square" lIns="0" rIns="0" tIns="0" bIns="0" anchor="t">
            <a:spAutoFit/>
          </a:bodyPr>
          <a:lstStyle/>
          <a:p>
            <a:pPr algn="l">
              <a:spcAft>
                <a:spcPts val="400"/>
              </a:spcAft>
            </a:pPr>
            <a:r>
              <a:rPr sz="750" b="1" i="0">
                <a:solidFill>
                  <a:srgbClr val="5A6B80"/>
                </a:solidFill>
                <a:latin typeface="Calibri"/>
              </a:rPr>
              <a:t>RESOURCE</a:t>
            </a:r>
          </a:p>
        </p:txBody>
      </p:sp>
      <p:sp>
        <p:nvSpPr>
          <p:cNvPr id="32" name="TextBox 31"/>
          <p:cNvSpPr txBox="1"/>
          <p:nvPr/>
        </p:nvSpPr>
        <p:spPr>
          <a:xfrm>
            <a:off x="6903720" y="4114800"/>
            <a:ext cx="1783080" cy="274320"/>
          </a:xfrm>
          <a:prstGeom prst="rect">
            <a:avLst/>
          </a:prstGeom>
          <a:noFill/>
        </p:spPr>
        <p:txBody>
          <a:bodyPr wrap="square" lIns="0" rIns="0" tIns="0" bIns="0" anchor="t">
            <a:spAutoFit/>
          </a:bodyPr>
          <a:lstStyle/>
          <a:p>
            <a:pPr algn="l">
              <a:spcAft>
                <a:spcPts val="400"/>
              </a:spcAft>
            </a:pPr>
            <a:r>
              <a:rPr sz="850" b="0" i="0">
                <a:solidFill>
                  <a:srgbClr val="8A5CF6"/>
                </a:solidFill>
                <a:latin typeface="Consolas"/>
              </a:rPr>
              <a:t>— no resource needed</a:t>
            </a:r>
          </a:p>
        </p:txBody>
      </p:sp>
      <p:sp>
        <p:nvSpPr>
          <p:cNvPr id="33" name="TextBox 32"/>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Tool definitions live in app.py — AGENT_TOOLS and AGENT_TOOL_RESOURCES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Why the tools are inline, not stored</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A design decision, discovered the hard way</a:t>
            </a:r>
          </a:p>
        </p:txBody>
      </p:sp>
      <p:sp>
        <p:nvSpPr>
          <p:cNvPr id="5" name="Rounded Rectangle 4"/>
          <p:cNvSpPr/>
          <p:nvPr/>
        </p:nvSpPr>
        <p:spPr>
          <a:xfrm>
            <a:off x="411480" y="1207008"/>
            <a:ext cx="4069080" cy="1755648"/>
          </a:xfrm>
          <a:prstGeom prst="roundRect">
            <a:avLst>
              <a:gd name="adj" fmla="val 6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76072" y="1316736"/>
            <a:ext cx="3739896" cy="237744"/>
          </a:xfrm>
          <a:prstGeom prst="rect">
            <a:avLst/>
          </a:prstGeom>
          <a:noFill/>
        </p:spPr>
        <p:txBody>
          <a:bodyPr wrap="square" lIns="0" rIns="0" tIns="0" bIns="0" anchor="t">
            <a:spAutoFit/>
          </a:bodyPr>
          <a:lstStyle/>
          <a:p>
            <a:pPr algn="l">
              <a:spcAft>
                <a:spcPts val="400"/>
              </a:spcAft>
            </a:pPr>
            <a:r>
              <a:rPr sz="1200" b="1" i="0">
                <a:solidFill>
                  <a:srgbClr val="E4572E"/>
                </a:solidFill>
                <a:latin typeface="Cambria"/>
              </a:rPr>
              <a:t>Stored AGENT object</a:t>
            </a:r>
          </a:p>
        </p:txBody>
      </p:sp>
      <p:sp>
        <p:nvSpPr>
          <p:cNvPr id="7" name="Oval 6"/>
          <p:cNvSpPr/>
          <p:nvPr/>
        </p:nvSpPr>
        <p:spPr>
          <a:xfrm>
            <a:off x="576072" y="1696212"/>
            <a:ext cx="59436" cy="59436"/>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58952" y="1645920"/>
            <a:ext cx="3557016" cy="47548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ALTER cannot set a spec. </a:t>
            </a:r>
            <a:r>
              <a:rPr sz="1000" b="0">
                <a:solidFill>
                  <a:srgbClr val="5A6B80"/>
                </a:solidFill>
                <a:latin typeface="Calibri"/>
              </a:rPr>
              <a:t>Only CREATE OR REPLACE works — which discards existing conversation threads.</a:t>
            </a:r>
          </a:p>
        </p:txBody>
      </p:sp>
      <p:sp>
        <p:nvSpPr>
          <p:cNvPr id="9" name="Oval 8"/>
          <p:cNvSpPr/>
          <p:nvPr/>
        </p:nvSpPr>
        <p:spPr>
          <a:xfrm>
            <a:off x="576072" y="2171700"/>
            <a:ext cx="59436" cy="59436"/>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2" y="2121408"/>
            <a:ext cx="3557016" cy="47548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DDL to change a prompt. </a:t>
            </a:r>
            <a:r>
              <a:rPr sz="1000" b="0">
                <a:solidFill>
                  <a:srgbClr val="5A6B80"/>
                </a:solidFill>
                <a:latin typeface="Calibri"/>
              </a:rPr>
              <a:t>Config drifts from the code that depends on it.</a:t>
            </a:r>
          </a:p>
        </p:txBody>
      </p:sp>
      <p:sp>
        <p:nvSpPr>
          <p:cNvPr id="11" name="Oval 10"/>
          <p:cNvSpPr/>
          <p:nvPr/>
        </p:nvSpPr>
        <p:spPr>
          <a:xfrm>
            <a:off x="576072" y="2647188"/>
            <a:ext cx="59436" cy="59436"/>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58952" y="2596896"/>
            <a:ext cx="3557016" cy="47548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Shared blast radius. </a:t>
            </a:r>
            <a:r>
              <a:rPr sz="1000" b="0">
                <a:solidFill>
                  <a:srgbClr val="5A6B80"/>
                </a:solidFill>
                <a:latin typeface="Calibri"/>
              </a:rPr>
              <a:t>Other clients break when you retune.</a:t>
            </a:r>
          </a:p>
        </p:txBody>
      </p:sp>
      <p:sp>
        <p:nvSpPr>
          <p:cNvPr id="13" name="Rounded Rectangle 12"/>
          <p:cNvSpPr/>
          <p:nvPr/>
        </p:nvSpPr>
        <p:spPr>
          <a:xfrm>
            <a:off x="4663440" y="1207008"/>
            <a:ext cx="4069080" cy="1755648"/>
          </a:xfrm>
          <a:prstGeom prst="roundRect">
            <a:avLst>
              <a:gd name="adj" fmla="val 6000"/>
            </a:avLst>
          </a:prstGeom>
          <a:solidFill>
            <a:srgbClr val="EC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828032" y="1316736"/>
            <a:ext cx="3739896" cy="237744"/>
          </a:xfrm>
          <a:prstGeom prst="rect">
            <a:avLst/>
          </a:prstGeom>
          <a:noFill/>
        </p:spPr>
        <p:txBody>
          <a:bodyPr wrap="square" lIns="0" rIns="0" tIns="0" bIns="0" anchor="t">
            <a:spAutoFit/>
          </a:bodyPr>
          <a:lstStyle/>
          <a:p>
            <a:pPr algn="l">
              <a:spcAft>
                <a:spcPts val="400"/>
              </a:spcAft>
            </a:pPr>
            <a:r>
              <a:rPr sz="1200" b="1" i="0">
                <a:solidFill>
                  <a:srgbClr val="2E9E5B"/>
                </a:solidFill>
                <a:latin typeface="Cambria"/>
              </a:rPr>
              <a:t>Inline on every request</a:t>
            </a:r>
          </a:p>
        </p:txBody>
      </p:sp>
      <p:sp>
        <p:nvSpPr>
          <p:cNvPr id="15" name="Oval 14"/>
          <p:cNvSpPr/>
          <p:nvPr/>
        </p:nvSpPr>
        <p:spPr>
          <a:xfrm>
            <a:off x="4828032" y="1696212"/>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010912" y="1645920"/>
            <a:ext cx="3557016" cy="47548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Version controlled. </a:t>
            </a:r>
            <a:r>
              <a:rPr sz="1000" b="0">
                <a:solidFill>
                  <a:srgbClr val="5A6B80"/>
                </a:solidFill>
                <a:latin typeface="Calibri"/>
              </a:rPr>
              <a:t>Tool changes arrive through code review.</a:t>
            </a:r>
          </a:p>
        </p:txBody>
      </p:sp>
      <p:sp>
        <p:nvSpPr>
          <p:cNvPr id="17" name="Oval 16"/>
          <p:cNvSpPr/>
          <p:nvPr/>
        </p:nvSpPr>
        <p:spPr>
          <a:xfrm>
            <a:off x="4828032" y="2171700"/>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10912" y="2121408"/>
            <a:ext cx="3557016" cy="47548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No deployment step. </a:t>
            </a:r>
            <a:r>
              <a:rPr sz="1000" b="0">
                <a:solidFill>
                  <a:srgbClr val="5A6B80"/>
                </a:solidFill>
                <a:latin typeface="Calibri"/>
              </a:rPr>
              <a:t>Nothing to create, grant or migrate.</a:t>
            </a:r>
          </a:p>
        </p:txBody>
      </p:sp>
      <p:sp>
        <p:nvSpPr>
          <p:cNvPr id="19" name="Oval 18"/>
          <p:cNvSpPr/>
          <p:nvPr/>
        </p:nvSpPr>
        <p:spPr>
          <a:xfrm>
            <a:off x="4828032" y="2647188"/>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10912" y="2596896"/>
            <a:ext cx="3557016" cy="47548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Per-request control. </a:t>
            </a:r>
            <a:r>
              <a:rPr sz="1000" b="0">
                <a:solidFill>
                  <a:srgbClr val="5A6B80"/>
                </a:solidFill>
                <a:latin typeface="Calibri"/>
              </a:rPr>
              <a:t>A “concise” toggle can change instructions for one call.</a:t>
            </a:r>
          </a:p>
        </p:txBody>
      </p:sp>
      <p:sp>
        <p:nvSpPr>
          <p:cNvPr id="21" name="Rounded Rectangle 20"/>
          <p:cNvSpPr/>
          <p:nvPr/>
        </p:nvSpPr>
        <p:spPr>
          <a:xfrm>
            <a:off x="411480" y="3127248"/>
            <a:ext cx="8321040" cy="1207008"/>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1208" y="3209544"/>
            <a:ext cx="8101584" cy="1042416"/>
          </a:xfrm>
          <a:prstGeom prst="rect">
            <a:avLst/>
          </a:prstGeom>
          <a:noFill/>
        </p:spPr>
        <p:txBody>
          <a:bodyPr wrap="square" lIns="0" rIns="0" tIns="0" bIns="0">
            <a:spAutoFit/>
          </a:bodyPr>
          <a:lstStyle/>
          <a:p>
            <a:pPr>
              <a:spcAft>
                <a:spcPts val="100"/>
              </a:spcAft>
            </a:pPr>
            <a:r>
              <a:rPr sz="850">
                <a:solidFill>
                  <a:srgbClr val="00C2B2"/>
                </a:solidFill>
                <a:latin typeface="Consolas"/>
              </a:rPr>
              <a:t>POST https://&lt;account&gt;.snowflakecomputing.com/api/v2/cortex/agent:run</a:t>
            </a:r>
          </a:p>
          <a:p>
            <a:pPr>
              <a:spcAft>
                <a:spcPts val="100"/>
              </a:spcAft>
            </a:pPr>
            <a:r>
              <a:rPr sz="850">
                <a:solidFill>
                  <a:srgbClr val="FFFFFF"/>
                </a:solidFill>
                <a:latin typeface="Consolas"/>
              </a:rPr>
              <a:t/>
            </a:r>
          </a:p>
          <a:p>
            <a:pPr>
              <a:spcAft>
                <a:spcPts val="100"/>
              </a:spcAft>
            </a:pPr>
            <a:r>
              <a:rPr sz="850">
                <a:solidFill>
                  <a:srgbClr val="FFFFFF"/>
                </a:solidFill>
                <a:latin typeface="Consolas"/>
              </a:rPr>
              <a:t>{ "models":  { "orchestration": "claude-sonnet-4-6" },</a:t>
            </a:r>
          </a:p>
          <a:p>
            <a:pPr>
              <a:spcAft>
                <a:spcPts val="100"/>
              </a:spcAft>
            </a:pPr>
            <a:r>
              <a:rPr sz="850">
                <a:solidFill>
                  <a:srgbClr val="FFFFFF"/>
                </a:solidFill>
                <a:latin typeface="Consolas"/>
              </a:rPr>
              <a:t>  "tools":   [ kg_analyst, kg_search, sql_exec, data_to_chart ],</a:t>
            </a:r>
          </a:p>
          <a:p>
            <a:pPr>
              <a:spcAft>
                <a:spcPts val="100"/>
              </a:spcAft>
            </a:pPr>
            <a:r>
              <a:rPr sz="850">
                <a:solidFill>
                  <a:srgbClr val="FFFFFF"/>
                </a:solidFill>
                <a:latin typeface="Consolas"/>
              </a:rPr>
              <a:t>  "messages":[ { "role": "user", "content": [...] } ] }</a:t>
            </a:r>
          </a:p>
          <a:p>
            <a:pPr>
              <a:spcAft>
                <a:spcPts val="100"/>
              </a:spcAft>
            </a:pPr>
            <a:r>
              <a:rPr sz="850">
                <a:solidFill>
                  <a:srgbClr val="FFFFFF"/>
                </a:solidFill>
                <a:latin typeface="Consolas"/>
              </a:rPr>
              <a:t/>
            </a:r>
          </a:p>
          <a:p>
            <a:pPr>
              <a:spcAft>
                <a:spcPts val="100"/>
              </a:spcAft>
            </a:pPr>
            <a:r>
              <a:rPr sz="850">
                <a:solidFill>
                  <a:srgbClr val="F5A623"/>
                </a:solidFill>
                <a:latin typeface="Consolas"/>
              </a:rPr>
              <a:t>X-Snowflake-Authorization-Token-Type: PROGRAMMATIC_ACCESS_TOKEN   ← required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Conversation memory</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agent:run is stateless, so the app carries the transcript</a:t>
            </a:r>
          </a:p>
        </p:txBody>
      </p:sp>
      <p:sp>
        <p:nvSpPr>
          <p:cNvPr id="5" name="Rounded Rectangle 4"/>
          <p:cNvSpPr/>
          <p:nvPr/>
        </p:nvSpPr>
        <p:spPr>
          <a:xfrm>
            <a:off x="411480" y="1207008"/>
            <a:ext cx="4059936" cy="210312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76072" y="1316736"/>
            <a:ext cx="3730752"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A real exchange</a:t>
            </a:r>
          </a:p>
        </p:txBody>
      </p:sp>
      <p:sp>
        <p:nvSpPr>
          <p:cNvPr id="7" name="TextBox 6"/>
          <p:cNvSpPr txBox="1"/>
          <p:nvPr/>
        </p:nvSpPr>
        <p:spPr>
          <a:xfrm>
            <a:off x="576072" y="1645920"/>
            <a:ext cx="384048" cy="201168"/>
          </a:xfrm>
          <a:prstGeom prst="rect">
            <a:avLst/>
          </a:prstGeom>
          <a:noFill/>
        </p:spPr>
        <p:txBody>
          <a:bodyPr wrap="square" lIns="0" rIns="0" tIns="0" bIns="0" anchor="t">
            <a:spAutoFit/>
          </a:bodyPr>
          <a:lstStyle/>
          <a:p>
            <a:pPr algn="l">
              <a:spcAft>
                <a:spcPts val="400"/>
              </a:spcAft>
            </a:pPr>
            <a:r>
              <a:rPr sz="900" b="1" i="0">
                <a:solidFill>
                  <a:srgbClr val="18A0FB"/>
                </a:solidFill>
                <a:latin typeface="Consolas"/>
              </a:rPr>
              <a:t>Q1</a:t>
            </a:r>
          </a:p>
        </p:txBody>
      </p:sp>
      <p:sp>
        <p:nvSpPr>
          <p:cNvPr id="8" name="TextBox 7"/>
          <p:cNvSpPr txBox="1"/>
          <p:nvPr/>
        </p:nvSpPr>
        <p:spPr>
          <a:xfrm>
            <a:off x="978408" y="1645920"/>
            <a:ext cx="3310128" cy="329184"/>
          </a:xfrm>
          <a:prstGeom prst="rect">
            <a:avLst/>
          </a:prstGeom>
          <a:noFill/>
        </p:spPr>
        <p:txBody>
          <a:bodyPr wrap="square" lIns="0" rIns="0" tIns="0" bIns="0" anchor="t">
            <a:spAutoFit/>
          </a:bodyPr>
          <a:lstStyle/>
          <a:p>
            <a:pPr algn="l">
              <a:lnSpc>
                <a:spcPct val="112000"/>
              </a:lnSpc>
              <a:spcAft>
                <a:spcPts val="400"/>
              </a:spcAft>
            </a:pPr>
            <a:r>
              <a:rPr sz="950" b="0" i="0">
                <a:solidFill>
                  <a:srgbClr val="0B1220"/>
                </a:solidFill>
                <a:latin typeface="Calibri"/>
              </a:rPr>
              <a:t>List the top 5 supplier sites by betweenness. Number them 1 to 5.</a:t>
            </a:r>
          </a:p>
        </p:txBody>
      </p:sp>
      <p:sp>
        <p:nvSpPr>
          <p:cNvPr id="9" name="TextBox 8"/>
          <p:cNvSpPr txBox="1"/>
          <p:nvPr/>
        </p:nvSpPr>
        <p:spPr>
          <a:xfrm>
            <a:off x="576072" y="2011680"/>
            <a:ext cx="384048" cy="201168"/>
          </a:xfrm>
          <a:prstGeom prst="rect">
            <a:avLst/>
          </a:prstGeom>
          <a:noFill/>
        </p:spPr>
        <p:txBody>
          <a:bodyPr wrap="square" lIns="0" rIns="0" tIns="0" bIns="0" anchor="t">
            <a:spAutoFit/>
          </a:bodyPr>
          <a:lstStyle/>
          <a:p>
            <a:pPr algn="l">
              <a:spcAft>
                <a:spcPts val="400"/>
              </a:spcAft>
            </a:pPr>
            <a:r>
              <a:rPr sz="900" b="1" i="0">
                <a:solidFill>
                  <a:srgbClr val="8A5CF6"/>
                </a:solidFill>
                <a:latin typeface="Consolas"/>
              </a:rPr>
              <a:t>Q2</a:t>
            </a:r>
          </a:p>
        </p:txBody>
      </p:sp>
      <p:sp>
        <p:nvSpPr>
          <p:cNvPr id="10" name="TextBox 9"/>
          <p:cNvSpPr txBox="1"/>
          <p:nvPr/>
        </p:nvSpPr>
        <p:spPr>
          <a:xfrm>
            <a:off x="978408" y="2011680"/>
            <a:ext cx="3310128" cy="329184"/>
          </a:xfrm>
          <a:prstGeom prst="rect">
            <a:avLst/>
          </a:prstGeom>
          <a:noFill/>
        </p:spPr>
        <p:txBody>
          <a:bodyPr wrap="square" lIns="0" rIns="0" tIns="0" bIns="0" anchor="t">
            <a:spAutoFit/>
          </a:bodyPr>
          <a:lstStyle/>
          <a:p>
            <a:pPr algn="l">
              <a:lnSpc>
                <a:spcPct val="112000"/>
              </a:lnSpc>
              <a:spcAft>
                <a:spcPts val="400"/>
              </a:spcAft>
            </a:pPr>
            <a:r>
              <a:rPr sz="950" b="0" i="0">
                <a:solidFill>
                  <a:srgbClr val="0B1220"/>
                </a:solidFill>
                <a:latin typeface="Calibri"/>
              </a:rPr>
              <a:t>What country is number 4 in?</a:t>
            </a:r>
          </a:p>
        </p:txBody>
      </p:sp>
      <p:sp>
        <p:nvSpPr>
          <p:cNvPr id="11" name="TextBox 10"/>
          <p:cNvSpPr txBox="1"/>
          <p:nvPr/>
        </p:nvSpPr>
        <p:spPr>
          <a:xfrm>
            <a:off x="576072" y="2377440"/>
            <a:ext cx="384048" cy="201168"/>
          </a:xfrm>
          <a:prstGeom prst="rect">
            <a:avLst/>
          </a:prstGeom>
          <a:noFill/>
        </p:spPr>
        <p:txBody>
          <a:bodyPr wrap="square" lIns="0" rIns="0" tIns="0" bIns="0" anchor="t">
            <a:spAutoFit/>
          </a:bodyPr>
          <a:lstStyle/>
          <a:p>
            <a:pPr algn="l">
              <a:spcAft>
                <a:spcPts val="400"/>
              </a:spcAft>
            </a:pPr>
            <a:r>
              <a:rPr sz="900" b="1" i="0">
                <a:solidFill>
                  <a:srgbClr val="2E9E5B"/>
                </a:solidFill>
                <a:latin typeface="Consolas"/>
              </a:rPr>
              <a:t>A2</a:t>
            </a:r>
          </a:p>
        </p:txBody>
      </p:sp>
      <p:sp>
        <p:nvSpPr>
          <p:cNvPr id="12" name="TextBox 11"/>
          <p:cNvSpPr txBox="1"/>
          <p:nvPr/>
        </p:nvSpPr>
        <p:spPr>
          <a:xfrm>
            <a:off x="978408" y="2377440"/>
            <a:ext cx="3310128" cy="329184"/>
          </a:xfrm>
          <a:prstGeom prst="rect">
            <a:avLst/>
          </a:prstGeom>
          <a:noFill/>
        </p:spPr>
        <p:txBody>
          <a:bodyPr wrap="square" lIns="0" rIns="0" tIns="0" bIns="0" anchor="t">
            <a:spAutoFit/>
          </a:bodyPr>
          <a:lstStyle/>
          <a:p>
            <a:pPr algn="l">
              <a:lnSpc>
                <a:spcPct val="112000"/>
              </a:lnSpc>
              <a:spcAft>
                <a:spcPts val="400"/>
              </a:spcAft>
            </a:pPr>
            <a:r>
              <a:rPr sz="950" b="0" i="0">
                <a:solidFill>
                  <a:srgbClr val="5A6B80"/>
                </a:solidFill>
                <a:latin typeface="Calibri"/>
              </a:rPr>
              <a:t>CREST MANUFACTURING – Manila → Philippines</a:t>
            </a:r>
          </a:p>
        </p:txBody>
      </p:sp>
      <p:sp>
        <p:nvSpPr>
          <p:cNvPr id="13" name="TextBox 12"/>
          <p:cNvSpPr txBox="1"/>
          <p:nvPr/>
        </p:nvSpPr>
        <p:spPr>
          <a:xfrm>
            <a:off x="576072" y="2743200"/>
            <a:ext cx="384048" cy="201168"/>
          </a:xfrm>
          <a:prstGeom prst="rect">
            <a:avLst/>
          </a:prstGeom>
          <a:noFill/>
        </p:spPr>
        <p:txBody>
          <a:bodyPr wrap="square" lIns="0" rIns="0" tIns="0" bIns="0" anchor="t">
            <a:spAutoFit/>
          </a:bodyPr>
          <a:lstStyle/>
          <a:p>
            <a:pPr algn="l">
              <a:spcAft>
                <a:spcPts val="400"/>
              </a:spcAft>
            </a:pPr>
            <a:r>
              <a:rPr sz="900" b="1" i="0">
                <a:solidFill>
                  <a:srgbClr val="8A5CF6"/>
                </a:solidFill>
                <a:latin typeface="Consolas"/>
              </a:rPr>
              <a:t>Q3</a:t>
            </a:r>
          </a:p>
        </p:txBody>
      </p:sp>
      <p:sp>
        <p:nvSpPr>
          <p:cNvPr id="14" name="TextBox 13"/>
          <p:cNvSpPr txBox="1"/>
          <p:nvPr/>
        </p:nvSpPr>
        <p:spPr>
          <a:xfrm>
            <a:off x="978408" y="2743200"/>
            <a:ext cx="3310128" cy="329184"/>
          </a:xfrm>
          <a:prstGeom prst="rect">
            <a:avLst/>
          </a:prstGeom>
          <a:noFill/>
        </p:spPr>
        <p:txBody>
          <a:bodyPr wrap="square" lIns="0" rIns="0" tIns="0" bIns="0" anchor="t">
            <a:spAutoFit/>
          </a:bodyPr>
          <a:lstStyle/>
          <a:p>
            <a:pPr algn="l">
              <a:lnSpc>
                <a:spcPct val="112000"/>
              </a:lnSpc>
              <a:spcAft>
                <a:spcPts val="400"/>
              </a:spcAft>
            </a:pPr>
            <a:r>
              <a:rPr sz="950" b="0" i="0">
                <a:solidFill>
                  <a:srgbClr val="0B1220"/>
                </a:solidFill>
                <a:latin typeface="Calibri"/>
              </a:rPr>
              <a:t>And number 2?</a:t>
            </a:r>
          </a:p>
        </p:txBody>
      </p:sp>
      <p:sp>
        <p:nvSpPr>
          <p:cNvPr id="15" name="TextBox 14"/>
          <p:cNvSpPr txBox="1"/>
          <p:nvPr/>
        </p:nvSpPr>
        <p:spPr>
          <a:xfrm>
            <a:off x="576072" y="3108960"/>
            <a:ext cx="384048" cy="201168"/>
          </a:xfrm>
          <a:prstGeom prst="rect">
            <a:avLst/>
          </a:prstGeom>
          <a:noFill/>
        </p:spPr>
        <p:txBody>
          <a:bodyPr wrap="square" lIns="0" rIns="0" tIns="0" bIns="0" anchor="t">
            <a:spAutoFit/>
          </a:bodyPr>
          <a:lstStyle/>
          <a:p>
            <a:pPr algn="l">
              <a:spcAft>
                <a:spcPts val="400"/>
              </a:spcAft>
            </a:pPr>
            <a:r>
              <a:rPr sz="900" b="1" i="0">
                <a:solidFill>
                  <a:srgbClr val="2E9E5B"/>
                </a:solidFill>
                <a:latin typeface="Consolas"/>
              </a:rPr>
              <a:t>A3</a:t>
            </a:r>
          </a:p>
        </p:txBody>
      </p:sp>
      <p:sp>
        <p:nvSpPr>
          <p:cNvPr id="16" name="TextBox 15"/>
          <p:cNvSpPr txBox="1"/>
          <p:nvPr/>
        </p:nvSpPr>
        <p:spPr>
          <a:xfrm>
            <a:off x="978408" y="3108960"/>
            <a:ext cx="3310128" cy="329184"/>
          </a:xfrm>
          <a:prstGeom prst="rect">
            <a:avLst/>
          </a:prstGeom>
          <a:noFill/>
        </p:spPr>
        <p:txBody>
          <a:bodyPr wrap="square" lIns="0" rIns="0" tIns="0" bIns="0" anchor="t">
            <a:spAutoFit/>
          </a:bodyPr>
          <a:lstStyle/>
          <a:p>
            <a:pPr algn="l">
              <a:lnSpc>
                <a:spcPct val="112000"/>
              </a:lnSpc>
              <a:spcAft>
                <a:spcPts val="400"/>
              </a:spcAft>
            </a:pPr>
            <a:r>
              <a:rPr sz="950" b="0" i="0">
                <a:solidFill>
                  <a:srgbClr val="5A6B80"/>
                </a:solidFill>
                <a:latin typeface="Calibri"/>
              </a:rPr>
              <a:t>LAMBDA SEMICONDUCTORS – Guadalajara → Mexico</a:t>
            </a:r>
          </a:p>
        </p:txBody>
      </p:sp>
      <p:sp>
        <p:nvSpPr>
          <p:cNvPr id="17" name="Rounded Rectangle 16"/>
          <p:cNvSpPr/>
          <p:nvPr/>
        </p:nvSpPr>
        <p:spPr>
          <a:xfrm>
            <a:off x="4672584" y="1207008"/>
            <a:ext cx="4059936" cy="2103120"/>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37176" y="1316736"/>
            <a:ext cx="3730752"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How it is carried</a:t>
            </a:r>
          </a:p>
        </p:txBody>
      </p:sp>
      <p:sp>
        <p:nvSpPr>
          <p:cNvPr id="19" name="Oval 18"/>
          <p:cNvSpPr/>
          <p:nvPr/>
        </p:nvSpPr>
        <p:spPr>
          <a:xfrm>
            <a:off x="4837176" y="1714500"/>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20056" y="1664208"/>
            <a:ext cx="3511296" cy="457200"/>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6 turns </a:t>
            </a:r>
            <a:r>
              <a:rPr sz="1000" b="0">
                <a:solidFill>
                  <a:srgbClr val="5A6B80"/>
                </a:solidFill>
                <a:latin typeface="Calibri"/>
              </a:rPr>
              <a:t>replayed on every request</a:t>
            </a:r>
          </a:p>
        </p:txBody>
      </p:sp>
      <p:sp>
        <p:nvSpPr>
          <p:cNvPr id="21" name="Oval 20"/>
          <p:cNvSpPr/>
          <p:nvPr/>
        </p:nvSpPr>
        <p:spPr>
          <a:xfrm>
            <a:off x="4837176" y="2171700"/>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0056" y="2121408"/>
            <a:ext cx="3511296" cy="457200"/>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1,500 chars </a:t>
            </a:r>
            <a:r>
              <a:rPr sz="1000" b="0">
                <a:solidFill>
                  <a:srgbClr val="5A6B80"/>
                </a:solidFill>
                <a:latin typeface="Calibri"/>
              </a:rPr>
              <a:t>per answer, 8,000 across the transcript</a:t>
            </a:r>
          </a:p>
        </p:txBody>
      </p:sp>
      <p:sp>
        <p:nvSpPr>
          <p:cNvPr id="23" name="Oval 22"/>
          <p:cNvSpPr/>
          <p:nvPr/>
        </p:nvSpPr>
        <p:spPr>
          <a:xfrm>
            <a:off x="4837176" y="2628900"/>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0056" y="2578608"/>
            <a:ext cx="3511296" cy="457200"/>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Newest first, </a:t>
            </a:r>
            <a:r>
              <a:rPr sz="1000" b="0">
                <a:solidFill>
                  <a:srgbClr val="5A6B80"/>
                </a:solidFill>
                <a:latin typeface="Calibri"/>
              </a:rPr>
              <a:t>so the oldest turns drop when the budget runs out</a:t>
            </a:r>
          </a:p>
        </p:txBody>
      </p:sp>
      <p:sp>
        <p:nvSpPr>
          <p:cNvPr id="25" name="Oval 24"/>
          <p:cNvSpPr/>
          <p:nvPr/>
        </p:nvSpPr>
        <p:spPr>
          <a:xfrm>
            <a:off x="4837176" y="3086100"/>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0056" y="3035808"/>
            <a:ext cx="3511296" cy="457200"/>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Tagged context, </a:t>
            </a:r>
            <a:r>
              <a:rPr sz="1000" b="0">
                <a:solidFill>
                  <a:srgbClr val="5A6B80"/>
                </a:solidFill>
                <a:latin typeface="Calibri"/>
              </a:rPr>
              <a:t>instructing the agent not to re-answer them</a:t>
            </a:r>
          </a:p>
        </p:txBody>
      </p:sp>
      <p:sp>
        <p:nvSpPr>
          <p:cNvPr id="27" name="Rounded Rectangle 26"/>
          <p:cNvSpPr/>
          <p:nvPr/>
        </p:nvSpPr>
        <p:spPr>
          <a:xfrm>
            <a:off x="411480" y="3438144"/>
            <a:ext cx="8321040" cy="877824"/>
          </a:xfrm>
          <a:prstGeom prst="roundRect">
            <a:avLst>
              <a:gd name="adj" fmla="val 6000"/>
            </a:avLst>
          </a:prstGeom>
          <a:solidFill>
            <a:srgbClr val="E6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94360" y="3547872"/>
            <a:ext cx="7955280" cy="658368"/>
          </a:xfrm>
          <a:prstGeom prst="rect">
            <a:avLst/>
          </a:prstGeom>
          <a:noFill/>
        </p:spPr>
        <p:txBody>
          <a:bodyPr wrap="square" lIns="0" rIns="0" tIns="0" bIns="0" anchor="t">
            <a:spAutoFit/>
          </a:bodyPr>
          <a:lstStyle/>
          <a:p>
            <a:pPr algn="l">
              <a:lnSpc>
                <a:spcPct val="122000"/>
              </a:lnSpc>
              <a:spcAft>
                <a:spcPts val="400"/>
              </a:spcAft>
            </a:pPr>
            <a:r>
              <a:rPr sz="1050" b="0" i="0">
                <a:solidFill>
                  <a:srgbClr val="0B1220"/>
                </a:solidFill>
                <a:latin typeface="Calibri"/>
              </a:rPr>
              <a:t>The budget is the whole design. An earlier version truncated each answer to 400 characters — enough to cut a markdown table off after its header row, so “what country is number 4 in?” had nothing to resolve against. Sizing it to hold a whole table is what makes row-level follow-ups work.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6</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THE DEMO</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Running software.
Real answers.</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Every screenshot that follows was captured from the running prototype against the live Snowflake account — no mockups, no staged data.</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14/14</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sample questions answered</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9/10</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verified exact</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20–45s</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per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application</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Dashboard metrics read with plain SQL; chat answered by the agent</a:t>
            </a:r>
          </a:p>
        </p:txBody>
      </p:sp>
      <p:pic>
        <p:nvPicPr>
          <p:cNvPr id="5" name="Picture 4" descr="app_01_landing.png"/>
          <p:cNvPicPr>
            <a:picLocks noChangeAspect="1"/>
          </p:cNvPicPr>
          <p:nvPr/>
        </p:nvPicPr>
        <p:blipFill>
          <a:blip r:embed="rId4"/>
          <a:srcRect b="45000"/>
          <a:stretch>
            <a:fillRect/>
          </a:stretch>
        </p:blipFill>
        <p:spPr>
          <a:xfrm>
            <a:off x="1113905" y="1170432"/>
            <a:ext cx="6916189" cy="2377440"/>
          </a:xfrm>
          <a:prstGeom prst="rect">
            <a:avLst/>
          </a:prstGeom>
          <a:ln w="9525">
            <a:solidFill>
              <a:srgbClr val="D5DEE9"/>
            </a:solidFill>
          </a:ln>
        </p:spPr>
      </p:pic>
      <p:sp>
        <p:nvSpPr>
          <p:cNvPr id="6" name="Rounded Rectangle 5"/>
          <p:cNvSpPr/>
          <p:nvPr/>
        </p:nvSpPr>
        <p:spPr>
          <a:xfrm>
            <a:off x="411480" y="3712463"/>
            <a:ext cx="2682240" cy="69494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3803903"/>
            <a:ext cx="2499360" cy="402336"/>
          </a:xfrm>
          <a:prstGeom prst="rect">
            <a:avLst/>
          </a:prstGeom>
          <a:noFill/>
        </p:spPr>
        <p:txBody>
          <a:bodyPr wrap="square" lIns="0" rIns="0" tIns="0" bIns="0" anchor="t">
            <a:spAutoFit/>
          </a:bodyPr>
          <a:lstStyle/>
          <a:p>
            <a:pPr algn="ctr">
              <a:spcAft>
                <a:spcPts val="400"/>
              </a:spcAft>
            </a:pPr>
            <a:r>
              <a:rPr sz="1900" b="1" i="0">
                <a:solidFill>
                  <a:srgbClr val="18A0FB"/>
                </a:solidFill>
                <a:latin typeface="Cambria"/>
              </a:rPr>
              <a:t>$31.64B</a:t>
            </a:r>
          </a:p>
        </p:txBody>
      </p:sp>
      <p:sp>
        <p:nvSpPr>
          <p:cNvPr id="8" name="TextBox 7"/>
          <p:cNvSpPr txBox="1"/>
          <p:nvPr/>
        </p:nvSpPr>
        <p:spPr>
          <a:xfrm>
            <a:off x="484632" y="4096511"/>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inventory value, latest snapshot</a:t>
            </a:r>
          </a:p>
        </p:txBody>
      </p:sp>
      <p:sp>
        <p:nvSpPr>
          <p:cNvPr id="9" name="Rounded Rectangle 8"/>
          <p:cNvSpPr/>
          <p:nvPr/>
        </p:nvSpPr>
        <p:spPr>
          <a:xfrm>
            <a:off x="3230880" y="3712463"/>
            <a:ext cx="2682240" cy="69494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22320" y="3803903"/>
            <a:ext cx="2499360" cy="402336"/>
          </a:xfrm>
          <a:prstGeom prst="rect">
            <a:avLst/>
          </a:prstGeom>
          <a:noFill/>
        </p:spPr>
        <p:txBody>
          <a:bodyPr wrap="square" lIns="0" rIns="0" tIns="0" bIns="0" anchor="t">
            <a:spAutoFit/>
          </a:bodyPr>
          <a:lstStyle/>
          <a:p>
            <a:pPr algn="ctr">
              <a:spcAft>
                <a:spcPts val="400"/>
              </a:spcAft>
            </a:pPr>
            <a:r>
              <a:rPr sz="1900" b="1" i="0">
                <a:solidFill>
                  <a:srgbClr val="00C2B2"/>
                </a:solidFill>
                <a:latin typeface="Cambria"/>
              </a:rPr>
              <a:t>201 d</a:t>
            </a:r>
          </a:p>
        </p:txBody>
      </p:sp>
      <p:sp>
        <p:nvSpPr>
          <p:cNvPr id="11" name="TextBox 10"/>
          <p:cNvSpPr txBox="1"/>
          <p:nvPr/>
        </p:nvSpPr>
        <p:spPr>
          <a:xfrm>
            <a:off x="3304032" y="4096511"/>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median days of inventory</a:t>
            </a:r>
          </a:p>
        </p:txBody>
      </p:sp>
      <p:sp>
        <p:nvSpPr>
          <p:cNvPr id="12" name="Rounded Rectangle 11"/>
          <p:cNvSpPr/>
          <p:nvPr/>
        </p:nvSpPr>
        <p:spPr>
          <a:xfrm>
            <a:off x="6050280" y="3712463"/>
            <a:ext cx="2682240" cy="69494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1720" y="3803903"/>
            <a:ext cx="2499360" cy="402336"/>
          </a:xfrm>
          <a:prstGeom prst="rect">
            <a:avLst/>
          </a:prstGeom>
          <a:noFill/>
        </p:spPr>
        <p:txBody>
          <a:bodyPr wrap="square" lIns="0" rIns="0" tIns="0" bIns="0" anchor="t">
            <a:spAutoFit/>
          </a:bodyPr>
          <a:lstStyle/>
          <a:p>
            <a:pPr algn="ctr">
              <a:spcAft>
                <a:spcPts val="400"/>
              </a:spcAft>
            </a:pPr>
            <a:r>
              <a:rPr sz="1900" b="1" i="0">
                <a:solidFill>
                  <a:srgbClr val="E4572E"/>
                </a:solidFill>
                <a:latin typeface="Cambria"/>
              </a:rPr>
              <a:t>1,806</a:t>
            </a:r>
          </a:p>
        </p:txBody>
      </p:sp>
      <p:sp>
        <p:nvSpPr>
          <p:cNvPr id="14" name="TextBox 13"/>
          <p:cNvSpPr txBox="1"/>
          <p:nvPr/>
        </p:nvSpPr>
        <p:spPr>
          <a:xfrm>
            <a:off x="6123432" y="4096511"/>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delayed shipments</a:t>
            </a:r>
          </a:p>
        </p:txBody>
      </p:sp>
      <p:sp>
        <p:nvSpPr>
          <p:cNvPr id="15" name="TextBox 14"/>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Tiles bypass the agent deliberately — six fixed numbers are cheaper and more deterministic as SQL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An answer</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“Which 5 suppliers have the highest PageRank? Show a table and a bar chart.”</a:t>
            </a:r>
          </a:p>
        </p:txBody>
      </p:sp>
      <p:pic>
        <p:nvPicPr>
          <p:cNvPr id="5" name="Picture 4" descr="app_03_answer_full.png"/>
          <p:cNvPicPr>
            <a:picLocks noChangeAspect="1"/>
          </p:cNvPicPr>
          <p:nvPr/>
        </p:nvPicPr>
        <p:blipFill>
          <a:blip r:embed="rId4"/>
          <a:srcRect b="34000"/>
          <a:stretch>
            <a:fillRect/>
          </a:stretch>
        </p:blipFill>
        <p:spPr>
          <a:xfrm>
            <a:off x="803564" y="1188720"/>
            <a:ext cx="7536872" cy="3108960"/>
          </a:xfrm>
          <a:prstGeom prst="rect">
            <a:avLst/>
          </a:prstGeom>
          <a:ln w="9525">
            <a:solidFill>
              <a:srgbClr val="D5DEE9"/>
            </a:solidFill>
          </a:ln>
        </p:spPr>
      </p:pic>
      <p:sp>
        <p:nvSpPr>
          <p:cNvPr id="6" name="TextBox 5"/>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Prose, a structured table and a Vega-Lite chart — all from one agent turn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Every answer shows its work</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Database output, graph view and the executed SQL, expandable under each answer</a:t>
            </a:r>
          </a:p>
        </p:txBody>
      </p:sp>
      <p:pic>
        <p:nvPicPr>
          <p:cNvPr id="5" name="Picture 4" descr="app_04_panels_open.png"/>
          <p:cNvPicPr>
            <a:picLocks noChangeAspect="1"/>
          </p:cNvPicPr>
          <p:nvPr/>
        </p:nvPicPr>
        <p:blipFill>
          <a:blip r:embed="rId4"/>
          <a:srcRect b="30000"/>
          <a:stretch>
            <a:fillRect/>
          </a:stretch>
        </p:blipFill>
        <p:spPr>
          <a:xfrm>
            <a:off x="411480" y="1170432"/>
            <a:ext cx="5532120" cy="2420302"/>
          </a:xfrm>
          <a:prstGeom prst="rect">
            <a:avLst/>
          </a:prstGeom>
          <a:ln w="9525">
            <a:solidFill>
              <a:srgbClr val="D5DEE9"/>
            </a:solidFill>
          </a:ln>
        </p:spPr>
      </p:pic>
      <p:sp>
        <p:nvSpPr>
          <p:cNvPr id="6" name="Rounded Rectangle 5"/>
          <p:cNvSpPr/>
          <p:nvPr/>
        </p:nvSpPr>
        <p:spPr>
          <a:xfrm>
            <a:off x="6144768" y="1243584"/>
            <a:ext cx="2587752" cy="309067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309360" y="1371600"/>
            <a:ext cx="2286000" cy="237744"/>
          </a:xfrm>
          <a:prstGeom prst="rect">
            <a:avLst/>
          </a:prstGeom>
          <a:noFill/>
        </p:spPr>
        <p:txBody>
          <a:bodyPr wrap="square" lIns="0" rIns="0" tIns="0" bIns="0" anchor="t">
            <a:spAutoFit/>
          </a:bodyPr>
          <a:lstStyle/>
          <a:p>
            <a:pPr algn="l">
              <a:spcAft>
                <a:spcPts val="400"/>
              </a:spcAft>
            </a:pPr>
            <a:r>
              <a:rPr sz="1200" b="1" i="0">
                <a:solidFill>
                  <a:srgbClr val="0B1220"/>
                </a:solidFill>
                <a:latin typeface="Cambria"/>
              </a:rPr>
              <a:t>Three panels</a:t>
            </a:r>
          </a:p>
        </p:txBody>
      </p:sp>
      <p:sp>
        <p:nvSpPr>
          <p:cNvPr id="8" name="Oval 7"/>
          <p:cNvSpPr/>
          <p:nvPr/>
        </p:nvSpPr>
        <p:spPr>
          <a:xfrm>
            <a:off x="6309360" y="1769364"/>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92240" y="1719072"/>
            <a:ext cx="2103120" cy="71323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Database output — </a:t>
            </a:r>
            <a:r>
              <a:rPr sz="950" b="0">
                <a:solidFill>
                  <a:srgbClr val="5A6B80"/>
                </a:solidFill>
                <a:latin typeface="Calibri"/>
              </a:rPr>
              <a:t>the typed rows the agent actually read</a:t>
            </a:r>
          </a:p>
        </p:txBody>
      </p:sp>
      <p:sp>
        <p:nvSpPr>
          <p:cNvPr id="10" name="Oval 9"/>
          <p:cNvSpPr/>
          <p:nvPr/>
        </p:nvSpPr>
        <p:spPr>
          <a:xfrm>
            <a:off x="6309360" y="2482596"/>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2240" y="2432304"/>
            <a:ext cx="2103120" cy="71323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Graph view — </a:t>
            </a:r>
            <a:r>
              <a:rPr sz="950" b="0">
                <a:solidFill>
                  <a:srgbClr val="5A6B80"/>
                </a:solidFill>
                <a:latin typeface="Calibri"/>
              </a:rPr>
              <a:t>entities in the answer looked up in KG_NODES and expanded one hop</a:t>
            </a:r>
          </a:p>
        </p:txBody>
      </p:sp>
      <p:sp>
        <p:nvSpPr>
          <p:cNvPr id="12" name="Oval 11"/>
          <p:cNvSpPr/>
          <p:nvPr/>
        </p:nvSpPr>
        <p:spPr>
          <a:xfrm>
            <a:off x="6309360" y="3195828"/>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3145536"/>
            <a:ext cx="2103120" cy="713232"/>
          </a:xfrm>
          <a:prstGeom prst="rect">
            <a:avLst/>
          </a:prstGeom>
          <a:noFill/>
        </p:spPr>
        <p:txBody>
          <a:bodyPr wrap="square" lIns="0" rIns="0" tIns="0" bIns="0">
            <a:spAutoFit/>
          </a:bodyPr>
          <a:lstStyle/>
          <a:p>
            <a:pPr>
              <a:lnSpc>
                <a:spcPct val="100000"/>
              </a:lnSpc>
              <a:spcAft>
                <a:spcPts val="500"/>
              </a:spcAft>
            </a:pPr>
            <a:r>
              <a:rPr sz="950" b="1">
                <a:solidFill>
                  <a:srgbClr val="0B1220"/>
                </a:solidFill>
                <a:latin typeface="Calibri"/>
              </a:rPr>
              <a:t>SQL query — </a:t>
            </a:r>
            <a:r>
              <a:rPr sz="950" b="0">
                <a:solidFill>
                  <a:srgbClr val="5A6B80"/>
                </a:solidFill>
                <a:latin typeface="Calibri"/>
              </a:rPr>
              <a:t>the statement that ran, with logical names expanded to real tables</a:t>
            </a:r>
          </a:p>
        </p:txBody>
      </p:sp>
      <p:sp>
        <p:nvSpPr>
          <p:cNvPr id="14" name="TextBox 13"/>
          <p:cNvSpPr txBox="1"/>
          <p:nvPr/>
        </p:nvSpPr>
        <p:spPr>
          <a:xfrm>
            <a:off x="6309360" y="3877056"/>
            <a:ext cx="2286000" cy="329184"/>
          </a:xfrm>
          <a:prstGeom prst="rect">
            <a:avLst/>
          </a:prstGeom>
          <a:noFill/>
        </p:spPr>
        <p:txBody>
          <a:bodyPr wrap="square" lIns="0" rIns="0" tIns="0" bIns="0" anchor="t">
            <a:spAutoFit/>
          </a:bodyPr>
          <a:lstStyle/>
          <a:p>
            <a:pPr algn="l">
              <a:lnSpc>
                <a:spcPct val="115000"/>
              </a:lnSpc>
              <a:spcAft>
                <a:spcPts val="400"/>
              </a:spcAft>
            </a:pPr>
            <a:r>
              <a:rPr sz="950" b="0" i="1">
                <a:solidFill>
                  <a:srgbClr val="5A6B80"/>
                </a:solidFill>
                <a:latin typeface="Calibri"/>
              </a:rPr>
              <a:t>An answer you cannot audit is an answer you cannot act 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The same chat answers the documents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“What do the supplier scorecards say about quality issues?”</a:t>
            </a:r>
          </a:p>
        </p:txBody>
      </p:sp>
      <p:pic>
        <p:nvPicPr>
          <p:cNvPr id="5" name="Picture 4" descr="app_07_docsearch.png"/>
          <p:cNvPicPr>
            <a:picLocks noChangeAspect="1"/>
          </p:cNvPicPr>
          <p:nvPr/>
        </p:nvPicPr>
        <p:blipFill>
          <a:blip r:embed="rId4"/>
          <a:srcRect b="38000"/>
          <a:stretch>
            <a:fillRect/>
          </a:stretch>
        </p:blipFill>
        <p:spPr>
          <a:xfrm>
            <a:off x="584036" y="1188720"/>
            <a:ext cx="7975927" cy="3090672"/>
          </a:xfrm>
          <a:prstGeom prst="rect">
            <a:avLst/>
          </a:prstGeom>
          <a:ln w="9525">
            <a:solidFill>
              <a:srgbClr val="D5DEE9"/>
            </a:solidFill>
          </a:ln>
        </p:spPr>
      </p:pic>
      <p:sp>
        <p:nvSpPr>
          <p:cNvPr id="6" name="TextBox 5"/>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Answered by kg_search over Cortex Search — no SQL, same conversation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Verified questions and answers — the graph</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Ground truth computed independently in SQL, then compared</a:t>
            </a:r>
          </a:p>
        </p:txBody>
      </p:sp>
      <p:graphicFrame>
        <p:nvGraphicFramePr>
          <p:cNvPr id="5" name="Table 4"/>
          <p:cNvGraphicFramePr>
            <a:graphicFrameLocks noGrp="1"/>
          </p:cNvGraphicFramePr>
          <p:nvPr/>
        </p:nvGraphicFramePr>
        <p:xfrm>
          <a:off x="411480" y="1261872"/>
          <a:ext cx="8321038" cy="2926080"/>
        </p:xfrm>
        <a:graphic>
          <a:graphicData uri="http://schemas.openxmlformats.org/drawingml/2006/table">
            <a:tbl>
              <a:tblPr firstRow="1" bandRow="1">
                <a:tableStyleId>{5C22544A-7EE6-4342-B048-85BDC9FD1C3A}</a:tableStyleId>
              </a:tblPr>
              <a:tblGrid>
                <a:gridCol w="3035347"/>
                <a:gridCol w="2616679"/>
                <a:gridCol w="2302677"/>
                <a:gridCol w="366335"/>
              </a:tblGrid>
              <a:tr h="365760">
                <a:tc>
                  <a:txBody>
                    <a:bodyPr wrap="square"/>
                    <a:lstStyle/>
                    <a:p>
                      <a:pPr algn="l"/>
                      <a:r>
                        <a:rPr sz="900" b="1">
                          <a:solidFill>
                            <a:srgbClr val="FFFFFF"/>
                          </a:solidFill>
                          <a:latin typeface="Calibri"/>
                        </a:rPr>
                        <a:t>Question</a:t>
                      </a:r>
                    </a:p>
                  </a:txBody>
                  <a:tcPr marL="54864" marR="54864" marT="9144" marB="9144" anchor="ctr">
                    <a:solidFill>
                      <a:srgbClr val="0B1220"/>
                    </a:solidFill>
                  </a:tcPr>
                </a:tc>
                <a:tc>
                  <a:txBody>
                    <a:bodyPr wrap="square"/>
                    <a:lstStyle/>
                    <a:p>
                      <a:pPr algn="l"/>
                      <a:r>
                        <a:rPr sz="900" b="1">
                          <a:solidFill>
                            <a:srgbClr val="FFFFFF"/>
                          </a:solidFill>
                          <a:latin typeface="Calibri"/>
                        </a:rPr>
                        <a:t>Agent answer</a:t>
                      </a:r>
                    </a:p>
                  </a:txBody>
                  <a:tcPr marL="54864" marR="54864" marT="9144" marB="9144" anchor="ctr">
                    <a:solidFill>
                      <a:srgbClr val="0B1220"/>
                    </a:solidFill>
                  </a:tcPr>
                </a:tc>
                <a:tc>
                  <a:txBody>
                    <a:bodyPr wrap="square"/>
                    <a:lstStyle/>
                    <a:p>
                      <a:pPr algn="l"/>
                      <a:r>
                        <a:rPr sz="900" b="1">
                          <a:solidFill>
                            <a:srgbClr val="FFFFFF"/>
                          </a:solidFill>
                          <a:latin typeface="Calibri"/>
                        </a:rPr>
                        <a:t>SQL truth</a:t>
                      </a:r>
                    </a:p>
                  </a:txBody>
                  <a:tcPr marL="54864" marR="54864" marT="9144" marB="9144" anchor="ctr">
                    <a:solidFill>
                      <a:srgbClr val="0B1220"/>
                    </a:solidFill>
                  </a:tcPr>
                </a:tc>
                <a:tc>
                  <a:txBody>
                    <a:bodyPr wrap="square"/>
                    <a:lstStyle/>
                    <a:p>
                      <a:pPr algn="l"/>
                      <a:r>
                        <a:rPr sz="900" b="1">
                          <a:solidFill>
                            <a:srgbClr val="FFFFFF"/>
                          </a:solidFill>
                          <a:latin typeface="Calibri"/>
                        </a:rPr>
                        <a:t/>
                      </a:r>
                    </a:p>
                  </a:txBody>
                  <a:tcPr marL="54864" marR="54864" marT="9144" marB="9144" anchor="ctr">
                    <a:solidFill>
                      <a:srgbClr val="0B1220"/>
                    </a:solidFill>
                  </a:tcPr>
                </a:tc>
              </a:tr>
              <a:tr h="365760">
                <a:tc>
                  <a:txBody>
                    <a:bodyPr wrap="square"/>
                    <a:lstStyle/>
                    <a:p>
                      <a:pPr algn="l"/>
                      <a:r>
                        <a:rPr sz="900" b="0">
                          <a:solidFill>
                            <a:srgbClr val="0B1220"/>
                          </a:solidFill>
                          <a:latin typeface="Calibri"/>
                        </a:rPr>
                        <a:t>How many entities and relationships?</a:t>
                      </a:r>
                    </a:p>
                  </a:txBody>
                  <a:tcPr marL="54864" marR="54864" marT="9144" marB="9144" anchor="ctr">
                    <a:solidFill>
                      <a:srgbClr val="FFFFFF"/>
                    </a:solidFill>
                  </a:tcPr>
                </a:tc>
                <a:tc>
                  <a:txBody>
                    <a:bodyPr wrap="square"/>
                    <a:lstStyle/>
                    <a:p>
                      <a:pPr algn="l"/>
                      <a:r>
                        <a:rPr sz="900" b="0">
                          <a:solidFill>
                            <a:srgbClr val="0B1220"/>
                          </a:solidFill>
                          <a:latin typeface="Calibri"/>
                        </a:rPr>
                        <a:t>7,613 / 26,524</a:t>
                      </a:r>
                    </a:p>
                  </a:txBody>
                  <a:tcPr marL="54864" marR="54864" marT="9144" marB="9144" anchor="ctr">
                    <a:solidFill>
                      <a:srgbClr val="FFFFFF"/>
                    </a:solidFill>
                  </a:tcPr>
                </a:tc>
                <a:tc>
                  <a:txBody>
                    <a:bodyPr wrap="square"/>
                    <a:lstStyle/>
                    <a:p>
                      <a:pPr algn="l"/>
                      <a:r>
                        <a:rPr sz="900" b="0">
                          <a:solidFill>
                            <a:srgbClr val="0B1220"/>
                          </a:solidFill>
                          <a:latin typeface="Calibri"/>
                        </a:rPr>
                        <a:t>7,613 / 26,524</a:t>
                      </a:r>
                    </a:p>
                  </a:txBody>
                  <a:tcPr marL="54864" marR="54864" marT="9144" marB="9144" anchor="ctr">
                    <a:solidFill>
                      <a:srgbClr val="FFFFFF"/>
                    </a:solidFill>
                  </a:tcPr>
                </a:tc>
                <a:tc>
                  <a:txBody>
                    <a:bodyPr wrap="square"/>
                    <a:lstStyle/>
                    <a:p>
                      <a:pPr algn="ctr"/>
                      <a:r>
                        <a:rPr sz="900" b="1">
                          <a:solidFill>
                            <a:srgbClr val="2E9E5B"/>
                          </a:solidFill>
                          <a:latin typeface="Calibri"/>
                        </a:rPr>
                        <a:t>✓</a:t>
                      </a:r>
                    </a:p>
                  </a:txBody>
                  <a:tcPr marL="54864" marR="54864" marT="9144" marB="9144" anchor="ctr">
                    <a:solidFill>
                      <a:srgbClr val="FFFFFF"/>
                    </a:solidFill>
                  </a:tcPr>
                </a:tc>
              </a:tr>
              <a:tr h="365760">
                <a:tc>
                  <a:txBody>
                    <a:bodyPr wrap="square"/>
                    <a:lstStyle/>
                    <a:p>
                      <a:pPr algn="l"/>
                      <a:r>
                        <a:rPr sz="900" b="0">
                          <a:solidFill>
                            <a:srgbClr val="0B1220"/>
                          </a:solidFill>
                          <a:latin typeface="Calibri"/>
                        </a:rPr>
                        <a:t>Suppliers, parts, plants, customers?</a:t>
                      </a:r>
                    </a:p>
                  </a:txBody>
                  <a:tcPr marL="54864" marR="54864" marT="9144" marB="9144" anchor="ctr">
                    <a:solidFill>
                      <a:srgbClr val="F1F6FB"/>
                    </a:solidFill>
                  </a:tcPr>
                </a:tc>
                <a:tc>
                  <a:txBody>
                    <a:bodyPr wrap="square"/>
                    <a:lstStyle/>
                    <a:p>
                      <a:pPr algn="l"/>
                      <a:r>
                        <a:rPr sz="900" b="0">
                          <a:solidFill>
                            <a:srgbClr val="0B1220"/>
                          </a:solidFill>
                          <a:latin typeface="Calibri"/>
                        </a:rPr>
                        <a:t>500 / 5,000 / 12 / 80</a:t>
                      </a:r>
                    </a:p>
                  </a:txBody>
                  <a:tcPr marL="54864" marR="54864" marT="9144" marB="9144" anchor="ctr">
                    <a:solidFill>
                      <a:srgbClr val="F1F6FB"/>
                    </a:solidFill>
                  </a:tcPr>
                </a:tc>
                <a:tc>
                  <a:txBody>
                    <a:bodyPr wrap="square"/>
                    <a:lstStyle/>
                    <a:p>
                      <a:pPr algn="l"/>
                      <a:r>
                        <a:rPr sz="900" b="0">
                          <a:solidFill>
                            <a:srgbClr val="0B1220"/>
                          </a:solidFill>
                          <a:latin typeface="Calibri"/>
                        </a:rPr>
                        <a:t>500 / 5,000 / 12 / 80</a:t>
                      </a:r>
                    </a:p>
                  </a:txBody>
                  <a:tcPr marL="54864" marR="54864" marT="9144" marB="9144" anchor="ctr">
                    <a:solidFill>
                      <a:srgbClr val="F1F6FB"/>
                    </a:solidFill>
                  </a:tcPr>
                </a:tc>
                <a:tc>
                  <a:txBody>
                    <a:bodyPr wrap="square"/>
                    <a:lstStyle/>
                    <a:p>
                      <a:pPr algn="ctr"/>
                      <a:r>
                        <a:rPr sz="900" b="1">
                          <a:solidFill>
                            <a:srgbClr val="2E9E5B"/>
                          </a:solidFill>
                          <a:latin typeface="Calibri"/>
                        </a:rPr>
                        <a:t>✓</a:t>
                      </a:r>
                    </a:p>
                  </a:txBody>
                  <a:tcPr marL="54864" marR="54864" marT="9144" marB="9144" anchor="ctr">
                    <a:solidFill>
                      <a:srgbClr val="F1F6FB"/>
                    </a:solidFill>
                  </a:tcPr>
                </a:tc>
              </a:tr>
              <a:tr h="365760">
                <a:tc>
                  <a:txBody>
                    <a:bodyPr wrap="square"/>
                    <a:lstStyle/>
                    <a:p>
                      <a:pPr algn="l"/>
                      <a:r>
                        <a:rPr sz="900" b="0">
                          <a:solidFill>
                            <a:srgbClr val="0B1220"/>
                          </a:solidFill>
                          <a:latin typeface="Calibri"/>
                        </a:rPr>
                        <a:t>How many connected components?</a:t>
                      </a:r>
                    </a:p>
                  </a:txBody>
                  <a:tcPr marL="54864" marR="54864" marT="9144" marB="9144" anchor="ctr">
                    <a:solidFill>
                      <a:srgbClr val="FFFFFF"/>
                    </a:solidFill>
                  </a:tcPr>
                </a:tc>
                <a:tc>
                  <a:txBody>
                    <a:bodyPr wrap="square"/>
                    <a:lstStyle/>
                    <a:p>
                      <a:pPr algn="l"/>
                      <a:r>
                        <a:rPr sz="900" b="0">
                          <a:solidFill>
                            <a:srgbClr val="0B1220"/>
                          </a:solidFill>
                          <a:latin typeface="Calibri"/>
                        </a:rPr>
                        <a:t>18</a:t>
                      </a:r>
                    </a:p>
                  </a:txBody>
                  <a:tcPr marL="54864" marR="54864" marT="9144" marB="9144" anchor="ctr">
                    <a:solidFill>
                      <a:srgbClr val="FFFFFF"/>
                    </a:solidFill>
                  </a:tcPr>
                </a:tc>
                <a:tc>
                  <a:txBody>
                    <a:bodyPr wrap="square"/>
                    <a:lstStyle/>
                    <a:p>
                      <a:pPr algn="l"/>
                      <a:r>
                        <a:rPr sz="900" b="0">
                          <a:solidFill>
                            <a:srgbClr val="0B1220"/>
                          </a:solidFill>
                          <a:latin typeface="Calibri"/>
                        </a:rPr>
                        <a:t>18</a:t>
                      </a:r>
                    </a:p>
                  </a:txBody>
                  <a:tcPr marL="54864" marR="54864" marT="9144" marB="9144" anchor="ctr">
                    <a:solidFill>
                      <a:srgbClr val="FFFFFF"/>
                    </a:solidFill>
                  </a:tcPr>
                </a:tc>
                <a:tc>
                  <a:txBody>
                    <a:bodyPr wrap="square"/>
                    <a:lstStyle/>
                    <a:p>
                      <a:pPr algn="ctr"/>
                      <a:r>
                        <a:rPr sz="900" b="1">
                          <a:solidFill>
                            <a:srgbClr val="2E9E5B"/>
                          </a:solidFill>
                          <a:latin typeface="Calibri"/>
                        </a:rPr>
                        <a:t>✓</a:t>
                      </a:r>
                    </a:p>
                  </a:txBody>
                  <a:tcPr marL="54864" marR="54864" marT="9144" marB="9144" anchor="ctr">
                    <a:solidFill>
                      <a:srgbClr val="FFFFFF"/>
                    </a:solidFill>
                  </a:tcPr>
                </a:tc>
              </a:tr>
              <a:tr h="365760">
                <a:tc>
                  <a:txBody>
                    <a:bodyPr wrap="square"/>
                    <a:lstStyle/>
                    <a:p>
                      <a:pPr algn="l"/>
                      <a:r>
                        <a:rPr sz="900" b="0">
                          <a:solidFill>
                            <a:srgbClr val="0B1220"/>
                          </a:solidFill>
                          <a:latin typeface="Calibri"/>
                        </a:rPr>
                        <a:t>Most common relationship type?</a:t>
                      </a:r>
                    </a:p>
                  </a:txBody>
                  <a:tcPr marL="54864" marR="54864" marT="9144" marB="9144" anchor="ctr">
                    <a:solidFill>
                      <a:srgbClr val="F1F6FB"/>
                    </a:solidFill>
                  </a:tcPr>
                </a:tc>
                <a:tc>
                  <a:txBody>
                    <a:bodyPr wrap="square"/>
                    <a:lstStyle/>
                    <a:p>
                      <a:pPr algn="l"/>
                      <a:r>
                        <a:rPr sz="900" b="0">
                          <a:solidFill>
                            <a:srgbClr val="0B1220"/>
                          </a:solidFill>
                          <a:latin typeface="Calibri"/>
                        </a:rPr>
                        <a:t>APPROVED_SOURCE, 6,678</a:t>
                      </a:r>
                    </a:p>
                  </a:txBody>
                  <a:tcPr marL="54864" marR="54864" marT="9144" marB="9144" anchor="ctr">
                    <a:solidFill>
                      <a:srgbClr val="F1F6FB"/>
                    </a:solidFill>
                  </a:tcPr>
                </a:tc>
                <a:tc>
                  <a:txBody>
                    <a:bodyPr wrap="square"/>
                    <a:lstStyle/>
                    <a:p>
                      <a:pPr algn="l"/>
                      <a:r>
                        <a:rPr sz="900" b="0">
                          <a:solidFill>
                            <a:srgbClr val="0B1220"/>
                          </a:solidFill>
                          <a:latin typeface="Calibri"/>
                        </a:rPr>
                        <a:t>APPROVED_SOURCE, 6,678</a:t>
                      </a:r>
                    </a:p>
                  </a:txBody>
                  <a:tcPr marL="54864" marR="54864" marT="9144" marB="9144" anchor="ctr">
                    <a:solidFill>
                      <a:srgbClr val="F1F6FB"/>
                    </a:solidFill>
                  </a:tcPr>
                </a:tc>
                <a:tc>
                  <a:txBody>
                    <a:bodyPr wrap="square"/>
                    <a:lstStyle/>
                    <a:p>
                      <a:pPr algn="ctr"/>
                      <a:r>
                        <a:rPr sz="900" b="1">
                          <a:solidFill>
                            <a:srgbClr val="2E9E5B"/>
                          </a:solidFill>
                          <a:latin typeface="Calibri"/>
                        </a:rPr>
                        <a:t>✓</a:t>
                      </a:r>
                    </a:p>
                  </a:txBody>
                  <a:tcPr marL="54864" marR="54864" marT="9144" marB="9144" anchor="ctr">
                    <a:solidFill>
                      <a:srgbClr val="F1F6FB"/>
                    </a:solidFill>
                  </a:tcPr>
                </a:tc>
              </a:tr>
              <a:tr h="365760">
                <a:tc>
                  <a:txBody>
                    <a:bodyPr wrap="square"/>
                    <a:lstStyle/>
                    <a:p>
                      <a:pPr algn="l"/>
                      <a:r>
                        <a:rPr sz="900" b="0">
                          <a:solidFill>
                            <a:srgbClr val="0B1220"/>
                          </a:solidFill>
                          <a:latin typeface="Calibri"/>
                        </a:rPr>
                        <a:t>Top 5 sites by betweenness?</a:t>
                      </a:r>
                    </a:p>
                  </a:txBody>
                  <a:tcPr marL="54864" marR="54864" marT="9144" marB="9144" anchor="ctr">
                    <a:solidFill>
                      <a:srgbClr val="FFFFFF"/>
                    </a:solidFill>
                  </a:tcPr>
                </a:tc>
                <a:tc>
                  <a:txBody>
                    <a:bodyPr wrap="square"/>
                    <a:lstStyle/>
                    <a:p>
                      <a:pPr algn="l"/>
                      <a:r>
                        <a:rPr sz="900" b="0">
                          <a:solidFill>
                            <a:srgbClr val="0B1220"/>
                          </a:solidFill>
                          <a:latin typeface="Calibri"/>
                        </a:rPr>
                        <a:t>Kappa, Lambda, Quantum, Crest, Cobalt</a:t>
                      </a:r>
                    </a:p>
                  </a:txBody>
                  <a:tcPr marL="54864" marR="54864" marT="9144" marB="9144" anchor="ctr">
                    <a:solidFill>
                      <a:srgbClr val="FFFFFF"/>
                    </a:solidFill>
                  </a:tcPr>
                </a:tc>
                <a:tc>
                  <a:txBody>
                    <a:bodyPr wrap="square"/>
                    <a:lstStyle/>
                    <a:p>
                      <a:pPr algn="l"/>
                      <a:r>
                        <a:rPr sz="900" b="0">
                          <a:solidFill>
                            <a:srgbClr val="0B1220"/>
                          </a:solidFill>
                          <a:latin typeface="Calibri"/>
                        </a:rPr>
                        <a:t>same five, same order</a:t>
                      </a:r>
                    </a:p>
                  </a:txBody>
                  <a:tcPr marL="54864" marR="54864" marT="9144" marB="9144" anchor="ctr">
                    <a:solidFill>
                      <a:srgbClr val="FFFFFF"/>
                    </a:solidFill>
                  </a:tcPr>
                </a:tc>
                <a:tc>
                  <a:txBody>
                    <a:bodyPr wrap="square"/>
                    <a:lstStyle/>
                    <a:p>
                      <a:pPr algn="ctr"/>
                      <a:r>
                        <a:rPr sz="900" b="1">
                          <a:solidFill>
                            <a:srgbClr val="2E9E5B"/>
                          </a:solidFill>
                          <a:latin typeface="Calibri"/>
                        </a:rPr>
                        <a:t>✓</a:t>
                      </a:r>
                    </a:p>
                  </a:txBody>
                  <a:tcPr marL="54864" marR="54864" marT="9144" marB="9144" anchor="ctr">
                    <a:solidFill>
                      <a:srgbClr val="FFFFFF"/>
                    </a:solidFill>
                  </a:tcPr>
                </a:tc>
              </a:tr>
              <a:tr h="365760">
                <a:tc>
                  <a:txBody>
                    <a:bodyPr wrap="square"/>
                    <a:lstStyle/>
                    <a:p>
                      <a:pPr algn="l"/>
                      <a:r>
                        <a:rPr sz="900" b="0">
                          <a:solidFill>
                            <a:srgbClr val="0B1220"/>
                          </a:solidFill>
                          <a:latin typeface="Calibri"/>
                        </a:rPr>
                        <a:t>Largest number of approved sources?</a:t>
                      </a:r>
                    </a:p>
                  </a:txBody>
                  <a:tcPr marL="54864" marR="54864" marT="9144" marB="9144" anchor="ctr">
                    <a:solidFill>
                      <a:srgbClr val="F1F6FB"/>
                    </a:solidFill>
                  </a:tcPr>
                </a:tc>
                <a:tc>
                  <a:txBody>
                    <a:bodyPr wrap="square"/>
                    <a:lstStyle/>
                    <a:p>
                      <a:pPr algn="l"/>
                      <a:r>
                        <a:rPr sz="900" b="0">
                          <a:solidFill>
                            <a:srgbClr val="0B1220"/>
                          </a:solidFill>
                          <a:latin typeface="Calibri"/>
                        </a:rPr>
                        <a:t>8 (Connector-00198)</a:t>
                      </a:r>
                    </a:p>
                  </a:txBody>
                  <a:tcPr marL="54864" marR="54864" marT="9144" marB="9144" anchor="ctr">
                    <a:solidFill>
                      <a:srgbClr val="F1F6FB"/>
                    </a:solidFill>
                  </a:tcPr>
                </a:tc>
                <a:tc>
                  <a:txBody>
                    <a:bodyPr wrap="square"/>
                    <a:lstStyle/>
                    <a:p>
                      <a:pPr algn="l"/>
                      <a:r>
                        <a:rPr sz="900" b="0">
                          <a:solidFill>
                            <a:srgbClr val="0B1220"/>
                          </a:solidFill>
                          <a:latin typeface="Calibri"/>
                        </a:rPr>
                        <a:t>8</a:t>
                      </a:r>
                    </a:p>
                  </a:txBody>
                  <a:tcPr marL="54864" marR="54864" marT="9144" marB="9144" anchor="ctr">
                    <a:solidFill>
                      <a:srgbClr val="F1F6FB"/>
                    </a:solidFill>
                  </a:tcPr>
                </a:tc>
                <a:tc>
                  <a:txBody>
                    <a:bodyPr wrap="square"/>
                    <a:lstStyle/>
                    <a:p>
                      <a:pPr algn="ctr"/>
                      <a:r>
                        <a:rPr sz="900" b="1">
                          <a:solidFill>
                            <a:srgbClr val="2E9E5B"/>
                          </a:solidFill>
                          <a:latin typeface="Calibri"/>
                        </a:rPr>
                        <a:t>✓</a:t>
                      </a:r>
                    </a:p>
                  </a:txBody>
                  <a:tcPr marL="54864" marR="54864" marT="9144" marB="9144" anchor="ctr">
                    <a:solidFill>
                      <a:srgbClr val="F1F6FB"/>
                    </a:solidFill>
                  </a:tcPr>
                </a:tc>
              </a:tr>
              <a:tr h="365760">
                <a:tc>
                  <a:txBody>
                    <a:bodyPr wrap="square"/>
                    <a:lstStyle/>
                    <a:p>
                      <a:pPr algn="l"/>
                      <a:r>
                        <a:rPr sz="900" b="0">
                          <a:solidFill>
                            <a:srgbClr val="0B1220"/>
                          </a:solidFill>
                          <a:latin typeface="Calibri"/>
                        </a:rPr>
                        <a:t>Highest average connections?</a:t>
                      </a:r>
                    </a:p>
                  </a:txBody>
                  <a:tcPr marL="54864" marR="54864" marT="9144" marB="9144" anchor="ctr">
                    <a:solidFill>
                      <a:srgbClr val="FFFFFF"/>
                    </a:solidFill>
                  </a:tcPr>
                </a:tc>
                <a:tc>
                  <a:txBody>
                    <a:bodyPr wrap="square"/>
                    <a:lstStyle/>
                    <a:p>
                      <a:pPr algn="l"/>
                      <a:r>
                        <a:rPr sz="900" b="0">
                          <a:solidFill>
                            <a:srgbClr val="0B1220"/>
                          </a:solidFill>
                          <a:latin typeface="Calibri"/>
                        </a:rPr>
                        <a:t>Plants, 566</a:t>
                      </a:r>
                    </a:p>
                  </a:txBody>
                  <a:tcPr marL="54864" marR="54864" marT="9144" marB="9144" anchor="ctr">
                    <a:solidFill>
                      <a:srgbClr val="FFFFFF"/>
                    </a:solidFill>
                  </a:tcPr>
                </a:tc>
                <a:tc>
                  <a:txBody>
                    <a:bodyPr wrap="square"/>
                    <a:lstStyle/>
                    <a:p>
                      <a:pPr algn="l"/>
                      <a:r>
                        <a:rPr sz="900" b="0">
                          <a:solidFill>
                            <a:srgbClr val="0B1220"/>
                          </a:solidFill>
                          <a:latin typeface="Calibri"/>
                        </a:rPr>
                        <a:t>PLANT, 566.3</a:t>
                      </a:r>
                    </a:p>
                  </a:txBody>
                  <a:tcPr marL="54864" marR="54864" marT="9144" marB="9144" anchor="ctr">
                    <a:solidFill>
                      <a:srgbClr val="FFFFFF"/>
                    </a:solidFill>
                  </a:tcPr>
                </a:tc>
                <a:tc>
                  <a:txBody>
                    <a:bodyPr wrap="square"/>
                    <a:lstStyle/>
                    <a:p>
                      <a:pPr algn="ctr"/>
                      <a:r>
                        <a:rPr sz="900" b="1">
                          <a:solidFill>
                            <a:srgbClr val="2E9E5B"/>
                          </a:solidFill>
                          <a:latin typeface="Calibri"/>
                        </a:rPr>
                        <a:t>✓</a:t>
                      </a:r>
                    </a:p>
                  </a:txBody>
                  <a:tcPr marL="54864" marR="54864" marT="9144" marB="9144" anchor="ctr">
                    <a:solidFill>
                      <a:srgbClr val="FFFFFF"/>
                    </a:solidFill>
                  </a:tcPr>
                </a:tc>
              </a:tr>
            </a:tbl>
          </a:graphicData>
        </a:graphic>
      </p:graphicFrame>
      <p:sp>
        <p:nvSpPr>
          <p:cNvPr id="6" name="TextBox 5"/>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Full transcript and checker in the repository — every figure reproducible against the same account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Verified questions and answers — the documents</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Cortex Search answers, checked against the corpus itself</a:t>
            </a:r>
          </a:p>
        </p:txBody>
      </p:sp>
      <p:graphicFrame>
        <p:nvGraphicFramePr>
          <p:cNvPr id="5" name="Table 4"/>
          <p:cNvGraphicFramePr>
            <a:graphicFrameLocks noGrp="1"/>
          </p:cNvGraphicFramePr>
          <p:nvPr/>
        </p:nvGraphicFramePr>
        <p:xfrm>
          <a:off x="411480" y="1261872"/>
          <a:ext cx="8321039" cy="1682496"/>
        </p:xfrm>
        <a:graphic>
          <a:graphicData uri="http://schemas.openxmlformats.org/drawingml/2006/table">
            <a:tbl>
              <a:tblPr firstRow="1" bandRow="1">
                <a:tableStyleId>{5C22544A-7EE6-4342-B048-85BDC9FD1C3A}</a:tableStyleId>
              </a:tblPr>
              <a:tblGrid>
                <a:gridCol w="3089248"/>
                <a:gridCol w="2491329"/>
                <a:gridCol w="2391676"/>
                <a:gridCol w="348786"/>
              </a:tblGrid>
              <a:tr h="420624">
                <a:tc>
                  <a:txBody>
                    <a:bodyPr wrap="square"/>
                    <a:lstStyle/>
                    <a:p>
                      <a:pPr algn="l"/>
                      <a:r>
                        <a:rPr sz="950" b="1">
                          <a:solidFill>
                            <a:srgbClr val="FFFFFF"/>
                          </a:solidFill>
                          <a:latin typeface="Calibri"/>
                        </a:rPr>
                        <a:t>Question</a:t>
                      </a:r>
                    </a:p>
                  </a:txBody>
                  <a:tcPr marL="54864" marR="54864" marT="9144" marB="9144" anchor="ctr">
                    <a:solidFill>
                      <a:srgbClr val="0B1220"/>
                    </a:solidFill>
                  </a:tcPr>
                </a:tc>
                <a:tc>
                  <a:txBody>
                    <a:bodyPr wrap="square"/>
                    <a:lstStyle/>
                    <a:p>
                      <a:pPr algn="l"/>
                      <a:r>
                        <a:rPr sz="950" b="1">
                          <a:solidFill>
                            <a:srgbClr val="FFFFFF"/>
                          </a:solidFill>
                          <a:latin typeface="Calibri"/>
                        </a:rPr>
                        <a:t>Agent answer</a:t>
                      </a:r>
                    </a:p>
                  </a:txBody>
                  <a:tcPr marL="54864" marR="54864" marT="9144" marB="9144" anchor="ctr">
                    <a:solidFill>
                      <a:srgbClr val="0B1220"/>
                    </a:solidFill>
                  </a:tcPr>
                </a:tc>
                <a:tc>
                  <a:txBody>
                    <a:bodyPr wrap="square"/>
                    <a:lstStyle/>
                    <a:p>
                      <a:pPr algn="l"/>
                      <a:r>
                        <a:rPr sz="950" b="1">
                          <a:solidFill>
                            <a:srgbClr val="FFFFFF"/>
                          </a:solidFill>
                          <a:latin typeface="Calibri"/>
                        </a:rPr>
                        <a:t>Source truth</a:t>
                      </a:r>
                    </a:p>
                  </a:txBody>
                  <a:tcPr marL="54864" marR="54864" marT="9144" marB="9144" anchor="ctr">
                    <a:solidFill>
                      <a:srgbClr val="0B1220"/>
                    </a:solidFill>
                  </a:tcPr>
                </a:tc>
                <a:tc>
                  <a:txBody>
                    <a:bodyPr wrap="square"/>
                    <a:lstStyle/>
                    <a:p>
                      <a:pPr algn="l"/>
                      <a:r>
                        <a:rPr sz="950" b="1">
                          <a:solidFill>
                            <a:srgbClr val="FFFFFF"/>
                          </a:solidFill>
                          <a:latin typeface="Calibri"/>
                        </a:rPr>
                        <a:t/>
                      </a:r>
                    </a:p>
                  </a:txBody>
                  <a:tcPr marL="54864" marR="54864" marT="9144" marB="9144" anchor="ctr">
                    <a:solidFill>
                      <a:srgbClr val="0B1220"/>
                    </a:solidFill>
                  </a:tcPr>
                </a:tc>
              </a:tr>
              <a:tr h="420624">
                <a:tc>
                  <a:txBody>
                    <a:bodyPr wrap="square"/>
                    <a:lstStyle/>
                    <a:p>
                      <a:pPr algn="l"/>
                      <a:r>
                        <a:rPr sz="950" b="0">
                          <a:solidFill>
                            <a:srgbClr val="0B1220"/>
                          </a:solidFill>
                          <a:latin typeface="Calibri"/>
                        </a:rPr>
                        <a:t>Nexora Semiconductors' defect rate and target?</a:t>
                      </a:r>
                    </a:p>
                  </a:txBody>
                  <a:tcPr marL="54864" marR="54864" marT="9144" marB="9144" anchor="ctr">
                    <a:solidFill>
                      <a:srgbClr val="FFFFFF"/>
                    </a:solidFill>
                  </a:tcPr>
                </a:tc>
                <a:tc>
                  <a:txBody>
                    <a:bodyPr wrap="square"/>
                    <a:lstStyle/>
                    <a:p>
                      <a:pPr algn="l"/>
                      <a:r>
                        <a:rPr sz="950" b="0">
                          <a:solidFill>
                            <a:srgbClr val="0B1220"/>
                          </a:solidFill>
                          <a:latin typeface="Calibri"/>
                        </a:rPr>
                        <a:t>4,200 PPM vs &lt;1,000 target</a:t>
                      </a:r>
                    </a:p>
                  </a:txBody>
                  <a:tcPr marL="54864" marR="54864" marT="9144" marB="9144" anchor="ctr">
                    <a:solidFill>
                      <a:srgbClr val="FFFFFF"/>
                    </a:solidFill>
                  </a:tcPr>
                </a:tc>
                <a:tc>
                  <a:txBody>
                    <a:bodyPr wrap="square"/>
                    <a:lstStyle/>
                    <a:p>
                      <a:pPr algn="l"/>
                      <a:r>
                        <a:rPr sz="950" b="0">
                          <a:solidFill>
                            <a:srgbClr val="0B1220"/>
                          </a:solidFill>
                          <a:latin typeface="Calibri"/>
                        </a:rPr>
                        <a:t>4,200 PPM, target &lt;1,000</a:t>
                      </a:r>
                    </a:p>
                  </a:txBody>
                  <a:tcPr marL="54864" marR="54864" marT="9144" marB="9144" anchor="ctr">
                    <a:solidFill>
                      <a:srgbClr val="FFFFFF"/>
                    </a:solidFill>
                  </a:tcPr>
                </a:tc>
                <a:tc>
                  <a:txBody>
                    <a:bodyPr wrap="square"/>
                    <a:lstStyle/>
                    <a:p>
                      <a:pPr algn="ctr"/>
                      <a:r>
                        <a:rPr sz="950" b="1">
                          <a:solidFill>
                            <a:srgbClr val="2E9E5B"/>
                          </a:solidFill>
                          <a:latin typeface="Calibri"/>
                        </a:rPr>
                        <a:t>✓</a:t>
                      </a:r>
                    </a:p>
                  </a:txBody>
                  <a:tcPr marL="54864" marR="54864" marT="9144" marB="9144" anchor="ctr">
                    <a:solidFill>
                      <a:srgbClr val="FFFFFF"/>
                    </a:solidFill>
                  </a:tcPr>
                </a:tc>
              </a:tr>
              <a:tr h="420624">
                <a:tc>
                  <a:txBody>
                    <a:bodyPr wrap="square"/>
                    <a:lstStyle/>
                    <a:p>
                      <a:pPr algn="l"/>
                      <a:r>
                        <a:rPr sz="950" b="0">
                          <a:solidFill>
                            <a:srgbClr val="0B1220"/>
                          </a:solidFill>
                          <a:latin typeface="Calibri"/>
                        </a:rPr>
                        <a:t>Blueforge Components' on-time delivery?</a:t>
                      </a:r>
                    </a:p>
                  </a:txBody>
                  <a:tcPr marL="54864" marR="54864" marT="9144" marB="9144" anchor="ctr">
                    <a:solidFill>
                      <a:srgbClr val="F1F6FB"/>
                    </a:solidFill>
                  </a:tcPr>
                </a:tc>
                <a:tc>
                  <a:txBody>
                    <a:bodyPr wrap="square"/>
                    <a:lstStyle/>
                    <a:p>
                      <a:pPr algn="l"/>
                      <a:r>
                        <a:rPr sz="950" b="0">
                          <a:solidFill>
                            <a:srgbClr val="0B1220"/>
                          </a:solidFill>
                          <a:latin typeface="Calibri"/>
                        </a:rPr>
                        <a:t>71% against a 90% target</a:t>
                      </a:r>
                    </a:p>
                  </a:txBody>
                  <a:tcPr marL="54864" marR="54864" marT="9144" marB="9144" anchor="ctr">
                    <a:solidFill>
                      <a:srgbClr val="F1F6FB"/>
                    </a:solidFill>
                  </a:tcPr>
                </a:tc>
                <a:tc>
                  <a:txBody>
                    <a:bodyPr wrap="square"/>
                    <a:lstStyle/>
                    <a:p>
                      <a:pPr algn="l"/>
                      <a:r>
                        <a:rPr sz="950" b="0">
                          <a:solidFill>
                            <a:srgbClr val="0B1220"/>
                          </a:solidFill>
                          <a:latin typeface="Calibri"/>
                        </a:rPr>
                        <a:t>OTD: 71% (target 90%)</a:t>
                      </a:r>
                    </a:p>
                  </a:txBody>
                  <a:tcPr marL="54864" marR="54864" marT="9144" marB="9144" anchor="ctr">
                    <a:solidFill>
                      <a:srgbClr val="F1F6FB"/>
                    </a:solidFill>
                  </a:tcPr>
                </a:tc>
                <a:tc>
                  <a:txBody>
                    <a:bodyPr wrap="square"/>
                    <a:lstStyle/>
                    <a:p>
                      <a:pPr algn="ctr"/>
                      <a:r>
                        <a:rPr sz="950" b="1">
                          <a:solidFill>
                            <a:srgbClr val="2E9E5B"/>
                          </a:solidFill>
                          <a:latin typeface="Calibri"/>
                        </a:rPr>
                        <a:t>✓</a:t>
                      </a:r>
                    </a:p>
                  </a:txBody>
                  <a:tcPr marL="54864" marR="54864" marT="9144" marB="9144" anchor="ctr">
                    <a:solidFill>
                      <a:srgbClr val="F1F6FB"/>
                    </a:solidFill>
                  </a:tcPr>
                </a:tc>
              </a:tr>
              <a:tr h="420624">
                <a:tc>
                  <a:txBody>
                    <a:bodyPr wrap="square"/>
                    <a:lstStyle/>
                    <a:p>
                      <a:pPr algn="l"/>
                      <a:r>
                        <a:rPr sz="950" b="0">
                          <a:solidFill>
                            <a:srgbClr val="0B1220"/>
                          </a:solidFill>
                          <a:latin typeface="Calibri"/>
                        </a:rPr>
                        <a:t>How many parts have exactly one approved source?</a:t>
                      </a:r>
                    </a:p>
                  </a:txBody>
                  <a:tcPr marL="54864" marR="54864" marT="9144" marB="9144" anchor="ctr">
                    <a:solidFill>
                      <a:srgbClr val="FFFFFF"/>
                    </a:solidFill>
                  </a:tcPr>
                </a:tc>
                <a:tc>
                  <a:txBody>
                    <a:bodyPr wrap="square"/>
                    <a:lstStyle/>
                    <a:p>
                      <a:pPr algn="l"/>
                      <a:r>
                        <a:rPr sz="950" b="0">
                          <a:solidFill>
                            <a:srgbClr val="0B1220"/>
                          </a:solidFill>
                          <a:latin typeface="Calibri"/>
                        </a:rPr>
                        <a:t>1,788 parts</a:t>
                      </a:r>
                    </a:p>
                  </a:txBody>
                  <a:tcPr marL="54864" marR="54864" marT="9144" marB="9144" anchor="ctr">
                    <a:solidFill>
                      <a:srgbClr val="FFFFFF"/>
                    </a:solidFill>
                  </a:tcPr>
                </a:tc>
                <a:tc>
                  <a:txBody>
                    <a:bodyPr wrap="square"/>
                    <a:lstStyle/>
                    <a:p>
                      <a:pPr algn="l"/>
                      <a:r>
                        <a:rPr sz="950" b="0">
                          <a:solidFill>
                            <a:srgbClr val="0B1220"/>
                          </a:solidFill>
                          <a:latin typeface="Calibri"/>
                        </a:rPr>
                        <a:t>1,790 parts</a:t>
                      </a:r>
                    </a:p>
                  </a:txBody>
                  <a:tcPr marL="54864" marR="54864" marT="9144" marB="9144" anchor="ctr">
                    <a:solidFill>
                      <a:srgbClr val="FFFFFF"/>
                    </a:solidFill>
                  </a:tcPr>
                </a:tc>
                <a:tc>
                  <a:txBody>
                    <a:bodyPr wrap="square"/>
                    <a:lstStyle/>
                    <a:p>
                      <a:pPr algn="ctr"/>
                      <a:r>
                        <a:rPr sz="950" b="1">
                          <a:solidFill>
                            <a:srgbClr val="E4572E"/>
                          </a:solidFill>
                          <a:latin typeface="Calibri"/>
                        </a:rPr>
                        <a:t>✗</a:t>
                      </a:r>
                    </a:p>
                  </a:txBody>
                  <a:tcPr marL="54864" marR="54864" marT="9144" marB="9144" anchor="ctr">
                    <a:solidFill>
                      <a:srgbClr val="FFFFFF"/>
                    </a:solidFill>
                  </a:tcPr>
                </a:tc>
              </a:tr>
            </a:tbl>
          </a:graphicData>
        </a:graphic>
      </p:graphicFrame>
      <p:sp>
        <p:nvSpPr>
          <p:cNvPr id="6" name="Rounded Rectangle 5"/>
          <p:cNvSpPr/>
          <p:nvPr/>
        </p:nvSpPr>
        <p:spPr>
          <a:xfrm>
            <a:off x="411480" y="3072384"/>
            <a:ext cx="8321040" cy="1298448"/>
          </a:xfrm>
          <a:prstGeom prst="roundRect">
            <a:avLst>
              <a:gd name="adj" fmla="val 6000"/>
            </a:avLst>
          </a:prstGeom>
          <a:solidFill>
            <a:srgbClr val="FFF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94360" y="3182112"/>
            <a:ext cx="7955280" cy="237744"/>
          </a:xfrm>
          <a:prstGeom prst="rect">
            <a:avLst/>
          </a:prstGeom>
          <a:noFill/>
        </p:spPr>
        <p:txBody>
          <a:bodyPr wrap="square" lIns="0" rIns="0" tIns="0" bIns="0" anchor="t">
            <a:spAutoFit/>
          </a:bodyPr>
          <a:lstStyle/>
          <a:p>
            <a:pPr algn="l">
              <a:spcAft>
                <a:spcPts val="400"/>
              </a:spcAft>
            </a:pPr>
            <a:r>
              <a:rPr sz="1200" b="1" i="0">
                <a:solidFill>
                  <a:srgbClr val="F5A623"/>
                </a:solidFill>
                <a:latin typeface="Cambria"/>
              </a:rPr>
              <a:t>The one that missed — and why we are showing it</a:t>
            </a:r>
          </a:p>
        </p:txBody>
      </p:sp>
      <p:sp>
        <p:nvSpPr>
          <p:cNvPr id="8" name="TextBox 7"/>
          <p:cNvSpPr txBox="1"/>
          <p:nvPr/>
        </p:nvSpPr>
        <p:spPr>
          <a:xfrm>
            <a:off x="594360" y="3474720"/>
            <a:ext cx="7955280" cy="804672"/>
          </a:xfrm>
          <a:prstGeom prst="rect">
            <a:avLst/>
          </a:prstGeom>
          <a:noFill/>
        </p:spPr>
        <p:txBody>
          <a:bodyPr wrap="square" lIns="0" rIns="0" tIns="0" bIns="0" anchor="t">
            <a:spAutoFit/>
          </a:bodyPr>
          <a:lstStyle/>
          <a:p>
            <a:pPr algn="l">
              <a:lnSpc>
                <a:spcPct val="122000"/>
              </a:lnSpc>
              <a:spcAft>
                <a:spcPts val="400"/>
              </a:spcAft>
            </a:pPr>
            <a:r>
              <a:rPr sz="1050" b="0" i="0">
                <a:solidFill>
                  <a:srgbClr val="0B1220"/>
                </a:solidFill>
                <a:latin typeface="Calibri"/>
              </a:rPr>
              <a:t>The agent reported 1,788 single-sourced parts against a true 1,790 — a 0.1% error, but a real one. It matters because the same question has two defensible answers: counting the KG's APPROVED_SOURCE edges gives 1,790, while counting SUPPLIER_PART_APPROVAL across all 30,000 parts gives 10,556. The semantic view scopes the agent to the graph. Knowing that boundary is the difference between a demo and a system you can trust.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Accuracy</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Ten questions, ground truth computed independently in SQL</a:t>
            </a:r>
          </a:p>
        </p:txBody>
      </p:sp>
      <p:graphicFrame>
        <p:nvGraphicFramePr>
          <p:cNvPr id="5" name="Chart 4"/>
          <p:cNvGraphicFramePr>
            <a:graphicFrameLocks noGrp="1"/>
          </p:cNvGraphicFramePr>
          <p:nvPr/>
        </p:nvGraphicFramePr>
        <p:xfrm>
          <a:off x="411480" y="1188720"/>
          <a:ext cx="3566160" cy="2926080"/>
        </p:xfrm>
        <a:graphic>
          <a:graphicData uri="http://schemas.openxmlformats.org/drawingml/2006/chart">
            <c:chart xmlns:c="http://schemas.openxmlformats.org/drawingml/2006/chart" r:id="rId4"/>
          </a:graphicData>
        </a:graphic>
      </p:graphicFrame>
      <p:sp>
        <p:nvSpPr>
          <p:cNvPr id="6" name="Rounded Rectangle 5"/>
          <p:cNvSpPr/>
          <p:nvPr/>
        </p:nvSpPr>
        <p:spPr>
          <a:xfrm>
            <a:off x="4206240" y="1280160"/>
            <a:ext cx="4526280" cy="270662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89120" y="1408176"/>
            <a:ext cx="4160520" cy="237744"/>
          </a:xfrm>
          <a:prstGeom prst="rect">
            <a:avLst/>
          </a:prstGeom>
          <a:noFill/>
        </p:spPr>
        <p:txBody>
          <a:bodyPr wrap="square" lIns="0" rIns="0" tIns="0" bIns="0" anchor="t">
            <a:spAutoFit/>
          </a:bodyPr>
          <a:lstStyle/>
          <a:p>
            <a:pPr algn="l">
              <a:spcAft>
                <a:spcPts val="400"/>
              </a:spcAft>
            </a:pPr>
            <a:r>
              <a:rPr sz="1250" b="1" i="0">
                <a:solidFill>
                  <a:srgbClr val="0B1220"/>
                </a:solidFill>
                <a:latin typeface="Cambria"/>
              </a:rPr>
              <a:t>How this was measured</a:t>
            </a:r>
          </a:p>
        </p:txBody>
      </p:sp>
      <p:sp>
        <p:nvSpPr>
          <p:cNvPr id="8" name="Oval 7"/>
          <p:cNvSpPr/>
          <p:nvPr/>
        </p:nvSpPr>
        <p:spPr>
          <a:xfrm>
            <a:off x="4389120" y="1805940"/>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0" y="1755648"/>
            <a:ext cx="3977640" cy="56692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Truth first. </a:t>
            </a:r>
            <a:r>
              <a:rPr sz="1000" b="0">
                <a:solidFill>
                  <a:srgbClr val="5A6B80"/>
                </a:solidFill>
                <a:latin typeface="Calibri"/>
              </a:rPr>
              <a:t>Every expected value computed in SQL before the agent was asked.</a:t>
            </a:r>
          </a:p>
        </p:txBody>
      </p:sp>
      <p:sp>
        <p:nvSpPr>
          <p:cNvPr id="10" name="Oval 9"/>
          <p:cNvSpPr/>
          <p:nvPr/>
        </p:nvSpPr>
        <p:spPr>
          <a:xfrm>
            <a:off x="4389120" y="2372868"/>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0" y="2322576"/>
            <a:ext cx="3977640" cy="56692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Programmatic grading. </a:t>
            </a:r>
            <a:r>
              <a:rPr sz="1000" b="0">
                <a:solidFill>
                  <a:srgbClr val="5A6B80"/>
                </a:solidFill>
                <a:latin typeface="Calibri"/>
              </a:rPr>
              <a:t>Answers parsed for the expected figures — no human marking their own homework.</a:t>
            </a:r>
          </a:p>
        </p:txBody>
      </p:sp>
      <p:sp>
        <p:nvSpPr>
          <p:cNvPr id="12" name="Oval 11"/>
          <p:cNvSpPr/>
          <p:nvPr/>
        </p:nvSpPr>
        <p:spPr>
          <a:xfrm>
            <a:off x="4389120" y="2939796"/>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0" y="2889504"/>
            <a:ext cx="3977640" cy="56692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Full stack exercised. </a:t>
            </a:r>
            <a:r>
              <a:rPr sz="1000" b="0">
                <a:solidFill>
                  <a:srgbClr val="5A6B80"/>
                </a:solidFill>
                <a:latin typeface="Calibri"/>
              </a:rPr>
              <a:t>Both tools, charts, tables and the markdown fallback path.</a:t>
            </a:r>
          </a:p>
        </p:txBody>
      </p:sp>
      <p:sp>
        <p:nvSpPr>
          <p:cNvPr id="14" name="Oval 13"/>
          <p:cNvSpPr/>
          <p:nvPr/>
        </p:nvSpPr>
        <p:spPr>
          <a:xfrm>
            <a:off x="4389120" y="3506724"/>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0" y="3456432"/>
            <a:ext cx="3977640" cy="566928"/>
          </a:xfrm>
          <a:prstGeom prst="rect">
            <a:avLst/>
          </a:prstGeom>
          <a:noFill/>
        </p:spPr>
        <p:txBody>
          <a:bodyPr wrap="square" lIns="0" rIns="0" tIns="0" bIns="0">
            <a:spAutoFit/>
          </a:bodyPr>
          <a:lstStyle/>
          <a:p>
            <a:pPr>
              <a:lnSpc>
                <a:spcPct val="100000"/>
              </a:lnSpc>
              <a:spcAft>
                <a:spcPts val="500"/>
              </a:spcAft>
            </a:pPr>
            <a:r>
              <a:rPr sz="1000" b="1">
                <a:solidFill>
                  <a:srgbClr val="0B1220"/>
                </a:solidFill>
                <a:latin typeface="Calibri"/>
              </a:rPr>
              <a:t>Failures reported. </a:t>
            </a:r>
            <a:r>
              <a:rPr sz="1000" b="0">
                <a:solidFill>
                  <a:srgbClr val="5A6B80"/>
                </a:solidFill>
                <a:latin typeface="Calibri"/>
              </a:rPr>
              <a:t>The single miss is on the previous slide, not rounded away.</a:t>
            </a:r>
          </a:p>
        </p:txBody>
      </p:sp>
      <p:sp>
        <p:nvSpPr>
          <p:cNvPr id="16" name="Rounded Rectangle 15"/>
          <p:cNvSpPr/>
          <p:nvPr/>
        </p:nvSpPr>
        <p:spPr>
          <a:xfrm>
            <a:off x="411480" y="4133087"/>
            <a:ext cx="1977390" cy="60350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2920" y="4224527"/>
            <a:ext cx="1794510" cy="402336"/>
          </a:xfrm>
          <a:prstGeom prst="rect">
            <a:avLst/>
          </a:prstGeom>
          <a:noFill/>
        </p:spPr>
        <p:txBody>
          <a:bodyPr wrap="square" lIns="0" rIns="0" tIns="0" bIns="0" anchor="t">
            <a:spAutoFit/>
          </a:bodyPr>
          <a:lstStyle/>
          <a:p>
            <a:pPr algn="ctr">
              <a:spcAft>
                <a:spcPts val="400"/>
              </a:spcAft>
            </a:pPr>
            <a:r>
              <a:rPr sz="1700" b="1" i="0">
                <a:solidFill>
                  <a:srgbClr val="18A0FB"/>
                </a:solidFill>
                <a:latin typeface="Cambria"/>
              </a:rPr>
              <a:t>14/14</a:t>
            </a:r>
          </a:p>
        </p:txBody>
      </p:sp>
      <p:sp>
        <p:nvSpPr>
          <p:cNvPr id="18" name="TextBox 17"/>
          <p:cNvSpPr txBox="1"/>
          <p:nvPr/>
        </p:nvSpPr>
        <p:spPr>
          <a:xfrm>
            <a:off x="484632" y="4425695"/>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sample questions answered</a:t>
            </a:r>
          </a:p>
        </p:txBody>
      </p:sp>
      <p:sp>
        <p:nvSpPr>
          <p:cNvPr id="19" name="Rounded Rectangle 18"/>
          <p:cNvSpPr/>
          <p:nvPr/>
        </p:nvSpPr>
        <p:spPr>
          <a:xfrm>
            <a:off x="2526030" y="4133087"/>
            <a:ext cx="1977390" cy="60350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617470" y="4224527"/>
            <a:ext cx="1794510" cy="402336"/>
          </a:xfrm>
          <a:prstGeom prst="rect">
            <a:avLst/>
          </a:prstGeom>
          <a:noFill/>
        </p:spPr>
        <p:txBody>
          <a:bodyPr wrap="square" lIns="0" rIns="0" tIns="0" bIns="0" anchor="t">
            <a:spAutoFit/>
          </a:bodyPr>
          <a:lstStyle/>
          <a:p>
            <a:pPr algn="ctr">
              <a:spcAft>
                <a:spcPts val="400"/>
              </a:spcAft>
            </a:pPr>
            <a:r>
              <a:rPr sz="1700" b="1" i="0">
                <a:solidFill>
                  <a:srgbClr val="2E9E5B"/>
                </a:solidFill>
                <a:latin typeface="Cambria"/>
              </a:rPr>
              <a:t>9/10</a:t>
            </a:r>
          </a:p>
        </p:txBody>
      </p:sp>
      <p:sp>
        <p:nvSpPr>
          <p:cNvPr id="21" name="TextBox 20"/>
          <p:cNvSpPr txBox="1"/>
          <p:nvPr/>
        </p:nvSpPr>
        <p:spPr>
          <a:xfrm>
            <a:off x="2599182" y="4425695"/>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verified exact</a:t>
            </a:r>
          </a:p>
        </p:txBody>
      </p:sp>
      <p:sp>
        <p:nvSpPr>
          <p:cNvPr id="22" name="Rounded Rectangle 21"/>
          <p:cNvSpPr/>
          <p:nvPr/>
        </p:nvSpPr>
        <p:spPr>
          <a:xfrm>
            <a:off x="4640580" y="4133087"/>
            <a:ext cx="1977390" cy="60350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32020" y="4224527"/>
            <a:ext cx="1794510" cy="402336"/>
          </a:xfrm>
          <a:prstGeom prst="rect">
            <a:avLst/>
          </a:prstGeom>
          <a:noFill/>
        </p:spPr>
        <p:txBody>
          <a:bodyPr wrap="square" lIns="0" rIns="0" tIns="0" bIns="0" anchor="t">
            <a:spAutoFit/>
          </a:bodyPr>
          <a:lstStyle/>
          <a:p>
            <a:pPr algn="ctr">
              <a:spcAft>
                <a:spcPts val="400"/>
              </a:spcAft>
            </a:pPr>
            <a:r>
              <a:rPr sz="1700" b="1" i="0">
                <a:solidFill>
                  <a:srgbClr val="00C2B2"/>
                </a:solidFill>
                <a:latin typeface="Cambria"/>
              </a:rPr>
              <a:t>0</a:t>
            </a:r>
          </a:p>
        </p:txBody>
      </p:sp>
      <p:sp>
        <p:nvSpPr>
          <p:cNvPr id="24" name="TextBox 23"/>
          <p:cNvSpPr txBox="1"/>
          <p:nvPr/>
        </p:nvSpPr>
        <p:spPr>
          <a:xfrm>
            <a:off x="4713732" y="4425695"/>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hallucinated entities</a:t>
            </a:r>
          </a:p>
        </p:txBody>
      </p:sp>
      <p:sp>
        <p:nvSpPr>
          <p:cNvPr id="25" name="Rounded Rectangle 24"/>
          <p:cNvSpPr/>
          <p:nvPr/>
        </p:nvSpPr>
        <p:spPr>
          <a:xfrm>
            <a:off x="6755130" y="4133087"/>
            <a:ext cx="1977390" cy="60350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46570" y="4224527"/>
            <a:ext cx="1794510" cy="402336"/>
          </a:xfrm>
          <a:prstGeom prst="rect">
            <a:avLst/>
          </a:prstGeom>
          <a:noFill/>
        </p:spPr>
        <p:txBody>
          <a:bodyPr wrap="square" lIns="0" rIns="0" tIns="0" bIns="0" anchor="t">
            <a:spAutoFit/>
          </a:bodyPr>
          <a:lstStyle/>
          <a:p>
            <a:pPr algn="ctr">
              <a:spcAft>
                <a:spcPts val="400"/>
              </a:spcAft>
            </a:pPr>
            <a:r>
              <a:rPr sz="1700" b="1" i="0">
                <a:solidFill>
                  <a:srgbClr val="8A5CF6"/>
                </a:solidFill>
                <a:latin typeface="Cambria"/>
              </a:rPr>
              <a:t>100%</a:t>
            </a:r>
          </a:p>
        </p:txBody>
      </p:sp>
      <p:sp>
        <p:nvSpPr>
          <p:cNvPr id="27" name="TextBox 26"/>
          <p:cNvSpPr txBox="1"/>
          <p:nvPr/>
        </p:nvSpPr>
        <p:spPr>
          <a:xfrm>
            <a:off x="6828282" y="4425695"/>
            <a:ext cx="183108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answers with executable SQL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7</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THE AGENT FLEET</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One graph.
Ten agents.</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The knowledge graph is the substrate. Once relationships and centrality are queryable in SQL, each of these is a prompt and a tool binding — not a new pipeline.</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10</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agents specified</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1</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shared semantic layer</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0</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new data movement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Agents this knowledge graph can carry — 1 of 2</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Each is a prompt plus a tool binding over the same semantic layer</a:t>
            </a:r>
          </a:p>
        </p:txBody>
      </p:sp>
      <p:sp>
        <p:nvSpPr>
          <p:cNvPr id="5" name="Rounded Rectangle 4"/>
          <p:cNvSpPr/>
          <p:nvPr/>
        </p:nvSpPr>
        <p:spPr>
          <a:xfrm>
            <a:off x="411480" y="1207008"/>
            <a:ext cx="2682240"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48640" y="1335024"/>
            <a:ext cx="292608" cy="29260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7" name="TextBox 6"/>
          <p:cNvSpPr txBox="1"/>
          <p:nvPr/>
        </p:nvSpPr>
        <p:spPr>
          <a:xfrm>
            <a:off x="923544" y="1325880"/>
            <a:ext cx="202387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Supply Risk Sentinel</a:t>
            </a:r>
          </a:p>
        </p:txBody>
      </p:sp>
      <p:sp>
        <p:nvSpPr>
          <p:cNvPr id="8" name="TextBox 7"/>
          <p:cNvSpPr txBox="1"/>
          <p:nvPr/>
        </p:nvSpPr>
        <p:spPr>
          <a:xfrm>
            <a:off x="548640" y="1609344"/>
            <a:ext cx="240792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E4572E"/>
                </a:solidFill>
                <a:latin typeface="Calibri"/>
              </a:rPr>
              <a:t>“Which sites became chokepoints this week?”</a:t>
            </a:r>
          </a:p>
        </p:txBody>
      </p:sp>
      <p:sp>
        <p:nvSpPr>
          <p:cNvPr id="9" name="TextBox 8"/>
          <p:cNvSpPr txBox="1"/>
          <p:nvPr/>
        </p:nvSpPr>
        <p:spPr>
          <a:xfrm>
            <a:off x="548640" y="2176272"/>
            <a:ext cx="240792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betweenness · scheduled</a:t>
            </a:r>
          </a:p>
        </p:txBody>
      </p:sp>
      <p:sp>
        <p:nvSpPr>
          <p:cNvPr id="10" name="TextBox 9"/>
          <p:cNvSpPr txBox="1"/>
          <p:nvPr/>
        </p:nvSpPr>
        <p:spPr>
          <a:xfrm>
            <a:off x="548640" y="2377440"/>
            <a:ext cx="240792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Prevention, not post-mortem</a:t>
            </a:r>
          </a:p>
        </p:txBody>
      </p:sp>
      <p:sp>
        <p:nvSpPr>
          <p:cNvPr id="11" name="Rounded Rectangle 10"/>
          <p:cNvSpPr/>
          <p:nvPr/>
        </p:nvSpPr>
        <p:spPr>
          <a:xfrm>
            <a:off x="3230880" y="1207008"/>
            <a:ext cx="2682240"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368040" y="1335024"/>
            <a:ext cx="292608" cy="292608"/>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13" name="TextBox 12"/>
          <p:cNvSpPr txBox="1"/>
          <p:nvPr/>
        </p:nvSpPr>
        <p:spPr>
          <a:xfrm>
            <a:off x="3742944" y="1325880"/>
            <a:ext cx="202387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Dual-Source Advisor</a:t>
            </a:r>
          </a:p>
        </p:txBody>
      </p:sp>
      <p:sp>
        <p:nvSpPr>
          <p:cNvPr id="14" name="TextBox 13"/>
          <p:cNvSpPr txBox="1"/>
          <p:nvPr/>
        </p:nvSpPr>
        <p:spPr>
          <a:xfrm>
            <a:off x="3368040" y="1609344"/>
            <a:ext cx="240792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18A0FB"/>
                </a:solidFill>
                <a:latin typeface="Calibri"/>
              </a:rPr>
              <a:t>“Which single-sourced parts carry the most spend?”</a:t>
            </a:r>
          </a:p>
        </p:txBody>
      </p:sp>
      <p:sp>
        <p:nvSpPr>
          <p:cNvPr id="15" name="TextBox 14"/>
          <p:cNvSpPr txBox="1"/>
          <p:nvPr/>
        </p:nvSpPr>
        <p:spPr>
          <a:xfrm>
            <a:off x="3368040" y="2176272"/>
            <a:ext cx="240792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APPROVED_SOURCE · spend</a:t>
            </a:r>
          </a:p>
        </p:txBody>
      </p:sp>
      <p:sp>
        <p:nvSpPr>
          <p:cNvPr id="16" name="TextBox 15"/>
          <p:cNvSpPr txBox="1"/>
          <p:nvPr/>
        </p:nvSpPr>
        <p:spPr>
          <a:xfrm>
            <a:off x="3368040" y="2377440"/>
            <a:ext cx="240792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Ranked qualification backlog</a:t>
            </a:r>
          </a:p>
        </p:txBody>
      </p:sp>
      <p:sp>
        <p:nvSpPr>
          <p:cNvPr id="17" name="Rounded Rectangle 16"/>
          <p:cNvSpPr/>
          <p:nvPr/>
        </p:nvSpPr>
        <p:spPr>
          <a:xfrm>
            <a:off x="6050280" y="1207008"/>
            <a:ext cx="2682240"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187440" y="1335024"/>
            <a:ext cx="292608" cy="292608"/>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19" name="TextBox 18"/>
          <p:cNvSpPr txBox="1"/>
          <p:nvPr/>
        </p:nvSpPr>
        <p:spPr>
          <a:xfrm>
            <a:off x="6562344" y="1325880"/>
            <a:ext cx="202387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EOL Impact Analyst</a:t>
            </a:r>
          </a:p>
        </p:txBody>
      </p:sp>
      <p:sp>
        <p:nvSpPr>
          <p:cNvPr id="20" name="TextBox 19"/>
          <p:cNvSpPr txBox="1"/>
          <p:nvPr/>
        </p:nvSpPr>
        <p:spPr>
          <a:xfrm>
            <a:off x="6187440" y="1609344"/>
            <a:ext cx="240792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8A5CF6"/>
                </a:solidFill>
                <a:latin typeface="Calibri"/>
              </a:rPr>
              <a:t>“What breaks if this part is discontinued?”</a:t>
            </a:r>
          </a:p>
        </p:txBody>
      </p:sp>
      <p:sp>
        <p:nvSpPr>
          <p:cNvPr id="21" name="TextBox 20"/>
          <p:cNvSpPr txBox="1"/>
          <p:nvPr/>
        </p:nvSpPr>
        <p:spPr>
          <a:xfrm>
            <a:off x="6187440" y="2176272"/>
            <a:ext cx="240792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COMPONENT_OF traversal</a:t>
            </a:r>
          </a:p>
        </p:txBody>
      </p:sp>
      <p:sp>
        <p:nvSpPr>
          <p:cNvPr id="22" name="TextBox 21"/>
          <p:cNvSpPr txBox="1"/>
          <p:nvPr/>
        </p:nvSpPr>
        <p:spPr>
          <a:xfrm>
            <a:off x="6187440" y="2377440"/>
            <a:ext cx="240792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Blast radius in seconds</a:t>
            </a:r>
          </a:p>
        </p:txBody>
      </p:sp>
      <p:sp>
        <p:nvSpPr>
          <p:cNvPr id="23" name="Rounded Rectangle 22"/>
          <p:cNvSpPr/>
          <p:nvPr/>
        </p:nvSpPr>
        <p:spPr>
          <a:xfrm>
            <a:off x="411480" y="2779776"/>
            <a:ext cx="2682240"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48640" y="2907792"/>
            <a:ext cx="292608" cy="29260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25" name="TextBox 24"/>
          <p:cNvSpPr txBox="1"/>
          <p:nvPr/>
        </p:nvSpPr>
        <p:spPr>
          <a:xfrm>
            <a:off x="923544" y="2898648"/>
            <a:ext cx="202387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Supplier Quality Auditor</a:t>
            </a:r>
          </a:p>
        </p:txBody>
      </p:sp>
      <p:sp>
        <p:nvSpPr>
          <p:cNvPr id="26" name="TextBox 25"/>
          <p:cNvSpPr txBox="1"/>
          <p:nvPr/>
        </p:nvSpPr>
        <p:spPr>
          <a:xfrm>
            <a:off x="548640" y="3182112"/>
            <a:ext cx="240792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F5A623"/>
                </a:solidFill>
                <a:latin typeface="Calibri"/>
              </a:rPr>
              <a:t>“Which critical suppliers breach PPM?”</a:t>
            </a:r>
          </a:p>
        </p:txBody>
      </p:sp>
      <p:sp>
        <p:nvSpPr>
          <p:cNvPr id="27" name="TextBox 26"/>
          <p:cNvSpPr txBox="1"/>
          <p:nvPr/>
        </p:nvSpPr>
        <p:spPr>
          <a:xfrm>
            <a:off x="548640" y="3749040"/>
            <a:ext cx="240792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kg_search · scorecards</a:t>
            </a:r>
          </a:p>
        </p:txBody>
      </p:sp>
      <p:sp>
        <p:nvSpPr>
          <p:cNvPr id="28" name="TextBox 27"/>
          <p:cNvSpPr txBox="1"/>
          <p:nvPr/>
        </p:nvSpPr>
        <p:spPr>
          <a:xfrm>
            <a:off x="548640" y="3950208"/>
            <a:ext cx="240792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Structure joined to evidence</a:t>
            </a:r>
          </a:p>
        </p:txBody>
      </p:sp>
      <p:sp>
        <p:nvSpPr>
          <p:cNvPr id="29" name="Rounded Rectangle 28"/>
          <p:cNvSpPr/>
          <p:nvPr/>
        </p:nvSpPr>
        <p:spPr>
          <a:xfrm>
            <a:off x="3230880" y="2779776"/>
            <a:ext cx="2682240"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3368040" y="2907792"/>
            <a:ext cx="292608" cy="292608"/>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31" name="TextBox 30"/>
          <p:cNvSpPr txBox="1"/>
          <p:nvPr/>
        </p:nvSpPr>
        <p:spPr>
          <a:xfrm>
            <a:off x="3742944" y="2898648"/>
            <a:ext cx="202387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Contract Risk Reader</a:t>
            </a:r>
          </a:p>
        </p:txBody>
      </p:sp>
      <p:sp>
        <p:nvSpPr>
          <p:cNvPr id="32" name="TextBox 31"/>
          <p:cNvSpPr txBox="1"/>
          <p:nvPr/>
        </p:nvSpPr>
        <p:spPr>
          <a:xfrm>
            <a:off x="3368040" y="3182112"/>
            <a:ext cx="240792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00C2B2"/>
                </a:solidFill>
                <a:latin typeface="Calibri"/>
              </a:rPr>
              <a:t>“Which contracts lack penalty clauses?”</a:t>
            </a:r>
          </a:p>
        </p:txBody>
      </p:sp>
      <p:sp>
        <p:nvSpPr>
          <p:cNvPr id="33" name="TextBox 32"/>
          <p:cNvSpPr txBox="1"/>
          <p:nvPr/>
        </p:nvSpPr>
        <p:spPr>
          <a:xfrm>
            <a:off x="3368040" y="3749040"/>
            <a:ext cx="240792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kg_search · DOCUMENT_CORPUS</a:t>
            </a:r>
          </a:p>
        </p:txBody>
      </p:sp>
      <p:sp>
        <p:nvSpPr>
          <p:cNvPr id="34" name="TextBox 33"/>
          <p:cNvSpPr txBox="1"/>
          <p:nvPr/>
        </p:nvSpPr>
        <p:spPr>
          <a:xfrm>
            <a:off x="3368040" y="3950208"/>
            <a:ext cx="240792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Commercial exposure surfaced</a:t>
            </a:r>
          </a:p>
        </p:txBody>
      </p:sp>
      <p:sp>
        <p:nvSpPr>
          <p:cNvPr id="35" name="Rounded Rectangle 34"/>
          <p:cNvSpPr/>
          <p:nvPr/>
        </p:nvSpPr>
        <p:spPr>
          <a:xfrm>
            <a:off x="6050280" y="2779776"/>
            <a:ext cx="2682240" cy="1426464"/>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6187440" y="2907792"/>
            <a:ext cx="292608" cy="292608"/>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6</a:t>
            </a:r>
          </a:p>
        </p:txBody>
      </p:sp>
      <p:sp>
        <p:nvSpPr>
          <p:cNvPr id="37" name="TextBox 36"/>
          <p:cNvSpPr txBox="1"/>
          <p:nvPr/>
        </p:nvSpPr>
        <p:spPr>
          <a:xfrm>
            <a:off x="6562344" y="2898648"/>
            <a:ext cx="202387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Logistics Route Analyst</a:t>
            </a:r>
          </a:p>
        </p:txBody>
      </p:sp>
      <p:sp>
        <p:nvSpPr>
          <p:cNvPr id="38" name="TextBox 37"/>
          <p:cNvSpPr txBox="1"/>
          <p:nvPr/>
        </p:nvSpPr>
        <p:spPr>
          <a:xfrm>
            <a:off x="6187440" y="3182112"/>
            <a:ext cx="240792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2E9E5B"/>
                </a:solidFill>
                <a:latin typeface="Calibri"/>
              </a:rPr>
              <a:t>“Which lanes concentrate delay risk?”</a:t>
            </a:r>
          </a:p>
        </p:txBody>
      </p:sp>
      <p:sp>
        <p:nvSpPr>
          <p:cNvPr id="39" name="TextBox 38"/>
          <p:cNvSpPr txBox="1"/>
          <p:nvPr/>
        </p:nvSpPr>
        <p:spPr>
          <a:xfrm>
            <a:off x="6187440" y="3749040"/>
            <a:ext cx="240792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lanes, ports, carriers</a:t>
            </a:r>
          </a:p>
        </p:txBody>
      </p:sp>
      <p:sp>
        <p:nvSpPr>
          <p:cNvPr id="40" name="TextBox 39"/>
          <p:cNvSpPr txBox="1"/>
          <p:nvPr/>
        </p:nvSpPr>
        <p:spPr>
          <a:xfrm>
            <a:off x="6187440" y="3950208"/>
            <a:ext cx="240792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Reroute before the miss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Agents this knowledge graph can carry — 2 of 2</a:t>
            </a:r>
          </a:p>
        </p:txBody>
      </p:sp>
      <p:sp>
        <p:nvSpPr>
          <p:cNvPr id="4" name="Rounded Rectangle 3"/>
          <p:cNvSpPr/>
          <p:nvPr/>
        </p:nvSpPr>
        <p:spPr>
          <a:xfrm>
            <a:off x="411480" y="1188720"/>
            <a:ext cx="2011680" cy="148132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548640" y="1316736"/>
            <a:ext cx="292608" cy="292608"/>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7</a:t>
            </a:r>
          </a:p>
        </p:txBody>
      </p:sp>
      <p:sp>
        <p:nvSpPr>
          <p:cNvPr id="6" name="TextBox 5"/>
          <p:cNvSpPr txBox="1"/>
          <p:nvPr/>
        </p:nvSpPr>
        <p:spPr>
          <a:xfrm>
            <a:off x="923544" y="1307592"/>
            <a:ext cx="135331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Inventory Health Agent</a:t>
            </a:r>
          </a:p>
        </p:txBody>
      </p:sp>
      <p:sp>
        <p:nvSpPr>
          <p:cNvPr id="7" name="TextBox 6"/>
          <p:cNvSpPr txBox="1"/>
          <p:nvPr/>
        </p:nvSpPr>
        <p:spPr>
          <a:xfrm>
            <a:off x="548640" y="1591056"/>
            <a:ext cx="173736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18A0FB"/>
                </a:solidFill>
                <a:latin typeface="Calibri"/>
              </a:rPr>
              <a:t>“Where is slow-moving stock concentrated?”</a:t>
            </a:r>
          </a:p>
        </p:txBody>
      </p:sp>
      <p:sp>
        <p:nvSpPr>
          <p:cNvPr id="8" name="TextBox 7"/>
          <p:cNvSpPr txBox="1"/>
          <p:nvPr/>
        </p:nvSpPr>
        <p:spPr>
          <a:xfrm>
            <a:off x="548640" y="2212848"/>
            <a:ext cx="173736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DOI · FACT_INVENTORY</a:t>
            </a:r>
          </a:p>
        </p:txBody>
      </p:sp>
      <p:sp>
        <p:nvSpPr>
          <p:cNvPr id="9" name="TextBox 8"/>
          <p:cNvSpPr txBox="1"/>
          <p:nvPr/>
        </p:nvSpPr>
        <p:spPr>
          <a:xfrm>
            <a:off x="548640" y="2414016"/>
            <a:ext cx="173736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Working-capital release</a:t>
            </a:r>
          </a:p>
        </p:txBody>
      </p:sp>
      <p:sp>
        <p:nvSpPr>
          <p:cNvPr id="10" name="Rounded Rectangle 9"/>
          <p:cNvSpPr/>
          <p:nvPr/>
        </p:nvSpPr>
        <p:spPr>
          <a:xfrm>
            <a:off x="2514600" y="1188720"/>
            <a:ext cx="2011680" cy="148132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51760" y="1316736"/>
            <a:ext cx="292608" cy="29260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8</a:t>
            </a:r>
          </a:p>
        </p:txBody>
      </p:sp>
      <p:sp>
        <p:nvSpPr>
          <p:cNvPr id="12" name="TextBox 11"/>
          <p:cNvSpPr txBox="1"/>
          <p:nvPr/>
        </p:nvSpPr>
        <p:spPr>
          <a:xfrm>
            <a:off x="3026664" y="1307592"/>
            <a:ext cx="135331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Network Coverage Auditor</a:t>
            </a:r>
          </a:p>
        </p:txBody>
      </p:sp>
      <p:sp>
        <p:nvSpPr>
          <p:cNvPr id="13" name="TextBox 12"/>
          <p:cNvSpPr txBox="1"/>
          <p:nvPr/>
        </p:nvSpPr>
        <p:spPr>
          <a:xfrm>
            <a:off x="2651760" y="1591056"/>
            <a:ext cx="173736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F5A623"/>
                </a:solidFill>
                <a:latin typeface="Calibri"/>
              </a:rPr>
              <a:t>“Which entities are orphaned from the network?”</a:t>
            </a:r>
          </a:p>
        </p:txBody>
      </p:sp>
      <p:sp>
        <p:nvSpPr>
          <p:cNvPr id="14" name="TextBox 13"/>
          <p:cNvSpPr txBox="1"/>
          <p:nvPr/>
        </p:nvSpPr>
        <p:spPr>
          <a:xfrm>
            <a:off x="2651760" y="2212848"/>
            <a:ext cx="173736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COMPONENT_ID</a:t>
            </a:r>
          </a:p>
        </p:txBody>
      </p:sp>
      <p:sp>
        <p:nvSpPr>
          <p:cNvPr id="15" name="TextBox 14"/>
          <p:cNvSpPr txBox="1"/>
          <p:nvPr/>
        </p:nvSpPr>
        <p:spPr>
          <a:xfrm>
            <a:off x="2651760" y="2414016"/>
            <a:ext cx="173736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Master-data defects found</a:t>
            </a:r>
          </a:p>
        </p:txBody>
      </p:sp>
      <p:sp>
        <p:nvSpPr>
          <p:cNvPr id="16" name="Rounded Rectangle 15"/>
          <p:cNvSpPr/>
          <p:nvPr/>
        </p:nvSpPr>
        <p:spPr>
          <a:xfrm>
            <a:off x="4617720" y="1188720"/>
            <a:ext cx="2011680" cy="148132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754880" y="1316736"/>
            <a:ext cx="292608" cy="292608"/>
          </a:xfrm>
          <a:prstGeom prst="ellipse">
            <a:avLst/>
          </a:prstGeom>
          <a:solidFill>
            <a:srgbClr val="8A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9</a:t>
            </a:r>
          </a:p>
        </p:txBody>
      </p:sp>
      <p:sp>
        <p:nvSpPr>
          <p:cNvPr id="18" name="TextBox 17"/>
          <p:cNvSpPr txBox="1"/>
          <p:nvPr/>
        </p:nvSpPr>
        <p:spPr>
          <a:xfrm>
            <a:off x="5129784" y="1307592"/>
            <a:ext cx="135331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New-Supplier Onboarding</a:t>
            </a:r>
          </a:p>
        </p:txBody>
      </p:sp>
      <p:sp>
        <p:nvSpPr>
          <p:cNvPr id="19" name="TextBox 18"/>
          <p:cNvSpPr txBox="1"/>
          <p:nvPr/>
        </p:nvSpPr>
        <p:spPr>
          <a:xfrm>
            <a:off x="4754880" y="1591056"/>
            <a:ext cx="173736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8A5CF6"/>
                </a:solidFill>
                <a:latin typeface="Calibri"/>
              </a:rPr>
              <a:t>“Where would this supplier reduce risk most?”</a:t>
            </a:r>
          </a:p>
        </p:txBody>
      </p:sp>
      <p:sp>
        <p:nvSpPr>
          <p:cNvPr id="20" name="TextBox 19"/>
          <p:cNvSpPr txBox="1"/>
          <p:nvPr/>
        </p:nvSpPr>
        <p:spPr>
          <a:xfrm>
            <a:off x="4754880" y="2212848"/>
            <a:ext cx="173736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kg_analyst · centrality delta</a:t>
            </a:r>
          </a:p>
        </p:txBody>
      </p:sp>
      <p:sp>
        <p:nvSpPr>
          <p:cNvPr id="21" name="TextBox 20"/>
          <p:cNvSpPr txBox="1"/>
          <p:nvPr/>
        </p:nvSpPr>
        <p:spPr>
          <a:xfrm>
            <a:off x="4754880" y="2414016"/>
            <a:ext cx="173736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Sourcing strategy, quantified</a:t>
            </a:r>
          </a:p>
        </p:txBody>
      </p:sp>
      <p:sp>
        <p:nvSpPr>
          <p:cNvPr id="22" name="Rounded Rectangle 21"/>
          <p:cNvSpPr/>
          <p:nvPr/>
        </p:nvSpPr>
        <p:spPr>
          <a:xfrm>
            <a:off x="6720840" y="1188720"/>
            <a:ext cx="2011680" cy="148132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858000" y="1316736"/>
            <a:ext cx="292608" cy="292608"/>
          </a:xfrm>
          <a:prstGeom prst="ellipse">
            <a:avLst/>
          </a:prstGeom>
          <a:solidFill>
            <a:srgbClr val="00C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10</a:t>
            </a:r>
          </a:p>
        </p:txBody>
      </p:sp>
      <p:sp>
        <p:nvSpPr>
          <p:cNvPr id="24" name="TextBox 23"/>
          <p:cNvSpPr txBox="1"/>
          <p:nvPr/>
        </p:nvSpPr>
        <p:spPr>
          <a:xfrm>
            <a:off x="7232904" y="1307592"/>
            <a:ext cx="1353312" cy="219456"/>
          </a:xfrm>
          <a:prstGeom prst="rect">
            <a:avLst/>
          </a:prstGeom>
          <a:noFill/>
        </p:spPr>
        <p:txBody>
          <a:bodyPr wrap="square" lIns="0" rIns="0" tIns="0" bIns="0" anchor="t">
            <a:spAutoFit/>
          </a:bodyPr>
          <a:lstStyle/>
          <a:p>
            <a:pPr algn="l">
              <a:spcAft>
                <a:spcPts val="400"/>
              </a:spcAft>
            </a:pPr>
            <a:r>
              <a:rPr sz="1100" b="1" i="0">
                <a:solidFill>
                  <a:srgbClr val="0B1220"/>
                </a:solidFill>
                <a:latin typeface="Cambria"/>
              </a:rPr>
              <a:t>Executive Briefing Agent</a:t>
            </a:r>
          </a:p>
        </p:txBody>
      </p:sp>
      <p:sp>
        <p:nvSpPr>
          <p:cNvPr id="25" name="TextBox 24"/>
          <p:cNvSpPr txBox="1"/>
          <p:nvPr/>
        </p:nvSpPr>
        <p:spPr>
          <a:xfrm>
            <a:off x="6858000" y="1591056"/>
            <a:ext cx="1737360" cy="347472"/>
          </a:xfrm>
          <a:prstGeom prst="rect">
            <a:avLst/>
          </a:prstGeom>
          <a:noFill/>
        </p:spPr>
        <p:txBody>
          <a:bodyPr wrap="square" lIns="0" rIns="0" tIns="0" bIns="0" anchor="t">
            <a:spAutoFit/>
          </a:bodyPr>
          <a:lstStyle/>
          <a:p>
            <a:pPr algn="l">
              <a:lnSpc>
                <a:spcPct val="112000"/>
              </a:lnSpc>
              <a:spcAft>
                <a:spcPts val="400"/>
              </a:spcAft>
            </a:pPr>
            <a:r>
              <a:rPr sz="900" b="0" i="1">
                <a:solidFill>
                  <a:srgbClr val="00C2B2"/>
                </a:solidFill>
                <a:latin typeface="Calibri"/>
              </a:rPr>
              <a:t>“What changed in the network this month?”</a:t>
            </a:r>
          </a:p>
        </p:txBody>
      </p:sp>
      <p:sp>
        <p:nvSpPr>
          <p:cNvPr id="26" name="TextBox 25"/>
          <p:cNvSpPr txBox="1"/>
          <p:nvPr/>
        </p:nvSpPr>
        <p:spPr>
          <a:xfrm>
            <a:off x="6858000" y="2212848"/>
            <a:ext cx="1737360" cy="201168"/>
          </a:xfrm>
          <a:prstGeom prst="rect">
            <a:avLst/>
          </a:prstGeom>
          <a:noFill/>
        </p:spPr>
        <p:txBody>
          <a:bodyPr wrap="square" lIns="0" rIns="0" tIns="0" bIns="0" anchor="t">
            <a:spAutoFit/>
          </a:bodyPr>
          <a:lstStyle/>
          <a:p>
            <a:pPr algn="l">
              <a:spcAft>
                <a:spcPts val="400"/>
              </a:spcAft>
            </a:pPr>
            <a:r>
              <a:rPr sz="750" b="0" i="0">
                <a:solidFill>
                  <a:srgbClr val="5A6B80"/>
                </a:solidFill>
                <a:latin typeface="Consolas"/>
              </a:rPr>
              <a:t>all tools · scheduled digest</a:t>
            </a:r>
          </a:p>
        </p:txBody>
      </p:sp>
      <p:sp>
        <p:nvSpPr>
          <p:cNvPr id="27" name="TextBox 26"/>
          <p:cNvSpPr txBox="1"/>
          <p:nvPr/>
        </p:nvSpPr>
        <p:spPr>
          <a:xfrm>
            <a:off x="6858000" y="2414016"/>
            <a:ext cx="1737360" cy="201168"/>
          </a:xfrm>
          <a:prstGeom prst="rect">
            <a:avLst/>
          </a:prstGeom>
          <a:noFill/>
        </p:spPr>
        <p:txBody>
          <a:bodyPr wrap="square" lIns="0" rIns="0" tIns="0" bIns="0" anchor="t">
            <a:spAutoFit/>
          </a:bodyPr>
          <a:lstStyle/>
          <a:p>
            <a:pPr algn="l">
              <a:spcAft>
                <a:spcPts val="400"/>
              </a:spcAft>
            </a:pPr>
            <a:r>
              <a:rPr sz="850" b="1" i="0">
                <a:solidFill>
                  <a:srgbClr val="0B1220"/>
                </a:solidFill>
                <a:latin typeface="Calibri"/>
              </a:rPr>
              <a:t>One page, every Monday</a:t>
            </a:r>
          </a:p>
        </p:txBody>
      </p:sp>
      <p:sp>
        <p:nvSpPr>
          <p:cNvPr id="28" name="Rounded Rectangle 27"/>
          <p:cNvSpPr/>
          <p:nvPr/>
        </p:nvSpPr>
        <p:spPr>
          <a:xfrm>
            <a:off x="411480" y="2834640"/>
            <a:ext cx="8321040" cy="1517904"/>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0936" y="2962656"/>
            <a:ext cx="7882128" cy="237744"/>
          </a:xfrm>
          <a:prstGeom prst="rect">
            <a:avLst/>
          </a:prstGeom>
          <a:noFill/>
        </p:spPr>
        <p:txBody>
          <a:bodyPr wrap="square" lIns="0" rIns="0" tIns="0" bIns="0" anchor="t">
            <a:spAutoFit/>
          </a:bodyPr>
          <a:lstStyle/>
          <a:p>
            <a:pPr algn="l">
              <a:spcAft>
                <a:spcPts val="400"/>
              </a:spcAft>
            </a:pPr>
            <a:r>
              <a:rPr sz="1200" b="1" i="0">
                <a:solidFill>
                  <a:srgbClr val="00C2B2"/>
                </a:solidFill>
                <a:latin typeface="Cambria"/>
              </a:rPr>
              <a:t>What makes a fleet possible rather than ten integration projects</a:t>
            </a:r>
          </a:p>
        </p:txBody>
      </p:sp>
      <p:sp>
        <p:nvSpPr>
          <p:cNvPr id="30" name="TextBox 29"/>
          <p:cNvSpPr txBox="1"/>
          <p:nvPr/>
        </p:nvSpPr>
        <p:spPr>
          <a:xfrm>
            <a:off x="630936" y="3273552"/>
            <a:ext cx="7882128" cy="950976"/>
          </a:xfrm>
          <a:prstGeom prst="rect">
            <a:avLst/>
          </a:prstGeom>
          <a:noFill/>
        </p:spPr>
        <p:txBody>
          <a:bodyPr wrap="square" lIns="0" rIns="0" tIns="0" bIns="0" anchor="t">
            <a:spAutoFit/>
          </a:bodyPr>
          <a:lstStyle/>
          <a:p>
            <a:pPr algn="l">
              <a:lnSpc>
                <a:spcPct val="126000"/>
              </a:lnSpc>
              <a:spcAft>
                <a:spcPts val="400"/>
              </a:spcAft>
            </a:pPr>
            <a:r>
              <a:rPr sz="1100" b="0" i="0">
                <a:solidFill>
                  <a:srgbClr val="C3D2E4"/>
                </a:solidFill>
                <a:latin typeface="Calibri"/>
              </a:rPr>
              <a:t>Each agent shares one semantic view, one search service, one governance model and one set of precomputed measures. Adding the eleventh agent means writing a prompt and choosing which of the four tools it may call — no new pipeline, no new copy of the data, no new access-control surface. The marginal cost of an agent approaches the cost of describing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0" y="548640"/>
            <a:ext cx="9144000" cy="4297680"/>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1480" y="1060704"/>
            <a:ext cx="512064" cy="512064"/>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Calibri"/>
              </a:rPr>
              <a:t>8</a:t>
            </a:r>
          </a:p>
        </p:txBody>
      </p:sp>
      <p:sp>
        <p:nvSpPr>
          <p:cNvPr id="5" name="TextBox 4"/>
          <p:cNvSpPr txBox="1"/>
          <p:nvPr/>
        </p:nvSpPr>
        <p:spPr>
          <a:xfrm>
            <a:off x="1124712" y="1042415"/>
            <a:ext cx="6035040" cy="237744"/>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IMPACT</a:t>
            </a:r>
          </a:p>
        </p:txBody>
      </p:sp>
      <p:sp>
        <p:nvSpPr>
          <p:cNvPr id="6" name="TextBox 5"/>
          <p:cNvSpPr txBox="1"/>
          <p:nvPr/>
        </p:nvSpPr>
        <p:spPr>
          <a:xfrm>
            <a:off x="1124712" y="1335024"/>
            <a:ext cx="6949440" cy="914400"/>
          </a:xfrm>
          <a:prstGeom prst="rect">
            <a:avLst/>
          </a:prstGeom>
          <a:noFill/>
        </p:spPr>
        <p:txBody>
          <a:bodyPr wrap="square" lIns="0" rIns="0" tIns="0" bIns="0" anchor="t">
            <a:spAutoFit/>
          </a:bodyPr>
          <a:lstStyle/>
          <a:p>
            <a:pPr algn="l">
              <a:lnSpc>
                <a:spcPct val="108000"/>
              </a:lnSpc>
              <a:spcAft>
                <a:spcPts val="400"/>
              </a:spcAft>
            </a:pPr>
            <a:r>
              <a:rPr sz="2500" b="1" i="0">
                <a:solidFill>
                  <a:srgbClr val="FFFFFF"/>
                </a:solidFill>
                <a:latin typeface="Cambria"/>
              </a:rPr>
              <a:t>From three days
to twenty seconds.</a:t>
            </a:r>
          </a:p>
        </p:txBody>
      </p:sp>
      <p:sp>
        <p:nvSpPr>
          <p:cNvPr id="7" name="TextBox 6"/>
          <p:cNvSpPr txBox="1"/>
          <p:nvPr/>
        </p:nvSpPr>
        <p:spPr>
          <a:xfrm>
            <a:off x="1124712" y="2395728"/>
            <a:ext cx="6766560" cy="822960"/>
          </a:xfrm>
          <a:prstGeom prst="rect">
            <a:avLst/>
          </a:prstGeom>
          <a:noFill/>
        </p:spPr>
        <p:txBody>
          <a:bodyPr wrap="square" lIns="0" rIns="0" tIns="0" bIns="0" anchor="t">
            <a:spAutoFit/>
          </a:bodyPr>
          <a:lstStyle/>
          <a:p>
            <a:pPr algn="l">
              <a:lnSpc>
                <a:spcPct val="126000"/>
              </a:lnSpc>
              <a:spcAft>
                <a:spcPts val="400"/>
              </a:spcAft>
            </a:pPr>
            <a:r>
              <a:rPr sz="1200" b="0" i="0">
                <a:solidFill>
                  <a:srgbClr val="C3D2E4"/>
                </a:solidFill>
                <a:latin typeface="Calibri"/>
              </a:rPr>
              <a:t>The measurable outcome is not that a question is answered faster. It is that a question too expensive to ask weekly becomes cheap enough to automate.</a:t>
            </a:r>
          </a:p>
        </p:txBody>
      </p:sp>
      <p:sp>
        <p:nvSpPr>
          <p:cNvPr id="8" name="TextBox 7"/>
          <p:cNvSpPr txBox="1"/>
          <p:nvPr/>
        </p:nvSpPr>
        <p:spPr>
          <a:xfrm>
            <a:off x="1124712"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~99.9%</a:t>
            </a:r>
          </a:p>
        </p:txBody>
      </p:sp>
      <p:sp>
        <p:nvSpPr>
          <p:cNvPr id="9" name="TextBox 8"/>
          <p:cNvSpPr txBox="1"/>
          <p:nvPr/>
        </p:nvSpPr>
        <p:spPr>
          <a:xfrm>
            <a:off x="1124712"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time reduction</a:t>
            </a:r>
          </a:p>
        </p:txBody>
      </p:sp>
      <p:sp>
        <p:nvSpPr>
          <p:cNvPr id="10" name="TextBox 9"/>
          <p:cNvSpPr txBox="1"/>
          <p:nvPr/>
        </p:nvSpPr>
        <p:spPr>
          <a:xfrm>
            <a:off x="2999231"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$0.13</a:t>
            </a:r>
          </a:p>
        </p:txBody>
      </p:sp>
      <p:sp>
        <p:nvSpPr>
          <p:cNvPr id="11" name="TextBox 10"/>
          <p:cNvSpPr txBox="1"/>
          <p:nvPr/>
        </p:nvSpPr>
        <p:spPr>
          <a:xfrm>
            <a:off x="2999231"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average cost per answer</a:t>
            </a:r>
          </a:p>
        </p:txBody>
      </p:sp>
      <p:sp>
        <p:nvSpPr>
          <p:cNvPr id="12" name="TextBox 11"/>
          <p:cNvSpPr txBox="1"/>
          <p:nvPr/>
        </p:nvSpPr>
        <p:spPr>
          <a:xfrm>
            <a:off x="4873750" y="3493008"/>
            <a:ext cx="1691640" cy="365760"/>
          </a:xfrm>
          <a:prstGeom prst="rect">
            <a:avLst/>
          </a:prstGeom>
          <a:noFill/>
        </p:spPr>
        <p:txBody>
          <a:bodyPr wrap="square" lIns="0" rIns="0" tIns="0" bIns="0" anchor="t">
            <a:spAutoFit/>
          </a:bodyPr>
          <a:lstStyle/>
          <a:p>
            <a:pPr algn="l">
              <a:spcAft>
                <a:spcPts val="400"/>
              </a:spcAft>
            </a:pPr>
            <a:r>
              <a:rPr sz="2100" b="1" i="0">
                <a:solidFill>
                  <a:srgbClr val="00C2B2"/>
                </a:solidFill>
                <a:latin typeface="Cambria"/>
              </a:rPr>
              <a:t>37→2</a:t>
            </a:r>
          </a:p>
        </p:txBody>
      </p:sp>
      <p:sp>
        <p:nvSpPr>
          <p:cNvPr id="13" name="TextBox 12"/>
          <p:cNvSpPr txBox="1"/>
          <p:nvPr/>
        </p:nvSpPr>
        <p:spPr>
          <a:xfrm>
            <a:off x="4873750" y="3877056"/>
            <a:ext cx="1691640" cy="237744"/>
          </a:xfrm>
          <a:prstGeom prst="rect">
            <a:avLst/>
          </a:prstGeom>
          <a:noFill/>
        </p:spPr>
        <p:txBody>
          <a:bodyPr wrap="square" lIns="0" rIns="0" tIns="0" bIns="0" anchor="t">
            <a:spAutoFit/>
          </a:bodyPr>
          <a:lstStyle/>
          <a:p>
            <a:pPr algn="l">
              <a:spcAft>
                <a:spcPts val="400"/>
              </a:spcAft>
            </a:pPr>
            <a:r>
              <a:rPr sz="850" b="0" i="0">
                <a:solidFill>
                  <a:srgbClr val="9FB2C8"/>
                </a:solidFill>
                <a:latin typeface="Calibri"/>
              </a:rPr>
              <a:t>tables to query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Impact</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Measured against the manual baseline this replaces</a:t>
            </a:r>
          </a:p>
        </p:txBody>
      </p:sp>
      <p:graphicFrame>
        <p:nvGraphicFramePr>
          <p:cNvPr id="5" name="Table 4"/>
          <p:cNvGraphicFramePr>
            <a:graphicFrameLocks noGrp="1"/>
          </p:cNvGraphicFramePr>
          <p:nvPr/>
        </p:nvGraphicFramePr>
        <p:xfrm>
          <a:off x="411480" y="1207008"/>
          <a:ext cx="8321040" cy="2400300"/>
        </p:xfrm>
        <a:graphic>
          <a:graphicData uri="http://schemas.openxmlformats.org/drawingml/2006/table">
            <a:tbl>
              <a:tblPr firstRow="1" bandRow="1">
                <a:tableStyleId>{5C22544A-7EE6-4342-B048-85BDC9FD1C3A}</a:tableStyleId>
              </a:tblPr>
              <a:tblGrid>
                <a:gridCol w="2674620"/>
                <a:gridCol w="1783080"/>
                <a:gridCol w="2179320"/>
                <a:gridCol w="1684020"/>
              </a:tblGrid>
              <a:tr h="342900">
                <a:tc>
                  <a:txBody>
                    <a:bodyPr wrap="square"/>
                    <a:lstStyle/>
                    <a:p>
                      <a:pPr algn="l"/>
                      <a:r>
                        <a:rPr sz="900" b="1">
                          <a:solidFill>
                            <a:srgbClr val="FFFFFF"/>
                          </a:solidFill>
                          <a:latin typeface="Calibri"/>
                        </a:rPr>
                        <a:t>Outcome</a:t>
                      </a:r>
                    </a:p>
                  </a:txBody>
                  <a:tcPr marL="54864" marR="54864" marT="9144" marB="9144" anchor="ctr">
                    <a:solidFill>
                      <a:srgbClr val="0B1220"/>
                    </a:solidFill>
                  </a:tcPr>
                </a:tc>
                <a:tc>
                  <a:txBody>
                    <a:bodyPr wrap="square"/>
                    <a:lstStyle/>
                    <a:p>
                      <a:pPr algn="l"/>
                      <a:r>
                        <a:rPr sz="900" b="1">
                          <a:solidFill>
                            <a:srgbClr val="FFFFFF"/>
                          </a:solidFill>
                          <a:latin typeface="Calibri"/>
                        </a:rPr>
                        <a:t>Before</a:t>
                      </a:r>
                    </a:p>
                  </a:txBody>
                  <a:tcPr marL="54864" marR="54864" marT="9144" marB="9144" anchor="ctr">
                    <a:solidFill>
                      <a:srgbClr val="0B1220"/>
                    </a:solidFill>
                  </a:tcPr>
                </a:tc>
                <a:tc>
                  <a:txBody>
                    <a:bodyPr wrap="square"/>
                    <a:lstStyle/>
                    <a:p>
                      <a:pPr algn="l"/>
                      <a:r>
                        <a:rPr sz="900" b="1">
                          <a:solidFill>
                            <a:srgbClr val="FFFFFF"/>
                          </a:solidFill>
                          <a:latin typeface="Calibri"/>
                        </a:rPr>
                        <a:t>After</a:t>
                      </a:r>
                    </a:p>
                  </a:txBody>
                  <a:tcPr marL="54864" marR="54864" marT="9144" marB="9144" anchor="ctr">
                    <a:solidFill>
                      <a:srgbClr val="0B1220"/>
                    </a:solidFill>
                  </a:tcPr>
                </a:tc>
                <a:tc>
                  <a:txBody>
                    <a:bodyPr wrap="square"/>
                    <a:lstStyle/>
                    <a:p>
                      <a:pPr algn="l"/>
                      <a:r>
                        <a:rPr sz="900" b="1">
                          <a:solidFill>
                            <a:srgbClr val="FFFFFF"/>
                          </a:solidFill>
                          <a:latin typeface="Calibri"/>
                        </a:rPr>
                        <a:t>Change</a:t>
                      </a:r>
                    </a:p>
                  </a:txBody>
                  <a:tcPr marL="54864" marR="54864" marT="9144" marB="9144" anchor="ctr">
                    <a:solidFill>
                      <a:srgbClr val="0B1220"/>
                    </a:solidFill>
                  </a:tcPr>
                </a:tc>
              </a:tr>
              <a:tr h="342900">
                <a:tc>
                  <a:txBody>
                    <a:bodyPr wrap="square"/>
                    <a:lstStyle/>
                    <a:p>
                      <a:pPr algn="l"/>
                      <a:r>
                        <a:rPr sz="900" b="0">
                          <a:solidFill>
                            <a:srgbClr val="0B1220"/>
                          </a:solidFill>
                          <a:latin typeface="Calibri"/>
                        </a:rPr>
                        <a:t>Time to answer a network question</a:t>
                      </a:r>
                    </a:p>
                  </a:txBody>
                  <a:tcPr marL="54864" marR="54864" marT="9144" marB="9144" anchor="ctr">
                    <a:solidFill>
                      <a:srgbClr val="FFFFFF"/>
                    </a:solidFill>
                  </a:tcPr>
                </a:tc>
                <a:tc>
                  <a:txBody>
                    <a:bodyPr wrap="square"/>
                    <a:lstStyle/>
                    <a:p>
                      <a:pPr algn="l"/>
                      <a:r>
                        <a:rPr sz="900" b="0">
                          <a:solidFill>
                            <a:srgbClr val="0B1220"/>
                          </a:solidFill>
                          <a:latin typeface="Calibri"/>
                        </a:rPr>
                        <a:t>3–5 days</a:t>
                      </a:r>
                    </a:p>
                  </a:txBody>
                  <a:tcPr marL="54864" marR="54864" marT="9144" marB="9144" anchor="ctr">
                    <a:solidFill>
                      <a:srgbClr val="FFFFFF"/>
                    </a:solidFill>
                  </a:tcPr>
                </a:tc>
                <a:tc>
                  <a:txBody>
                    <a:bodyPr wrap="square"/>
                    <a:lstStyle/>
                    <a:p>
                      <a:pPr algn="l"/>
                      <a:r>
                        <a:rPr sz="900" b="0">
                          <a:solidFill>
                            <a:srgbClr val="0B1220"/>
                          </a:solidFill>
                          <a:latin typeface="Calibri"/>
                        </a:rPr>
                        <a:t>20–45 seconds</a:t>
                      </a:r>
                    </a:p>
                  </a:txBody>
                  <a:tcPr marL="54864" marR="54864" marT="9144" marB="9144" anchor="ctr">
                    <a:solidFill>
                      <a:srgbClr val="FFFFFF"/>
                    </a:solidFill>
                  </a:tcPr>
                </a:tc>
                <a:tc>
                  <a:txBody>
                    <a:bodyPr wrap="square"/>
                    <a:lstStyle/>
                    <a:p>
                      <a:pPr algn="l"/>
                      <a:r>
                        <a:rPr sz="900" b="0">
                          <a:solidFill>
                            <a:srgbClr val="0B1220"/>
                          </a:solidFill>
                          <a:latin typeface="Calibri"/>
                        </a:rPr>
                        <a:t>~99.9% faster</a:t>
                      </a:r>
                    </a:p>
                  </a:txBody>
                  <a:tcPr marL="54864" marR="54864" marT="9144" marB="9144" anchor="ctr">
                    <a:solidFill>
                      <a:srgbClr val="FFFFFF"/>
                    </a:solidFill>
                  </a:tcPr>
                </a:tc>
              </a:tr>
              <a:tr h="342900">
                <a:tc>
                  <a:txBody>
                    <a:bodyPr wrap="square"/>
                    <a:lstStyle/>
                    <a:p>
                      <a:pPr algn="l"/>
                      <a:r>
                        <a:rPr sz="900" b="0">
                          <a:solidFill>
                            <a:srgbClr val="0B1220"/>
                          </a:solidFill>
                          <a:latin typeface="Calibri"/>
                        </a:rPr>
                        <a:t>Tables an analyst must reason about</a:t>
                      </a:r>
                    </a:p>
                  </a:txBody>
                  <a:tcPr marL="54864" marR="54864" marT="9144" marB="9144" anchor="ctr">
                    <a:solidFill>
                      <a:srgbClr val="F1F6FB"/>
                    </a:solidFill>
                  </a:tcPr>
                </a:tc>
                <a:tc>
                  <a:txBody>
                    <a:bodyPr wrap="square"/>
                    <a:lstStyle/>
                    <a:p>
                      <a:pPr algn="l"/>
                      <a:r>
                        <a:rPr sz="900" b="0">
                          <a:solidFill>
                            <a:srgbClr val="0B1220"/>
                          </a:solidFill>
                          <a:latin typeface="Calibri"/>
                        </a:rPr>
                        <a:t>37</a:t>
                      </a:r>
                    </a:p>
                  </a:txBody>
                  <a:tcPr marL="54864" marR="54864" marT="9144" marB="9144" anchor="ctr">
                    <a:solidFill>
                      <a:srgbClr val="F1F6FB"/>
                    </a:solidFill>
                  </a:tcPr>
                </a:tc>
                <a:tc>
                  <a:txBody>
                    <a:bodyPr wrap="square"/>
                    <a:lstStyle/>
                    <a:p>
                      <a:pPr algn="l"/>
                      <a:r>
                        <a:rPr sz="900" b="0">
                          <a:solidFill>
                            <a:srgbClr val="0B1220"/>
                          </a:solidFill>
                          <a:latin typeface="Calibri"/>
                        </a:rPr>
                        <a:t>2 (via semantic view)</a:t>
                      </a:r>
                    </a:p>
                  </a:txBody>
                  <a:tcPr marL="54864" marR="54864" marT="9144" marB="9144" anchor="ctr">
                    <a:solidFill>
                      <a:srgbClr val="F1F6FB"/>
                    </a:solidFill>
                  </a:tcPr>
                </a:tc>
                <a:tc>
                  <a:txBody>
                    <a:bodyPr wrap="square"/>
                    <a:lstStyle/>
                    <a:p>
                      <a:pPr algn="l"/>
                      <a:r>
                        <a:rPr sz="900" b="0">
                          <a:solidFill>
                            <a:srgbClr val="0B1220"/>
                          </a:solidFill>
                          <a:latin typeface="Calibri"/>
                        </a:rPr>
                        <a:t>18× simpler</a:t>
                      </a:r>
                    </a:p>
                  </a:txBody>
                  <a:tcPr marL="54864" marR="54864" marT="9144" marB="9144" anchor="ctr">
                    <a:solidFill>
                      <a:srgbClr val="F1F6FB"/>
                    </a:solidFill>
                  </a:tcPr>
                </a:tc>
              </a:tr>
              <a:tr h="342900">
                <a:tc>
                  <a:txBody>
                    <a:bodyPr wrap="square"/>
                    <a:lstStyle/>
                    <a:p>
                      <a:pPr algn="l"/>
                      <a:r>
                        <a:rPr sz="900" b="0">
                          <a:solidFill>
                            <a:srgbClr val="0B1220"/>
                          </a:solidFill>
                          <a:latin typeface="Calibri"/>
                        </a:rPr>
                        <a:t>Skill required</a:t>
                      </a:r>
                    </a:p>
                  </a:txBody>
                  <a:tcPr marL="54864" marR="54864" marT="9144" marB="9144" anchor="ctr">
                    <a:solidFill>
                      <a:srgbClr val="FFFFFF"/>
                    </a:solidFill>
                  </a:tcPr>
                </a:tc>
                <a:tc>
                  <a:txBody>
                    <a:bodyPr wrap="square"/>
                    <a:lstStyle/>
                    <a:p>
                      <a:pPr algn="l"/>
                      <a:r>
                        <a:rPr sz="900" b="0">
                          <a:solidFill>
                            <a:srgbClr val="0B1220"/>
                          </a:solidFill>
                          <a:latin typeface="Calibri"/>
                        </a:rPr>
                        <a:t>SQL + domain expert</a:t>
                      </a:r>
                    </a:p>
                  </a:txBody>
                  <a:tcPr marL="54864" marR="54864" marT="9144" marB="9144" anchor="ctr">
                    <a:solidFill>
                      <a:srgbClr val="FFFFFF"/>
                    </a:solidFill>
                  </a:tcPr>
                </a:tc>
                <a:tc>
                  <a:txBody>
                    <a:bodyPr wrap="square"/>
                    <a:lstStyle/>
                    <a:p>
                      <a:pPr algn="l"/>
                      <a:r>
                        <a:rPr sz="900" b="0">
                          <a:solidFill>
                            <a:srgbClr val="0B1220"/>
                          </a:solidFill>
                          <a:latin typeface="Calibri"/>
                        </a:rPr>
                        <a:t>Plain English</a:t>
                      </a:r>
                    </a:p>
                  </a:txBody>
                  <a:tcPr marL="54864" marR="54864" marT="9144" marB="9144" anchor="ctr">
                    <a:solidFill>
                      <a:srgbClr val="FFFFFF"/>
                    </a:solidFill>
                  </a:tcPr>
                </a:tc>
                <a:tc>
                  <a:txBody>
                    <a:bodyPr wrap="square"/>
                    <a:lstStyle/>
                    <a:p>
                      <a:pPr algn="l"/>
                      <a:r>
                        <a:rPr sz="900" b="0">
                          <a:solidFill>
                            <a:srgbClr val="0B1220"/>
                          </a:solidFill>
                          <a:latin typeface="Calibri"/>
                        </a:rPr>
                        <a:t>Opened to the org</a:t>
                      </a:r>
                    </a:p>
                  </a:txBody>
                  <a:tcPr marL="54864" marR="54864" marT="9144" marB="9144" anchor="ctr">
                    <a:solidFill>
                      <a:srgbClr val="FFFFFF"/>
                    </a:solidFill>
                  </a:tcPr>
                </a:tc>
              </a:tr>
              <a:tr h="342900">
                <a:tc>
                  <a:txBody>
                    <a:bodyPr wrap="square"/>
                    <a:lstStyle/>
                    <a:p>
                      <a:pPr algn="l"/>
                      <a:r>
                        <a:rPr sz="900" b="0">
                          <a:solidFill>
                            <a:srgbClr val="0B1220"/>
                          </a:solidFill>
                          <a:latin typeface="Calibri"/>
                        </a:rPr>
                        <a:t>Cost per answer</a:t>
                      </a:r>
                    </a:p>
                  </a:txBody>
                  <a:tcPr marL="54864" marR="54864" marT="9144" marB="9144" anchor="ctr">
                    <a:solidFill>
                      <a:srgbClr val="F1F6FB"/>
                    </a:solidFill>
                  </a:tcPr>
                </a:tc>
                <a:tc>
                  <a:txBody>
                    <a:bodyPr wrap="square"/>
                    <a:lstStyle/>
                    <a:p>
                      <a:pPr algn="l"/>
                      <a:r>
                        <a:rPr sz="900" b="0">
                          <a:solidFill>
                            <a:srgbClr val="0B1220"/>
                          </a:solidFill>
                          <a:latin typeface="Calibri"/>
                        </a:rPr>
                        <a:t>~4 analyst-hours</a:t>
                      </a:r>
                    </a:p>
                  </a:txBody>
                  <a:tcPr marL="54864" marR="54864" marT="9144" marB="9144" anchor="ctr">
                    <a:solidFill>
                      <a:srgbClr val="F1F6FB"/>
                    </a:solidFill>
                  </a:tcPr>
                </a:tc>
                <a:tc>
                  <a:txBody>
                    <a:bodyPr wrap="square"/>
                    <a:lstStyle/>
                    <a:p>
                      <a:pPr algn="l"/>
                      <a:r>
                        <a:rPr sz="900" b="0">
                          <a:solidFill>
                            <a:srgbClr val="0B1220"/>
                          </a:solidFill>
                          <a:latin typeface="Calibri"/>
                        </a:rPr>
                        <a:t>$0.10–$0.16</a:t>
                      </a:r>
                    </a:p>
                  </a:txBody>
                  <a:tcPr marL="54864" marR="54864" marT="9144" marB="9144" anchor="ctr">
                    <a:solidFill>
                      <a:srgbClr val="F1F6FB"/>
                    </a:solidFill>
                  </a:tcPr>
                </a:tc>
                <a:tc>
                  <a:txBody>
                    <a:bodyPr wrap="square"/>
                    <a:lstStyle/>
                    <a:p>
                      <a:pPr algn="l"/>
                      <a:r>
                        <a:rPr sz="900" b="0">
                          <a:solidFill>
                            <a:srgbClr val="0B1220"/>
                          </a:solidFill>
                          <a:latin typeface="Calibri"/>
                        </a:rPr>
                        <a:t>3 orders of magnitude</a:t>
                      </a:r>
                    </a:p>
                  </a:txBody>
                  <a:tcPr marL="54864" marR="54864" marT="9144" marB="9144" anchor="ctr">
                    <a:solidFill>
                      <a:srgbClr val="F1F6FB"/>
                    </a:solidFill>
                  </a:tcPr>
                </a:tc>
              </a:tr>
              <a:tr h="342900">
                <a:tc>
                  <a:txBody>
                    <a:bodyPr wrap="square"/>
                    <a:lstStyle/>
                    <a:p>
                      <a:pPr algn="l"/>
                      <a:r>
                        <a:rPr sz="900" b="0">
                          <a:solidFill>
                            <a:srgbClr val="0B1220"/>
                          </a:solidFill>
                          <a:latin typeface="Calibri"/>
                        </a:rPr>
                        <a:t>Cadence achievable</a:t>
                      </a:r>
                    </a:p>
                  </a:txBody>
                  <a:tcPr marL="54864" marR="54864" marT="9144" marB="9144" anchor="ctr">
                    <a:solidFill>
                      <a:srgbClr val="FFFFFF"/>
                    </a:solidFill>
                  </a:tcPr>
                </a:tc>
                <a:tc>
                  <a:txBody>
                    <a:bodyPr wrap="square"/>
                    <a:lstStyle/>
                    <a:p>
                      <a:pPr algn="l"/>
                      <a:r>
                        <a:rPr sz="900" b="0">
                          <a:solidFill>
                            <a:srgbClr val="0B1220"/>
                          </a:solidFill>
                          <a:latin typeface="Calibri"/>
                        </a:rPr>
                        <a:t>After an incident</a:t>
                      </a:r>
                    </a:p>
                  </a:txBody>
                  <a:tcPr marL="54864" marR="54864" marT="9144" marB="9144" anchor="ctr">
                    <a:solidFill>
                      <a:srgbClr val="FFFFFF"/>
                    </a:solidFill>
                  </a:tcPr>
                </a:tc>
                <a:tc>
                  <a:txBody>
                    <a:bodyPr wrap="square"/>
                    <a:lstStyle/>
                    <a:p>
                      <a:pPr algn="l"/>
                      <a:r>
                        <a:rPr sz="900" b="0">
                          <a:solidFill>
                            <a:srgbClr val="0B1220"/>
                          </a:solidFill>
                          <a:latin typeface="Calibri"/>
                        </a:rPr>
                        <a:t>Weekly, automated</a:t>
                      </a:r>
                    </a:p>
                  </a:txBody>
                  <a:tcPr marL="54864" marR="54864" marT="9144" marB="9144" anchor="ctr">
                    <a:solidFill>
                      <a:srgbClr val="FFFFFF"/>
                    </a:solidFill>
                  </a:tcPr>
                </a:tc>
                <a:tc>
                  <a:txBody>
                    <a:bodyPr wrap="square"/>
                    <a:lstStyle/>
                    <a:p>
                      <a:pPr algn="l"/>
                      <a:r>
                        <a:rPr sz="900" b="0">
                          <a:solidFill>
                            <a:srgbClr val="0B1220"/>
                          </a:solidFill>
                          <a:latin typeface="Calibri"/>
                        </a:rPr>
                        <a:t>Prevention, not forensics</a:t>
                      </a:r>
                    </a:p>
                  </a:txBody>
                  <a:tcPr marL="54864" marR="54864" marT="9144" marB="9144" anchor="ctr">
                    <a:solidFill>
                      <a:srgbClr val="FFFFFF"/>
                    </a:solidFill>
                  </a:tcPr>
                </a:tc>
              </a:tr>
              <a:tr h="342900">
                <a:tc>
                  <a:txBody>
                    <a:bodyPr wrap="square"/>
                    <a:lstStyle/>
                    <a:p>
                      <a:pPr algn="l"/>
                      <a:r>
                        <a:rPr sz="900" b="0">
                          <a:solidFill>
                            <a:srgbClr val="0B1220"/>
                          </a:solidFill>
                          <a:latin typeface="Calibri"/>
                        </a:rPr>
                        <a:t>Auditability</a:t>
                      </a:r>
                    </a:p>
                  </a:txBody>
                  <a:tcPr marL="54864" marR="54864" marT="9144" marB="9144" anchor="ctr">
                    <a:solidFill>
                      <a:srgbClr val="F1F6FB"/>
                    </a:solidFill>
                  </a:tcPr>
                </a:tc>
                <a:tc>
                  <a:txBody>
                    <a:bodyPr wrap="square"/>
                    <a:lstStyle/>
                    <a:p>
                      <a:pPr algn="l"/>
                      <a:r>
                        <a:rPr sz="900" b="0">
                          <a:solidFill>
                            <a:srgbClr val="0B1220"/>
                          </a:solidFill>
                          <a:latin typeface="Calibri"/>
                        </a:rPr>
                        <a:t>Analyst's private query</a:t>
                      </a:r>
                    </a:p>
                  </a:txBody>
                  <a:tcPr marL="54864" marR="54864" marT="9144" marB="9144" anchor="ctr">
                    <a:solidFill>
                      <a:srgbClr val="F1F6FB"/>
                    </a:solidFill>
                  </a:tcPr>
                </a:tc>
                <a:tc>
                  <a:txBody>
                    <a:bodyPr wrap="square"/>
                    <a:lstStyle/>
                    <a:p>
                      <a:pPr algn="l"/>
                      <a:r>
                        <a:rPr sz="900" b="0">
                          <a:solidFill>
                            <a:srgbClr val="0B1220"/>
                          </a:solidFill>
                          <a:latin typeface="Calibri"/>
                        </a:rPr>
                        <a:t>SQL shown with every answer</a:t>
                      </a:r>
                    </a:p>
                  </a:txBody>
                  <a:tcPr marL="54864" marR="54864" marT="9144" marB="9144" anchor="ctr">
                    <a:solidFill>
                      <a:srgbClr val="F1F6FB"/>
                    </a:solidFill>
                  </a:tcPr>
                </a:tc>
                <a:tc>
                  <a:txBody>
                    <a:bodyPr wrap="square"/>
                    <a:lstStyle/>
                    <a:p>
                      <a:pPr algn="l"/>
                      <a:r>
                        <a:rPr sz="900" b="0">
                          <a:solidFill>
                            <a:srgbClr val="0B1220"/>
                          </a:solidFill>
                          <a:latin typeface="Calibri"/>
                        </a:rPr>
                        <a:t>Fully traceable</a:t>
                      </a:r>
                    </a:p>
                  </a:txBody>
                  <a:tcPr marL="54864" marR="54864" marT="9144" marB="9144" anchor="ctr">
                    <a:solidFill>
                      <a:srgbClr val="F1F6FB"/>
                    </a:solidFill>
                  </a:tcPr>
                </a:tc>
              </a:tr>
            </a:tbl>
          </a:graphicData>
        </a:graphic>
      </p:graphicFrame>
      <p:sp>
        <p:nvSpPr>
          <p:cNvPr id="6" name="Rounded Rectangle 5"/>
          <p:cNvSpPr/>
          <p:nvPr/>
        </p:nvSpPr>
        <p:spPr>
          <a:xfrm>
            <a:off x="411480" y="3931920"/>
            <a:ext cx="2682240" cy="65836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4023360"/>
            <a:ext cx="2499360" cy="402336"/>
          </a:xfrm>
          <a:prstGeom prst="rect">
            <a:avLst/>
          </a:prstGeom>
          <a:noFill/>
        </p:spPr>
        <p:txBody>
          <a:bodyPr wrap="square" lIns="0" rIns="0" tIns="0" bIns="0" anchor="t">
            <a:spAutoFit/>
          </a:bodyPr>
          <a:lstStyle/>
          <a:p>
            <a:pPr algn="ctr">
              <a:spcAft>
                <a:spcPts val="400"/>
              </a:spcAft>
            </a:pPr>
            <a:r>
              <a:rPr sz="1900" b="1" i="0">
                <a:solidFill>
                  <a:srgbClr val="18A0FB"/>
                </a:solidFill>
                <a:latin typeface="Cambria"/>
              </a:rPr>
              <a:t>99.9%</a:t>
            </a:r>
          </a:p>
        </p:txBody>
      </p:sp>
      <p:sp>
        <p:nvSpPr>
          <p:cNvPr id="8" name="TextBox 7"/>
          <p:cNvSpPr txBox="1"/>
          <p:nvPr/>
        </p:nvSpPr>
        <p:spPr>
          <a:xfrm>
            <a:off x="484632" y="4279392"/>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reduction in time to answer</a:t>
            </a:r>
          </a:p>
        </p:txBody>
      </p:sp>
      <p:sp>
        <p:nvSpPr>
          <p:cNvPr id="9" name="Rounded Rectangle 8"/>
          <p:cNvSpPr/>
          <p:nvPr/>
        </p:nvSpPr>
        <p:spPr>
          <a:xfrm>
            <a:off x="3230880" y="3931920"/>
            <a:ext cx="2682240" cy="65836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22320" y="4023360"/>
            <a:ext cx="2499360" cy="402336"/>
          </a:xfrm>
          <a:prstGeom prst="rect">
            <a:avLst/>
          </a:prstGeom>
          <a:noFill/>
        </p:spPr>
        <p:txBody>
          <a:bodyPr wrap="square" lIns="0" rIns="0" tIns="0" bIns="0" anchor="t">
            <a:spAutoFit/>
          </a:bodyPr>
          <a:lstStyle/>
          <a:p>
            <a:pPr algn="ctr">
              <a:spcAft>
                <a:spcPts val="400"/>
              </a:spcAft>
            </a:pPr>
            <a:r>
              <a:rPr sz="1900" b="1" i="0">
                <a:solidFill>
                  <a:srgbClr val="00C2B2"/>
                </a:solidFill>
                <a:latin typeface="Cambria"/>
              </a:rPr>
              <a:t>18×</a:t>
            </a:r>
          </a:p>
        </p:txBody>
      </p:sp>
      <p:sp>
        <p:nvSpPr>
          <p:cNvPr id="11" name="TextBox 10"/>
          <p:cNvSpPr txBox="1"/>
          <p:nvPr/>
        </p:nvSpPr>
        <p:spPr>
          <a:xfrm>
            <a:off x="3304032" y="4279392"/>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fewer tables to reason about</a:t>
            </a:r>
          </a:p>
        </p:txBody>
      </p:sp>
      <p:sp>
        <p:nvSpPr>
          <p:cNvPr id="12" name="Rounded Rectangle 11"/>
          <p:cNvSpPr/>
          <p:nvPr/>
        </p:nvSpPr>
        <p:spPr>
          <a:xfrm>
            <a:off x="6050280" y="3931920"/>
            <a:ext cx="2682240" cy="65836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1720" y="4023360"/>
            <a:ext cx="2499360" cy="402336"/>
          </a:xfrm>
          <a:prstGeom prst="rect">
            <a:avLst/>
          </a:prstGeom>
          <a:noFill/>
        </p:spPr>
        <p:txBody>
          <a:bodyPr wrap="square" lIns="0" rIns="0" tIns="0" bIns="0" anchor="t">
            <a:spAutoFit/>
          </a:bodyPr>
          <a:lstStyle/>
          <a:p>
            <a:pPr algn="ctr">
              <a:spcAft>
                <a:spcPts val="400"/>
              </a:spcAft>
            </a:pPr>
            <a:r>
              <a:rPr sz="1900" b="1" i="0">
                <a:solidFill>
                  <a:srgbClr val="2E9E5B"/>
                </a:solidFill>
                <a:latin typeface="Cambria"/>
              </a:rPr>
              <a:t>$0.13</a:t>
            </a:r>
          </a:p>
        </p:txBody>
      </p:sp>
      <p:sp>
        <p:nvSpPr>
          <p:cNvPr id="14" name="TextBox 13"/>
          <p:cNvSpPr txBox="1"/>
          <p:nvPr/>
        </p:nvSpPr>
        <p:spPr>
          <a:xfrm>
            <a:off x="6123432" y="4279392"/>
            <a:ext cx="2535936" cy="256032"/>
          </a:xfrm>
          <a:prstGeom prst="rect">
            <a:avLst/>
          </a:prstGeom>
          <a:noFill/>
        </p:spPr>
        <p:txBody>
          <a:bodyPr wrap="square" lIns="0" rIns="0" tIns="0" bIns="0" anchor="t">
            <a:spAutoFit/>
          </a:bodyPr>
          <a:lstStyle/>
          <a:p>
            <a:pPr algn="ctr">
              <a:spcAft>
                <a:spcPts val="400"/>
              </a:spcAft>
            </a:pPr>
            <a:r>
              <a:rPr sz="850" b="0" i="0">
                <a:solidFill>
                  <a:srgbClr val="5A6B80"/>
                </a:solidFill>
                <a:latin typeface="Calibri"/>
              </a:rPr>
              <a:t>average cost per answer</a:t>
            </a:r>
          </a:p>
        </p:txBody>
      </p:sp>
      <p:sp>
        <p:nvSpPr>
          <p:cNvPr id="15" name="TextBox 14"/>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Cost measured from the agent's own token accounting across the ten verified questions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Scalability</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The architecture has no moving parts that scale badly</a:t>
            </a:r>
          </a:p>
        </p:txBody>
      </p:sp>
      <p:sp>
        <p:nvSpPr>
          <p:cNvPr id="5" name="Rounded Rectangle 4"/>
          <p:cNvSpPr/>
          <p:nvPr/>
        </p:nvSpPr>
        <p:spPr>
          <a:xfrm>
            <a:off x="411480" y="1225296"/>
            <a:ext cx="4059936" cy="135331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76072" y="1353312"/>
            <a:ext cx="3730752" cy="237744"/>
          </a:xfrm>
          <a:prstGeom prst="rect">
            <a:avLst/>
          </a:prstGeom>
          <a:noFill/>
        </p:spPr>
        <p:txBody>
          <a:bodyPr wrap="square" lIns="0" rIns="0" tIns="0" bIns="0" anchor="t">
            <a:spAutoFit/>
          </a:bodyPr>
          <a:lstStyle/>
          <a:p>
            <a:pPr algn="l">
              <a:spcAft>
                <a:spcPts val="400"/>
              </a:spcAft>
            </a:pPr>
            <a:r>
              <a:rPr sz="1300" b="1" i="0">
                <a:solidFill>
                  <a:srgbClr val="18A0FB"/>
                </a:solidFill>
                <a:latin typeface="Cambria"/>
              </a:rPr>
              <a:t>Data volume</a:t>
            </a:r>
          </a:p>
        </p:txBody>
      </p:sp>
      <p:sp>
        <p:nvSpPr>
          <p:cNvPr id="7" name="TextBox 6"/>
          <p:cNvSpPr txBox="1"/>
          <p:nvPr/>
        </p:nvSpPr>
        <p:spPr>
          <a:xfrm>
            <a:off x="576072" y="1682496"/>
            <a:ext cx="3730752" cy="786384"/>
          </a:xfrm>
          <a:prstGeom prst="rect">
            <a:avLst/>
          </a:prstGeom>
          <a:noFill/>
        </p:spPr>
        <p:txBody>
          <a:bodyPr wrap="square" lIns="0" rIns="0" tIns="0" bIns="0" anchor="t">
            <a:spAutoFit/>
          </a:bodyPr>
          <a:lstStyle/>
          <a:p>
            <a:pPr algn="l">
              <a:lnSpc>
                <a:spcPct val="122000"/>
              </a:lnSpc>
              <a:spcAft>
                <a:spcPts val="400"/>
              </a:spcAft>
            </a:pPr>
            <a:r>
              <a:rPr sz="1050" b="0" i="0">
                <a:solidFill>
                  <a:srgbClr val="5A6B80"/>
                </a:solidFill>
                <a:latin typeface="Calibri"/>
              </a:rPr>
              <a:t>The graph is SQL over tables. 2.36M rows today; the same projection runs on 2.36B — Snowflake handles the scale-out, and the node/edge layer stays thin.</a:t>
            </a:r>
          </a:p>
        </p:txBody>
      </p:sp>
      <p:sp>
        <p:nvSpPr>
          <p:cNvPr id="8" name="Rounded Rectangle 7"/>
          <p:cNvSpPr/>
          <p:nvPr/>
        </p:nvSpPr>
        <p:spPr>
          <a:xfrm>
            <a:off x="4672584" y="1225296"/>
            <a:ext cx="4059936" cy="135331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37176" y="1353312"/>
            <a:ext cx="3730752" cy="237744"/>
          </a:xfrm>
          <a:prstGeom prst="rect">
            <a:avLst/>
          </a:prstGeom>
          <a:noFill/>
        </p:spPr>
        <p:txBody>
          <a:bodyPr wrap="square" lIns="0" rIns="0" tIns="0" bIns="0" anchor="t">
            <a:spAutoFit/>
          </a:bodyPr>
          <a:lstStyle/>
          <a:p>
            <a:pPr algn="l">
              <a:spcAft>
                <a:spcPts val="400"/>
              </a:spcAft>
            </a:pPr>
            <a:r>
              <a:rPr sz="1300" b="1" i="0">
                <a:solidFill>
                  <a:srgbClr val="00C2B2"/>
                </a:solidFill>
                <a:latin typeface="Cambria"/>
              </a:rPr>
              <a:t>New domains</a:t>
            </a:r>
          </a:p>
        </p:txBody>
      </p:sp>
      <p:sp>
        <p:nvSpPr>
          <p:cNvPr id="10" name="TextBox 9"/>
          <p:cNvSpPr txBox="1"/>
          <p:nvPr/>
        </p:nvSpPr>
        <p:spPr>
          <a:xfrm>
            <a:off x="4837176" y="1682496"/>
            <a:ext cx="3730752" cy="786384"/>
          </a:xfrm>
          <a:prstGeom prst="rect">
            <a:avLst/>
          </a:prstGeom>
          <a:noFill/>
        </p:spPr>
        <p:txBody>
          <a:bodyPr wrap="square" lIns="0" rIns="0" tIns="0" bIns="0" anchor="t">
            <a:spAutoFit/>
          </a:bodyPr>
          <a:lstStyle/>
          <a:p>
            <a:pPr algn="l">
              <a:lnSpc>
                <a:spcPct val="122000"/>
              </a:lnSpc>
              <a:spcAft>
                <a:spcPts val="400"/>
              </a:spcAft>
            </a:pPr>
            <a:r>
              <a:rPr sz="1050" b="0" i="0">
                <a:solidFill>
                  <a:srgbClr val="5A6B80"/>
                </a:solidFill>
                <a:latin typeface="Calibri"/>
              </a:rPr>
              <a:t>Any star schema projects the same way. Finance, telecom and healthcare all have entities and foreign keys that already imply a graph.</a:t>
            </a:r>
          </a:p>
        </p:txBody>
      </p:sp>
      <p:sp>
        <p:nvSpPr>
          <p:cNvPr id="11" name="Rounded Rectangle 10"/>
          <p:cNvSpPr/>
          <p:nvPr/>
        </p:nvSpPr>
        <p:spPr>
          <a:xfrm>
            <a:off x="411480" y="2743200"/>
            <a:ext cx="4059936" cy="135331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76072" y="2871216"/>
            <a:ext cx="3730752" cy="237744"/>
          </a:xfrm>
          <a:prstGeom prst="rect">
            <a:avLst/>
          </a:prstGeom>
          <a:noFill/>
        </p:spPr>
        <p:txBody>
          <a:bodyPr wrap="square" lIns="0" rIns="0" tIns="0" bIns="0" anchor="t">
            <a:spAutoFit/>
          </a:bodyPr>
          <a:lstStyle/>
          <a:p>
            <a:pPr algn="l">
              <a:spcAft>
                <a:spcPts val="400"/>
              </a:spcAft>
            </a:pPr>
            <a:r>
              <a:rPr sz="1300" b="1" i="0">
                <a:solidFill>
                  <a:srgbClr val="8A5CF6"/>
                </a:solidFill>
                <a:latin typeface="Cambria"/>
              </a:rPr>
              <a:t>New agents</a:t>
            </a:r>
          </a:p>
        </p:txBody>
      </p:sp>
      <p:sp>
        <p:nvSpPr>
          <p:cNvPr id="13" name="TextBox 12"/>
          <p:cNvSpPr txBox="1"/>
          <p:nvPr/>
        </p:nvSpPr>
        <p:spPr>
          <a:xfrm>
            <a:off x="576072" y="3200400"/>
            <a:ext cx="3730752" cy="786384"/>
          </a:xfrm>
          <a:prstGeom prst="rect">
            <a:avLst/>
          </a:prstGeom>
          <a:noFill/>
        </p:spPr>
        <p:txBody>
          <a:bodyPr wrap="square" lIns="0" rIns="0" tIns="0" bIns="0" anchor="t">
            <a:spAutoFit/>
          </a:bodyPr>
          <a:lstStyle/>
          <a:p>
            <a:pPr algn="l">
              <a:lnSpc>
                <a:spcPct val="122000"/>
              </a:lnSpc>
              <a:spcAft>
                <a:spcPts val="400"/>
              </a:spcAft>
            </a:pPr>
            <a:r>
              <a:rPr sz="1050" b="0" i="0">
                <a:solidFill>
                  <a:srgbClr val="5A6B80"/>
                </a:solidFill>
                <a:latin typeface="Calibri"/>
              </a:rPr>
              <a:t>A prompt and a tool binding. The semantic layer, governance and measures are already there.</a:t>
            </a:r>
          </a:p>
        </p:txBody>
      </p:sp>
      <p:sp>
        <p:nvSpPr>
          <p:cNvPr id="14" name="Rounded Rectangle 13"/>
          <p:cNvSpPr/>
          <p:nvPr/>
        </p:nvSpPr>
        <p:spPr>
          <a:xfrm>
            <a:off x="4672584" y="2743200"/>
            <a:ext cx="4059936" cy="1353312"/>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37176" y="2871216"/>
            <a:ext cx="3730752" cy="237744"/>
          </a:xfrm>
          <a:prstGeom prst="rect">
            <a:avLst/>
          </a:prstGeom>
          <a:noFill/>
        </p:spPr>
        <p:txBody>
          <a:bodyPr wrap="square" lIns="0" rIns="0" tIns="0" bIns="0" anchor="t">
            <a:spAutoFit/>
          </a:bodyPr>
          <a:lstStyle/>
          <a:p>
            <a:pPr algn="l">
              <a:spcAft>
                <a:spcPts val="400"/>
              </a:spcAft>
            </a:pPr>
            <a:r>
              <a:rPr sz="1300" b="1" i="0">
                <a:solidFill>
                  <a:srgbClr val="2E9E5B"/>
                </a:solidFill>
                <a:latin typeface="Cambria"/>
              </a:rPr>
              <a:t>Operations</a:t>
            </a:r>
          </a:p>
        </p:txBody>
      </p:sp>
      <p:sp>
        <p:nvSpPr>
          <p:cNvPr id="16" name="TextBox 15"/>
          <p:cNvSpPr txBox="1"/>
          <p:nvPr/>
        </p:nvSpPr>
        <p:spPr>
          <a:xfrm>
            <a:off x="4837176" y="3200400"/>
            <a:ext cx="3730752" cy="786384"/>
          </a:xfrm>
          <a:prstGeom prst="rect">
            <a:avLst/>
          </a:prstGeom>
          <a:noFill/>
        </p:spPr>
        <p:txBody>
          <a:bodyPr wrap="square" lIns="0" rIns="0" tIns="0" bIns="0" anchor="t">
            <a:spAutoFit/>
          </a:bodyPr>
          <a:lstStyle/>
          <a:p>
            <a:pPr algn="l">
              <a:lnSpc>
                <a:spcPct val="122000"/>
              </a:lnSpc>
              <a:spcAft>
                <a:spcPts val="400"/>
              </a:spcAft>
            </a:pPr>
            <a:r>
              <a:rPr sz="1050" b="0" i="0">
                <a:solidFill>
                  <a:srgbClr val="5A6B80"/>
                </a:solidFill>
                <a:latin typeface="Calibri"/>
              </a:rPr>
              <a:t>Nothing to run. No cluster, no loader, no sync job — a scheduled task rebuilds the projection.</a:t>
            </a:r>
          </a:p>
        </p:txBody>
      </p:sp>
      <p:sp>
        <p:nvSpPr>
          <p:cNvPr id="17" name="Rounded Rectangle 16"/>
          <p:cNvSpPr/>
          <p:nvPr/>
        </p:nvSpPr>
        <p:spPr>
          <a:xfrm>
            <a:off x="411480" y="4261104"/>
            <a:ext cx="8321040" cy="420624"/>
          </a:xfrm>
          <a:prstGeom prst="roundRect">
            <a:avLst>
              <a:gd name="adj" fmla="val 6000"/>
            </a:avLst>
          </a:prstGeom>
          <a:solidFill>
            <a:srgbClr val="E6E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 y="4343400"/>
            <a:ext cx="7991856" cy="274320"/>
          </a:xfrm>
          <a:prstGeom prst="rect">
            <a:avLst/>
          </a:prstGeom>
          <a:noFill/>
        </p:spPr>
        <p:txBody>
          <a:bodyPr wrap="square" lIns="0" rIns="0" tIns="0" bIns="0" anchor="t">
            <a:spAutoFit/>
          </a:bodyPr>
          <a:lstStyle/>
          <a:p>
            <a:pPr algn="ctr">
              <a:spcAft>
                <a:spcPts val="400"/>
              </a:spcAft>
            </a:pPr>
            <a:r>
              <a:rPr sz="1000" b="0" i="1">
                <a:solidFill>
                  <a:srgbClr val="0B1220"/>
                </a:solidFill>
                <a:latin typeface="Calibri"/>
              </a:rPr>
              <a:t>The costly parts of a graph platform — the cluster, the sync, the second governance model — are exactly the parts this design does not have.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Beyond the demo</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What is built, what is next, and what we know is missing</a:t>
            </a:r>
          </a:p>
        </p:txBody>
      </p:sp>
      <p:sp>
        <p:nvSpPr>
          <p:cNvPr id="5" name="Rounded Rectangle 4"/>
          <p:cNvSpPr/>
          <p:nvPr/>
        </p:nvSpPr>
        <p:spPr>
          <a:xfrm>
            <a:off x="411480" y="1207008"/>
            <a:ext cx="2682240" cy="312724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57784" y="1316736"/>
            <a:ext cx="2389632" cy="219456"/>
          </a:xfrm>
          <a:prstGeom prst="rect">
            <a:avLst/>
          </a:prstGeom>
          <a:noFill/>
        </p:spPr>
        <p:txBody>
          <a:bodyPr wrap="square" lIns="0" rIns="0" tIns="0" bIns="0" anchor="t">
            <a:spAutoFit/>
          </a:bodyPr>
          <a:lstStyle/>
          <a:p>
            <a:pPr algn="l">
              <a:spcAft>
                <a:spcPts val="400"/>
              </a:spcAft>
            </a:pPr>
            <a:r>
              <a:rPr sz="1050" b="1" i="0">
                <a:solidFill>
                  <a:srgbClr val="2E9E5B"/>
                </a:solidFill>
                <a:latin typeface="Calibri"/>
              </a:rPr>
              <a:t>BUILT</a:t>
            </a:r>
          </a:p>
        </p:txBody>
      </p:sp>
      <p:sp>
        <p:nvSpPr>
          <p:cNvPr id="7" name="Oval 6"/>
          <p:cNvSpPr/>
          <p:nvPr/>
        </p:nvSpPr>
        <p:spPr>
          <a:xfrm>
            <a:off x="557784" y="1677924"/>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2376" y="1627632"/>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Graph projection + 8 node measures</a:t>
            </a:r>
          </a:p>
        </p:txBody>
      </p:sp>
      <p:sp>
        <p:nvSpPr>
          <p:cNvPr id="9" name="Oval 8"/>
          <p:cNvSpPr/>
          <p:nvPr/>
        </p:nvSpPr>
        <p:spPr>
          <a:xfrm>
            <a:off x="557784" y="2071116"/>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376" y="2020824"/>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Semantic view with verified queries</a:t>
            </a:r>
          </a:p>
        </p:txBody>
      </p:sp>
      <p:sp>
        <p:nvSpPr>
          <p:cNvPr id="11" name="Oval 10"/>
          <p:cNvSpPr/>
          <p:nvPr/>
        </p:nvSpPr>
        <p:spPr>
          <a:xfrm>
            <a:off x="557784" y="2464308"/>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414016"/>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Cortex Search over the corpus</a:t>
            </a:r>
          </a:p>
        </p:txBody>
      </p:sp>
      <p:sp>
        <p:nvSpPr>
          <p:cNvPr id="13" name="Oval 12"/>
          <p:cNvSpPr/>
          <p:nvPr/>
        </p:nvSpPr>
        <p:spPr>
          <a:xfrm>
            <a:off x="557784" y="2857500"/>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22376" y="2807208"/>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Four-tool agent, inline config</a:t>
            </a:r>
          </a:p>
        </p:txBody>
      </p:sp>
      <p:sp>
        <p:nvSpPr>
          <p:cNvPr id="15" name="Oval 14"/>
          <p:cNvSpPr/>
          <p:nvPr/>
        </p:nvSpPr>
        <p:spPr>
          <a:xfrm>
            <a:off x="557784" y="3250692"/>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2376" y="3200400"/>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Chat UI with SQL, table, chart, subgraph</a:t>
            </a:r>
          </a:p>
        </p:txBody>
      </p:sp>
      <p:sp>
        <p:nvSpPr>
          <p:cNvPr id="17" name="Oval 16"/>
          <p:cNvSpPr/>
          <p:nvPr/>
        </p:nvSpPr>
        <p:spPr>
          <a:xfrm>
            <a:off x="557784" y="3643884"/>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2376" y="3593592"/>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Conversation memory</a:t>
            </a:r>
          </a:p>
        </p:txBody>
      </p:sp>
      <p:sp>
        <p:nvSpPr>
          <p:cNvPr id="19" name="Oval 18"/>
          <p:cNvSpPr/>
          <p:nvPr/>
        </p:nvSpPr>
        <p:spPr>
          <a:xfrm>
            <a:off x="557784" y="4037076"/>
            <a:ext cx="59436" cy="5943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22376" y="3986784"/>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Ground-truth accuracy harness</a:t>
            </a:r>
          </a:p>
        </p:txBody>
      </p:sp>
      <p:sp>
        <p:nvSpPr>
          <p:cNvPr id="21" name="Rounded Rectangle 20"/>
          <p:cNvSpPr/>
          <p:nvPr/>
        </p:nvSpPr>
        <p:spPr>
          <a:xfrm>
            <a:off x="3230880" y="1207008"/>
            <a:ext cx="2682240" cy="312724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377184" y="1316736"/>
            <a:ext cx="2389632" cy="219456"/>
          </a:xfrm>
          <a:prstGeom prst="rect">
            <a:avLst/>
          </a:prstGeom>
          <a:noFill/>
        </p:spPr>
        <p:txBody>
          <a:bodyPr wrap="square" lIns="0" rIns="0" tIns="0" bIns="0" anchor="t">
            <a:spAutoFit/>
          </a:bodyPr>
          <a:lstStyle/>
          <a:p>
            <a:pPr algn="l">
              <a:spcAft>
                <a:spcPts val="400"/>
              </a:spcAft>
            </a:pPr>
            <a:r>
              <a:rPr sz="1050" b="1" i="0">
                <a:solidFill>
                  <a:srgbClr val="18A0FB"/>
                </a:solidFill>
                <a:latin typeface="Calibri"/>
              </a:rPr>
              <a:t>NEXT</a:t>
            </a:r>
          </a:p>
        </p:txBody>
      </p:sp>
      <p:sp>
        <p:nvSpPr>
          <p:cNvPr id="23" name="Oval 22"/>
          <p:cNvSpPr/>
          <p:nvPr/>
        </p:nvSpPr>
        <p:spPr>
          <a:xfrm>
            <a:off x="3377184" y="1677924"/>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541776" y="1627632"/>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Semantic view over the inventory star</a:t>
            </a:r>
          </a:p>
        </p:txBody>
      </p:sp>
      <p:sp>
        <p:nvSpPr>
          <p:cNvPr id="25" name="Oval 24"/>
          <p:cNvSpPr/>
          <p:nvPr/>
        </p:nvSpPr>
        <p:spPr>
          <a:xfrm>
            <a:off x="3377184" y="2071116"/>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541776" y="2020824"/>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Scheduled projection refresh</a:t>
            </a:r>
          </a:p>
        </p:txBody>
      </p:sp>
      <p:sp>
        <p:nvSpPr>
          <p:cNvPr id="27" name="Oval 26"/>
          <p:cNvSpPr/>
          <p:nvPr/>
        </p:nvSpPr>
        <p:spPr>
          <a:xfrm>
            <a:off x="3377184" y="2464308"/>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41776" y="2414016"/>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Alerting agent on centrality deltas</a:t>
            </a:r>
          </a:p>
        </p:txBody>
      </p:sp>
      <p:sp>
        <p:nvSpPr>
          <p:cNvPr id="29" name="Oval 28"/>
          <p:cNvSpPr/>
          <p:nvPr/>
        </p:nvSpPr>
        <p:spPr>
          <a:xfrm>
            <a:off x="3377184" y="2857500"/>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41776" y="2807208"/>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Row-level security by plant / region</a:t>
            </a:r>
          </a:p>
        </p:txBody>
      </p:sp>
      <p:sp>
        <p:nvSpPr>
          <p:cNvPr id="31" name="Oval 30"/>
          <p:cNvSpPr/>
          <p:nvPr/>
        </p:nvSpPr>
        <p:spPr>
          <a:xfrm>
            <a:off x="3377184" y="3250692"/>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41776" y="3200400"/>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Streamlit-in-Snowflake front end</a:t>
            </a:r>
          </a:p>
        </p:txBody>
      </p:sp>
      <p:sp>
        <p:nvSpPr>
          <p:cNvPr id="33" name="Oval 32"/>
          <p:cNvSpPr/>
          <p:nvPr/>
        </p:nvSpPr>
        <p:spPr>
          <a:xfrm>
            <a:off x="3377184" y="3643884"/>
            <a:ext cx="59436" cy="59436"/>
          </a:xfrm>
          <a:prstGeom prst="ellipse">
            <a:avLst/>
          </a:prstGeom>
          <a:solidFill>
            <a:srgbClr val="18A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541776" y="3593592"/>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Temporal graph — how centrality moves</a:t>
            </a:r>
          </a:p>
        </p:txBody>
      </p:sp>
      <p:sp>
        <p:nvSpPr>
          <p:cNvPr id="35" name="Rounded Rectangle 34"/>
          <p:cNvSpPr/>
          <p:nvPr/>
        </p:nvSpPr>
        <p:spPr>
          <a:xfrm>
            <a:off x="6050280" y="1207008"/>
            <a:ext cx="2682240" cy="3127248"/>
          </a:xfrm>
          <a:prstGeom prst="roundRect">
            <a:avLst>
              <a:gd name="adj" fmla="val 6000"/>
            </a:avLst>
          </a:prstGeom>
          <a:solidFill>
            <a:srgbClr val="F1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196584" y="1316736"/>
            <a:ext cx="2389632" cy="219456"/>
          </a:xfrm>
          <a:prstGeom prst="rect">
            <a:avLst/>
          </a:prstGeom>
          <a:noFill/>
        </p:spPr>
        <p:txBody>
          <a:bodyPr wrap="square" lIns="0" rIns="0" tIns="0" bIns="0" anchor="t">
            <a:spAutoFit/>
          </a:bodyPr>
          <a:lstStyle/>
          <a:p>
            <a:pPr algn="l">
              <a:spcAft>
                <a:spcPts val="400"/>
              </a:spcAft>
            </a:pPr>
            <a:r>
              <a:rPr sz="1050" b="1" i="0">
                <a:solidFill>
                  <a:srgbClr val="F5A623"/>
                </a:solidFill>
                <a:latin typeface="Calibri"/>
              </a:rPr>
              <a:t>KNOWN LIMITS</a:t>
            </a:r>
          </a:p>
        </p:txBody>
      </p:sp>
      <p:sp>
        <p:nvSpPr>
          <p:cNvPr id="37" name="Oval 36"/>
          <p:cNvSpPr/>
          <p:nvPr/>
        </p:nvSpPr>
        <p:spPr>
          <a:xfrm>
            <a:off x="6196584" y="1677924"/>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61176" y="1627632"/>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Agent scoped to the KG, not the star schema</a:t>
            </a:r>
          </a:p>
        </p:txBody>
      </p:sp>
      <p:sp>
        <p:nvSpPr>
          <p:cNvPr id="39" name="Oval 38"/>
          <p:cNvSpPr/>
          <p:nvPr/>
        </p:nvSpPr>
        <p:spPr>
          <a:xfrm>
            <a:off x="6196584" y="2071116"/>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61176" y="2020824"/>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PageRank uniform on synthetic data</a:t>
            </a:r>
          </a:p>
        </p:txBody>
      </p:sp>
      <p:sp>
        <p:nvSpPr>
          <p:cNvPr id="41" name="Oval 40"/>
          <p:cNvSpPr/>
          <p:nvPr/>
        </p:nvSpPr>
        <p:spPr>
          <a:xfrm>
            <a:off x="6196584" y="2464308"/>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61176" y="2414016"/>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Graph rebuilt in batch, not streaming</a:t>
            </a:r>
          </a:p>
        </p:txBody>
      </p:sp>
      <p:sp>
        <p:nvSpPr>
          <p:cNvPr id="43" name="Oval 42"/>
          <p:cNvSpPr/>
          <p:nvPr/>
        </p:nvSpPr>
        <p:spPr>
          <a:xfrm>
            <a:off x="6196584" y="2857500"/>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361176" y="2807208"/>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10-document corpus — illustrative</a:t>
            </a:r>
          </a:p>
        </p:txBody>
      </p:sp>
      <p:sp>
        <p:nvSpPr>
          <p:cNvPr id="45" name="Oval 44"/>
          <p:cNvSpPr/>
          <p:nvPr/>
        </p:nvSpPr>
        <p:spPr>
          <a:xfrm>
            <a:off x="6196584" y="3250692"/>
            <a:ext cx="59436" cy="59436"/>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361176" y="3200400"/>
            <a:ext cx="2225040" cy="384048"/>
          </a:xfrm>
          <a:prstGeom prst="rect">
            <a:avLst/>
          </a:prstGeom>
          <a:noFill/>
        </p:spPr>
        <p:txBody>
          <a:bodyPr wrap="square" lIns="0" rIns="0" tIns="0" bIns="0" anchor="t">
            <a:spAutoFit/>
          </a:bodyPr>
          <a:lstStyle/>
          <a:p>
            <a:pPr algn="l">
              <a:lnSpc>
                <a:spcPct val="112000"/>
              </a:lnSpc>
              <a:spcAft>
                <a:spcPts val="400"/>
              </a:spcAft>
            </a:pPr>
            <a:r>
              <a:rPr sz="900" b="0" i="0">
                <a:solidFill>
                  <a:srgbClr val="0B1220"/>
                </a:solidFill>
                <a:latin typeface="Calibri"/>
              </a:rPr>
              <a:t>One miss in ten on scope-sensitive counts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411480" y="603504"/>
            <a:ext cx="8321040" cy="347472"/>
          </a:xfrm>
          <a:prstGeom prst="rect">
            <a:avLst/>
          </a:prstGeom>
          <a:noFill/>
        </p:spPr>
        <p:txBody>
          <a:bodyPr wrap="square" lIns="0" rIns="0" tIns="0" bIns="0" anchor="t">
            <a:spAutoFit/>
          </a:bodyPr>
          <a:lstStyle/>
          <a:p>
            <a:pPr algn="l">
              <a:spcAft>
                <a:spcPts val="400"/>
              </a:spcAft>
            </a:pPr>
            <a:r>
              <a:rPr sz="2300" b="1" i="0">
                <a:solidFill>
                  <a:srgbClr val="0B1220"/>
                </a:solidFill>
                <a:latin typeface="Cambria"/>
              </a:rPr>
              <a:t>What we verified</a:t>
            </a:r>
          </a:p>
        </p:txBody>
      </p:sp>
      <p:sp>
        <p:nvSpPr>
          <p:cNvPr id="4" name="TextBox 3"/>
          <p:cNvSpPr txBox="1"/>
          <p:nvPr/>
        </p:nvSpPr>
        <p:spPr>
          <a:xfrm>
            <a:off x="411480" y="941832"/>
            <a:ext cx="8321040" cy="201168"/>
          </a:xfrm>
          <a:prstGeom prst="rect">
            <a:avLst/>
          </a:prstGeom>
          <a:noFill/>
        </p:spPr>
        <p:txBody>
          <a:bodyPr wrap="square" lIns="0" rIns="0" tIns="0" bIns="0" anchor="t">
            <a:spAutoFit/>
          </a:bodyPr>
          <a:lstStyle/>
          <a:p>
            <a:pPr algn="l">
              <a:spcAft>
                <a:spcPts val="400"/>
              </a:spcAft>
            </a:pPr>
            <a:r>
              <a:rPr sz="1050" b="0" i="1">
                <a:solidFill>
                  <a:srgbClr val="5A6B80"/>
                </a:solidFill>
                <a:latin typeface="Calibri"/>
              </a:rPr>
              <a:t>Findings from building it, not claims about it</a:t>
            </a:r>
          </a:p>
        </p:txBody>
      </p:sp>
      <p:graphicFrame>
        <p:nvGraphicFramePr>
          <p:cNvPr id="5" name="Table 4"/>
          <p:cNvGraphicFramePr>
            <a:graphicFrameLocks noGrp="1"/>
          </p:cNvGraphicFramePr>
          <p:nvPr/>
        </p:nvGraphicFramePr>
        <p:xfrm>
          <a:off x="411480" y="1243584"/>
          <a:ext cx="8321038" cy="3017520"/>
        </p:xfrm>
        <a:graphic>
          <a:graphicData uri="http://schemas.openxmlformats.org/drawingml/2006/table">
            <a:tbl>
              <a:tblPr firstRow="1" bandRow="1">
                <a:tableStyleId>{5C22544A-7EE6-4342-B048-85BDC9FD1C3A}</a:tableStyleId>
              </a:tblPr>
              <a:tblGrid>
                <a:gridCol w="1725093"/>
                <a:gridCol w="3653139"/>
                <a:gridCol w="2942806"/>
              </a:tblGrid>
              <a:tr h="502920">
                <a:tc>
                  <a:txBody>
                    <a:bodyPr wrap="square"/>
                    <a:lstStyle/>
                    <a:p>
                      <a:pPr algn="l"/>
                      <a:r>
                        <a:rPr sz="900" b="1">
                          <a:solidFill>
                            <a:srgbClr val="FFFFFF"/>
                          </a:solidFill>
                          <a:latin typeface="Calibri"/>
                        </a:rPr>
                        <a:t>Checked</a:t>
                      </a:r>
                    </a:p>
                  </a:txBody>
                  <a:tcPr marL="54864" marR="54864" marT="9144" marB="9144" anchor="ctr">
                    <a:solidFill>
                      <a:srgbClr val="0B1220"/>
                    </a:solidFill>
                  </a:tcPr>
                </a:tc>
                <a:tc>
                  <a:txBody>
                    <a:bodyPr wrap="square"/>
                    <a:lstStyle/>
                    <a:p>
                      <a:pPr algn="l"/>
                      <a:r>
                        <a:rPr sz="900" b="1">
                          <a:solidFill>
                            <a:srgbClr val="FFFFFF"/>
                          </a:solidFill>
                          <a:latin typeface="Calibri"/>
                        </a:rPr>
                        <a:t>What we found</a:t>
                      </a:r>
                    </a:p>
                  </a:txBody>
                  <a:tcPr marL="54864" marR="54864" marT="9144" marB="9144" anchor="ctr">
                    <a:solidFill>
                      <a:srgbClr val="0B1220"/>
                    </a:solidFill>
                  </a:tcPr>
                </a:tc>
                <a:tc>
                  <a:txBody>
                    <a:bodyPr wrap="square"/>
                    <a:lstStyle/>
                    <a:p>
                      <a:pPr algn="l"/>
                      <a:r>
                        <a:rPr sz="900" b="1">
                          <a:solidFill>
                            <a:srgbClr val="FFFFFF"/>
                          </a:solidFill>
                          <a:latin typeface="Calibri"/>
                        </a:rPr>
                        <a:t>What we did</a:t>
                      </a:r>
                    </a:p>
                  </a:txBody>
                  <a:tcPr marL="54864" marR="54864" marT="9144" marB="9144" anchor="ctr">
                    <a:solidFill>
                      <a:srgbClr val="0B1220"/>
                    </a:solidFill>
                  </a:tcPr>
                </a:tc>
              </a:tr>
              <a:tr h="502920">
                <a:tc>
                  <a:txBody>
                    <a:bodyPr wrap="square"/>
                    <a:lstStyle/>
                    <a:p>
                      <a:pPr algn="l"/>
                      <a:r>
                        <a:rPr sz="900" b="0">
                          <a:solidFill>
                            <a:srgbClr val="0B1220"/>
                          </a:solidFill>
                          <a:latin typeface="Calibri"/>
                        </a:rPr>
                        <a:t>Agent tool wiring</a:t>
                      </a:r>
                    </a:p>
                  </a:txBody>
                  <a:tcPr marL="54864" marR="54864" marT="9144" marB="9144" anchor="ctr">
                    <a:solidFill>
                      <a:srgbClr val="FFFFFF"/>
                    </a:solidFill>
                  </a:tcPr>
                </a:tc>
                <a:tc>
                  <a:txBody>
                    <a:bodyPr wrap="square"/>
                    <a:lstStyle/>
                    <a:p>
                      <a:pPr algn="l"/>
                      <a:r>
                        <a:rPr sz="900" b="0">
                          <a:solidFill>
                            <a:srgbClr val="0B1220"/>
                          </a:solidFill>
                          <a:latin typeface="Calibri"/>
                        </a:rPr>
                        <a:t>The stored agent had no data tools — it asked for a CSV every time</a:t>
                      </a:r>
                    </a:p>
                  </a:txBody>
                  <a:tcPr marL="54864" marR="54864" marT="9144" marB="9144" anchor="ctr">
                    <a:solidFill>
                      <a:srgbClr val="FFFFFF"/>
                    </a:solidFill>
                  </a:tcPr>
                </a:tc>
                <a:tc>
                  <a:txBody>
                    <a:bodyPr wrap="square"/>
                    <a:lstStyle/>
                    <a:p>
                      <a:pPr algn="l"/>
                      <a:r>
                        <a:rPr sz="900" b="0">
                          <a:solidFill>
                            <a:srgbClr val="0B1220"/>
                          </a:solidFill>
                          <a:latin typeface="Calibri"/>
                        </a:rPr>
                        <a:t>Attached Analyst, Search, sql_exec, charting</a:t>
                      </a:r>
                    </a:p>
                  </a:txBody>
                  <a:tcPr marL="54864" marR="54864" marT="9144" marB="9144" anchor="ctr">
                    <a:solidFill>
                      <a:srgbClr val="FFFFFF"/>
                    </a:solidFill>
                  </a:tcPr>
                </a:tc>
              </a:tr>
              <a:tr h="502920">
                <a:tc>
                  <a:txBody>
                    <a:bodyPr wrap="square"/>
                    <a:lstStyle/>
                    <a:p>
                      <a:pPr algn="l"/>
                      <a:r>
                        <a:rPr sz="900" b="0">
                          <a:solidFill>
                            <a:srgbClr val="0B1220"/>
                          </a:solidFill>
                          <a:latin typeface="Calibri"/>
                        </a:rPr>
                        <a:t>Agent spec schema</a:t>
                      </a:r>
                    </a:p>
                  </a:txBody>
                  <a:tcPr marL="54864" marR="54864" marT="9144" marB="9144" anchor="ctr">
                    <a:solidFill>
                      <a:srgbClr val="F1F6FB"/>
                    </a:solidFill>
                  </a:tcPr>
                </a:tc>
                <a:tc>
                  <a:txBody>
                    <a:bodyPr wrap="square"/>
                    <a:lstStyle/>
                    <a:p>
                      <a:pPr algn="l"/>
                      <a:r>
                        <a:rPr sz="900" b="0">
                          <a:solidFill>
                            <a:srgbClr val="0B1220"/>
                          </a:solidFill>
                          <a:latin typeface="Calibri"/>
                        </a:rPr>
                        <a:t>Three schema errors: sample_questions shape, search_service key, missing execution_environment</a:t>
                      </a:r>
                    </a:p>
                  </a:txBody>
                  <a:tcPr marL="54864" marR="54864" marT="9144" marB="9144" anchor="ctr">
                    <a:solidFill>
                      <a:srgbClr val="F1F6FB"/>
                    </a:solidFill>
                  </a:tcPr>
                </a:tc>
                <a:tc>
                  <a:txBody>
                    <a:bodyPr wrap="square"/>
                    <a:lstStyle/>
                    <a:p>
                      <a:pPr algn="l"/>
                      <a:r>
                        <a:rPr sz="900" b="0">
                          <a:solidFill>
                            <a:srgbClr val="0B1220"/>
                          </a:solidFill>
                          <a:latin typeface="Calibri"/>
                        </a:rPr>
                        <a:t>Probed the account, corrected against the docs</a:t>
                      </a:r>
                    </a:p>
                  </a:txBody>
                  <a:tcPr marL="54864" marR="54864" marT="9144" marB="9144" anchor="ctr">
                    <a:solidFill>
                      <a:srgbClr val="F1F6FB"/>
                    </a:solidFill>
                  </a:tcPr>
                </a:tc>
              </a:tr>
              <a:tr h="502920">
                <a:tc>
                  <a:txBody>
                    <a:bodyPr wrap="square"/>
                    <a:lstStyle/>
                    <a:p>
                      <a:pPr algn="l"/>
                      <a:r>
                        <a:rPr sz="900" b="0">
                          <a:solidFill>
                            <a:srgbClr val="0B1220"/>
                          </a:solidFill>
                          <a:latin typeface="Calibri"/>
                        </a:rPr>
                        <a:t>Response parsing</a:t>
                      </a:r>
                    </a:p>
                  </a:txBody>
                  <a:tcPr marL="54864" marR="54864" marT="9144" marB="9144" anchor="ctr">
                    <a:solidFill>
                      <a:srgbClr val="FFFFFF"/>
                    </a:solidFill>
                  </a:tcPr>
                </a:tc>
                <a:tc>
                  <a:txBody>
                    <a:bodyPr wrap="square"/>
                    <a:lstStyle/>
                    <a:p>
                      <a:pPr algn="l"/>
                      <a:r>
                        <a:rPr sz="900" b="0">
                          <a:solidFill>
                            <a:srgbClr val="0B1220"/>
                          </a:solidFill>
                          <a:latin typeface="Calibri"/>
                        </a:rPr>
                        <a:t>Block type is tool_result, not tool_results — structured rows were being silently dropped</a:t>
                      </a:r>
                    </a:p>
                  </a:txBody>
                  <a:tcPr marL="54864" marR="54864" marT="9144" marB="9144" anchor="ctr">
                    <a:solidFill>
                      <a:srgbClr val="FFFFFF"/>
                    </a:solidFill>
                  </a:tcPr>
                </a:tc>
                <a:tc>
                  <a:txBody>
                    <a:bodyPr wrap="square"/>
                    <a:lstStyle/>
                    <a:p>
                      <a:pPr algn="l"/>
                      <a:r>
                        <a:rPr sz="900" b="0">
                          <a:solidFill>
                            <a:srgbClr val="0B1220"/>
                          </a:solidFill>
                          <a:latin typeface="Calibri"/>
                        </a:rPr>
                        <a:t>Rewrote the parser against the real payload</a:t>
                      </a:r>
                    </a:p>
                  </a:txBody>
                  <a:tcPr marL="54864" marR="54864" marT="9144" marB="9144" anchor="ctr">
                    <a:solidFill>
                      <a:srgbClr val="FFFFFF"/>
                    </a:solidFill>
                  </a:tcPr>
                </a:tc>
              </a:tr>
              <a:tr h="502920">
                <a:tc>
                  <a:txBody>
                    <a:bodyPr wrap="square"/>
                    <a:lstStyle/>
                    <a:p>
                      <a:pPr algn="l"/>
                      <a:r>
                        <a:rPr sz="900" b="0">
                          <a:solidFill>
                            <a:srgbClr val="0B1220"/>
                          </a:solidFill>
                          <a:latin typeface="Calibri"/>
                        </a:rPr>
                        <a:t>Multi-query answers</a:t>
                      </a:r>
                    </a:p>
                  </a:txBody>
                  <a:tcPr marL="54864" marR="54864" marT="9144" marB="9144" anchor="ctr">
                    <a:solidFill>
                      <a:srgbClr val="F1F6FB"/>
                    </a:solidFill>
                  </a:tcPr>
                </a:tc>
                <a:tc>
                  <a:txBody>
                    <a:bodyPr wrap="square"/>
                    <a:lstStyle/>
                    <a:p>
                      <a:pPr algn="l"/>
                      <a:r>
                        <a:rPr sz="900" b="0">
                          <a:solidFill>
                            <a:srgbClr val="0B1220"/>
                          </a:solidFill>
                          <a:latin typeface="Calibri"/>
                        </a:rPr>
                        <a:t>First result set was being shown with the last answer — table contradicted the prose</a:t>
                      </a:r>
                    </a:p>
                  </a:txBody>
                  <a:tcPr marL="54864" marR="54864" marT="9144" marB="9144" anchor="ctr">
                    <a:solidFill>
                      <a:srgbClr val="F1F6FB"/>
                    </a:solidFill>
                  </a:tcPr>
                </a:tc>
                <a:tc>
                  <a:txBody>
                    <a:bodyPr wrap="square"/>
                    <a:lstStyle/>
                    <a:p>
                      <a:pPr algn="l"/>
                      <a:r>
                        <a:rPr sz="900" b="0">
                          <a:solidFill>
                            <a:srgbClr val="0B1220"/>
                          </a:solidFill>
                          <a:latin typeface="Calibri"/>
                        </a:rPr>
                        <a:t>Take the last result set, with its own SQL</a:t>
                      </a:r>
                    </a:p>
                  </a:txBody>
                  <a:tcPr marL="54864" marR="54864" marT="9144" marB="9144" anchor="ctr">
                    <a:solidFill>
                      <a:srgbClr val="F1F6FB"/>
                    </a:solidFill>
                  </a:tcPr>
                </a:tc>
              </a:tr>
              <a:tr h="502920">
                <a:tc>
                  <a:txBody>
                    <a:bodyPr wrap="square"/>
                    <a:lstStyle/>
                    <a:p>
                      <a:pPr algn="l"/>
                      <a:r>
                        <a:rPr sz="900" b="0">
                          <a:solidFill>
                            <a:srgbClr val="0B1220"/>
                          </a:solidFill>
                          <a:latin typeface="Calibri"/>
                        </a:rPr>
                        <a:t>Answer accuracy</a:t>
                      </a:r>
                    </a:p>
                  </a:txBody>
                  <a:tcPr marL="54864" marR="54864" marT="9144" marB="9144" anchor="ctr">
                    <a:solidFill>
                      <a:srgbClr val="FFFFFF"/>
                    </a:solidFill>
                  </a:tcPr>
                </a:tc>
                <a:tc>
                  <a:txBody>
                    <a:bodyPr wrap="square"/>
                    <a:lstStyle/>
                    <a:p>
                      <a:pPr algn="l"/>
                      <a:r>
                        <a:rPr sz="900" b="0">
                          <a:solidFill>
                            <a:srgbClr val="0B1220"/>
                          </a:solidFill>
                          <a:latin typeface="Calibri"/>
                        </a:rPr>
                        <a:t>9 of 10 exact; one off by 2 on a scope-sensitive count</a:t>
                      </a:r>
                    </a:p>
                  </a:txBody>
                  <a:tcPr marL="54864" marR="54864" marT="9144" marB="9144" anchor="ctr">
                    <a:solidFill>
                      <a:srgbClr val="FFFFFF"/>
                    </a:solidFill>
                  </a:tcPr>
                </a:tc>
                <a:tc>
                  <a:txBody>
                    <a:bodyPr wrap="square"/>
                    <a:lstStyle/>
                    <a:p>
                      <a:pPr algn="l"/>
                      <a:r>
                        <a:rPr sz="900" b="0">
                          <a:solidFill>
                            <a:srgbClr val="0B1220"/>
                          </a:solidFill>
                          <a:latin typeface="Calibri"/>
                        </a:rPr>
                        <a:t>Documented the boundary rather than hiding it</a:t>
                      </a:r>
                    </a:p>
                  </a:txBody>
                  <a:tcPr marL="54864" marR="54864" marT="9144" marB="9144" anchor="ctr">
                    <a:solidFill>
                      <a:srgbClr val="FFFFFF"/>
                    </a:solidFill>
                  </a:tcPr>
                </a:tc>
              </a:tr>
            </a:tbl>
          </a:graphicData>
        </a:graphic>
      </p:graphicFrame>
      <p:sp>
        <p:nvSpPr>
          <p:cNvPr id="6" name="TextBox 5"/>
          <p:cNvSpPr txBox="1"/>
          <p:nvPr/>
        </p:nvSpPr>
        <p:spPr>
          <a:xfrm>
            <a:off x="411480" y="4590288"/>
            <a:ext cx="8321040" cy="219456"/>
          </a:xfrm>
          <a:prstGeom prst="rect">
            <a:avLst/>
          </a:prstGeom>
          <a:noFill/>
        </p:spPr>
        <p:txBody>
          <a:bodyPr wrap="square" lIns="0" rIns="0" tIns="0" bIns="0" anchor="t">
            <a:spAutoFit/>
          </a:bodyPr>
          <a:lstStyle/>
          <a:p>
            <a:pPr algn="l">
              <a:spcAft>
                <a:spcPts val="400"/>
              </a:spcAft>
            </a:pPr>
            <a:r>
              <a:rPr sz="800" b="0" i="1">
                <a:solidFill>
                  <a:srgbClr val="5A6B80"/>
                </a:solidFill>
                <a:latin typeface="Calibri"/>
              </a:rPr>
              <a:t>Each of these was found by running the system against real data — not by reading the code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502920" y="868680"/>
            <a:ext cx="8138160" cy="3584448"/>
          </a:xfrm>
          <a:prstGeom prst="roundRect">
            <a:avLst>
              <a:gd name="adj" fmla="val 6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188720"/>
            <a:ext cx="7589520" cy="475488"/>
          </a:xfrm>
          <a:prstGeom prst="rect">
            <a:avLst/>
          </a:prstGeom>
          <a:noFill/>
        </p:spPr>
        <p:txBody>
          <a:bodyPr wrap="square" lIns="0" rIns="0" tIns="0" bIns="0" anchor="t">
            <a:spAutoFit/>
          </a:bodyPr>
          <a:lstStyle/>
          <a:p>
            <a:pPr algn="ctr">
              <a:spcAft>
                <a:spcPts val="400"/>
              </a:spcAft>
            </a:pPr>
            <a:r>
              <a:rPr sz="2700" b="1" i="0">
                <a:solidFill>
                  <a:srgbClr val="FFFFFF"/>
                </a:solidFill>
                <a:latin typeface="Cambria"/>
              </a:rPr>
              <a:t>The graph was already there.</a:t>
            </a:r>
          </a:p>
        </p:txBody>
      </p:sp>
      <p:sp>
        <p:nvSpPr>
          <p:cNvPr id="5" name="TextBox 4"/>
          <p:cNvSpPr txBox="1"/>
          <p:nvPr/>
        </p:nvSpPr>
        <p:spPr>
          <a:xfrm>
            <a:off x="777240" y="1810512"/>
            <a:ext cx="7589520" cy="749808"/>
          </a:xfrm>
          <a:prstGeom prst="rect">
            <a:avLst/>
          </a:prstGeom>
          <a:noFill/>
        </p:spPr>
        <p:txBody>
          <a:bodyPr wrap="square" lIns="0" rIns="0" tIns="0" bIns="0" anchor="t">
            <a:spAutoFit/>
          </a:bodyPr>
          <a:lstStyle/>
          <a:p>
            <a:pPr algn="ctr">
              <a:lnSpc>
                <a:spcPct val="130000"/>
              </a:lnSpc>
              <a:spcAft>
                <a:spcPts val="400"/>
              </a:spcAft>
            </a:pPr>
            <a:r>
              <a:rPr sz="1300" b="0" i="0">
                <a:solidFill>
                  <a:srgbClr val="C3D2E4"/>
                </a:solidFill>
                <a:latin typeface="Calibri"/>
              </a:rPr>
              <a:t>Every foreign key in the warehouse is an edge nobody had named. Naming them — and computing what they imply — took SQL, a semantic view and an agent. No new database.</a:t>
            </a:r>
          </a:p>
        </p:txBody>
      </p:sp>
      <p:sp>
        <p:nvSpPr>
          <p:cNvPr id="6" name="TextBox 5"/>
          <p:cNvSpPr txBox="1"/>
          <p:nvPr/>
        </p:nvSpPr>
        <p:spPr>
          <a:xfrm>
            <a:off x="822960" y="2761488"/>
            <a:ext cx="1874520" cy="347472"/>
          </a:xfrm>
          <a:prstGeom prst="rect">
            <a:avLst/>
          </a:prstGeom>
          <a:noFill/>
        </p:spPr>
        <p:txBody>
          <a:bodyPr wrap="square" lIns="0" rIns="0" tIns="0" bIns="0" anchor="t">
            <a:spAutoFit/>
          </a:bodyPr>
          <a:lstStyle/>
          <a:p>
            <a:pPr algn="ctr">
              <a:spcAft>
                <a:spcPts val="400"/>
              </a:spcAft>
            </a:pPr>
            <a:r>
              <a:rPr sz="1900" b="1" i="0">
                <a:solidFill>
                  <a:srgbClr val="00C2B2"/>
                </a:solidFill>
                <a:latin typeface="Cambria"/>
              </a:rPr>
              <a:t>37 → 2</a:t>
            </a:r>
          </a:p>
        </p:txBody>
      </p:sp>
      <p:sp>
        <p:nvSpPr>
          <p:cNvPr id="7" name="TextBox 6"/>
          <p:cNvSpPr txBox="1"/>
          <p:nvPr/>
        </p:nvSpPr>
        <p:spPr>
          <a:xfrm>
            <a:off x="822960" y="3127248"/>
            <a:ext cx="1874520" cy="219456"/>
          </a:xfrm>
          <a:prstGeom prst="rect">
            <a:avLst/>
          </a:prstGeom>
          <a:noFill/>
        </p:spPr>
        <p:txBody>
          <a:bodyPr wrap="square" lIns="0" rIns="0" tIns="0" bIns="0" anchor="t">
            <a:spAutoFit/>
          </a:bodyPr>
          <a:lstStyle/>
          <a:p>
            <a:pPr algn="ctr">
              <a:spcAft>
                <a:spcPts val="400"/>
              </a:spcAft>
            </a:pPr>
            <a:r>
              <a:rPr sz="850" b="0" i="0">
                <a:solidFill>
                  <a:srgbClr val="9FB2C8"/>
                </a:solidFill>
                <a:latin typeface="Calibri"/>
              </a:rPr>
              <a:t>tables to query</a:t>
            </a:r>
          </a:p>
        </p:txBody>
      </p:sp>
      <p:sp>
        <p:nvSpPr>
          <p:cNvPr id="8" name="TextBox 7"/>
          <p:cNvSpPr txBox="1"/>
          <p:nvPr/>
        </p:nvSpPr>
        <p:spPr>
          <a:xfrm>
            <a:off x="2743200" y="2761488"/>
            <a:ext cx="1874520" cy="347472"/>
          </a:xfrm>
          <a:prstGeom prst="rect">
            <a:avLst/>
          </a:prstGeom>
          <a:noFill/>
        </p:spPr>
        <p:txBody>
          <a:bodyPr wrap="square" lIns="0" rIns="0" tIns="0" bIns="0" anchor="t">
            <a:spAutoFit/>
          </a:bodyPr>
          <a:lstStyle/>
          <a:p>
            <a:pPr algn="ctr">
              <a:spcAft>
                <a:spcPts val="400"/>
              </a:spcAft>
            </a:pPr>
            <a:r>
              <a:rPr sz="1900" b="1" i="0">
                <a:solidFill>
                  <a:srgbClr val="00C2B2"/>
                </a:solidFill>
                <a:latin typeface="Cambria"/>
              </a:rPr>
              <a:t>7,613</a:t>
            </a:r>
          </a:p>
        </p:txBody>
      </p:sp>
      <p:sp>
        <p:nvSpPr>
          <p:cNvPr id="9" name="TextBox 8"/>
          <p:cNvSpPr txBox="1"/>
          <p:nvPr/>
        </p:nvSpPr>
        <p:spPr>
          <a:xfrm>
            <a:off x="2743200" y="3127248"/>
            <a:ext cx="1874520" cy="219456"/>
          </a:xfrm>
          <a:prstGeom prst="rect">
            <a:avLst/>
          </a:prstGeom>
          <a:noFill/>
        </p:spPr>
        <p:txBody>
          <a:bodyPr wrap="square" lIns="0" rIns="0" tIns="0" bIns="0" anchor="t">
            <a:spAutoFit/>
          </a:bodyPr>
          <a:lstStyle/>
          <a:p>
            <a:pPr algn="ctr">
              <a:spcAft>
                <a:spcPts val="400"/>
              </a:spcAft>
            </a:pPr>
            <a:r>
              <a:rPr sz="850" b="0" i="0">
                <a:solidFill>
                  <a:srgbClr val="9FB2C8"/>
                </a:solidFill>
                <a:latin typeface="Calibri"/>
              </a:rPr>
              <a:t>nodes</a:t>
            </a:r>
          </a:p>
        </p:txBody>
      </p:sp>
      <p:sp>
        <p:nvSpPr>
          <p:cNvPr id="10" name="TextBox 9"/>
          <p:cNvSpPr txBox="1"/>
          <p:nvPr/>
        </p:nvSpPr>
        <p:spPr>
          <a:xfrm>
            <a:off x="4663440" y="2761488"/>
            <a:ext cx="1874520" cy="347472"/>
          </a:xfrm>
          <a:prstGeom prst="rect">
            <a:avLst/>
          </a:prstGeom>
          <a:noFill/>
        </p:spPr>
        <p:txBody>
          <a:bodyPr wrap="square" lIns="0" rIns="0" tIns="0" bIns="0" anchor="t">
            <a:spAutoFit/>
          </a:bodyPr>
          <a:lstStyle/>
          <a:p>
            <a:pPr algn="ctr">
              <a:spcAft>
                <a:spcPts val="400"/>
              </a:spcAft>
            </a:pPr>
            <a:r>
              <a:rPr sz="1900" b="1" i="0">
                <a:solidFill>
                  <a:srgbClr val="00C2B2"/>
                </a:solidFill>
                <a:latin typeface="Cambria"/>
              </a:rPr>
              <a:t>26,524</a:t>
            </a:r>
          </a:p>
        </p:txBody>
      </p:sp>
      <p:sp>
        <p:nvSpPr>
          <p:cNvPr id="11" name="TextBox 10"/>
          <p:cNvSpPr txBox="1"/>
          <p:nvPr/>
        </p:nvSpPr>
        <p:spPr>
          <a:xfrm>
            <a:off x="4663440" y="3127248"/>
            <a:ext cx="1874520" cy="219456"/>
          </a:xfrm>
          <a:prstGeom prst="rect">
            <a:avLst/>
          </a:prstGeom>
          <a:noFill/>
        </p:spPr>
        <p:txBody>
          <a:bodyPr wrap="square" lIns="0" rIns="0" tIns="0" bIns="0" anchor="t">
            <a:spAutoFit/>
          </a:bodyPr>
          <a:lstStyle/>
          <a:p>
            <a:pPr algn="ctr">
              <a:spcAft>
                <a:spcPts val="400"/>
              </a:spcAft>
            </a:pPr>
            <a:r>
              <a:rPr sz="850" b="0" i="0">
                <a:solidFill>
                  <a:srgbClr val="9FB2C8"/>
                </a:solidFill>
                <a:latin typeface="Calibri"/>
              </a:rPr>
              <a:t>edges</a:t>
            </a:r>
          </a:p>
        </p:txBody>
      </p:sp>
      <p:sp>
        <p:nvSpPr>
          <p:cNvPr id="12" name="TextBox 11"/>
          <p:cNvSpPr txBox="1"/>
          <p:nvPr/>
        </p:nvSpPr>
        <p:spPr>
          <a:xfrm>
            <a:off x="6583680" y="2761488"/>
            <a:ext cx="1874520" cy="347472"/>
          </a:xfrm>
          <a:prstGeom prst="rect">
            <a:avLst/>
          </a:prstGeom>
          <a:noFill/>
        </p:spPr>
        <p:txBody>
          <a:bodyPr wrap="square" lIns="0" rIns="0" tIns="0" bIns="0" anchor="t">
            <a:spAutoFit/>
          </a:bodyPr>
          <a:lstStyle/>
          <a:p>
            <a:pPr algn="ctr">
              <a:spcAft>
                <a:spcPts val="400"/>
              </a:spcAft>
            </a:pPr>
            <a:r>
              <a:rPr sz="1900" b="1" i="0">
                <a:solidFill>
                  <a:srgbClr val="00C2B2"/>
                </a:solidFill>
                <a:latin typeface="Cambria"/>
              </a:rPr>
              <a:t>9/10</a:t>
            </a:r>
          </a:p>
        </p:txBody>
      </p:sp>
      <p:sp>
        <p:nvSpPr>
          <p:cNvPr id="13" name="TextBox 12"/>
          <p:cNvSpPr txBox="1"/>
          <p:nvPr/>
        </p:nvSpPr>
        <p:spPr>
          <a:xfrm>
            <a:off x="6583680" y="3127248"/>
            <a:ext cx="1874520" cy="219456"/>
          </a:xfrm>
          <a:prstGeom prst="rect">
            <a:avLst/>
          </a:prstGeom>
          <a:noFill/>
        </p:spPr>
        <p:txBody>
          <a:bodyPr wrap="square" lIns="0" rIns="0" tIns="0" bIns="0" anchor="t">
            <a:spAutoFit/>
          </a:bodyPr>
          <a:lstStyle/>
          <a:p>
            <a:pPr algn="ctr">
              <a:spcAft>
                <a:spcPts val="400"/>
              </a:spcAft>
            </a:pPr>
            <a:r>
              <a:rPr sz="850" b="0" i="0">
                <a:solidFill>
                  <a:srgbClr val="9FB2C8"/>
                </a:solidFill>
                <a:latin typeface="Calibri"/>
              </a:rPr>
              <a:t>verified exact</a:t>
            </a:r>
          </a:p>
        </p:txBody>
      </p:sp>
      <p:sp>
        <p:nvSpPr>
          <p:cNvPr id="14" name="TextBox 13"/>
          <p:cNvSpPr txBox="1"/>
          <p:nvPr/>
        </p:nvSpPr>
        <p:spPr>
          <a:xfrm>
            <a:off x="502920" y="3529584"/>
            <a:ext cx="8138160" cy="256032"/>
          </a:xfrm>
          <a:prstGeom prst="rect">
            <a:avLst/>
          </a:prstGeom>
          <a:noFill/>
        </p:spPr>
        <p:txBody>
          <a:bodyPr wrap="square" lIns="0" rIns="0" tIns="0" bIns="0" anchor="t">
            <a:spAutoFit/>
          </a:bodyPr>
          <a:lstStyle/>
          <a:p>
            <a:pPr algn="ctr">
              <a:spcAft>
                <a:spcPts val="400"/>
              </a:spcAft>
            </a:pPr>
            <a:r>
              <a:rPr sz="1100" b="1" i="0">
                <a:solidFill>
                  <a:srgbClr val="18A0FB"/>
                </a:solidFill>
                <a:latin typeface="Consolas"/>
              </a:rPr>
              <a:t>github.com/mvbalaji/supplychain_KG</a:t>
            </a:r>
          </a:p>
        </p:txBody>
      </p:sp>
      <p:sp>
        <p:nvSpPr>
          <p:cNvPr id="15" name="TextBox 14"/>
          <p:cNvSpPr txBox="1"/>
          <p:nvPr/>
        </p:nvSpPr>
        <p:spPr>
          <a:xfrm>
            <a:off x="502920" y="3913632"/>
            <a:ext cx="8138160" cy="274320"/>
          </a:xfrm>
          <a:prstGeom prst="rect">
            <a:avLst/>
          </a:prstGeom>
          <a:noFill/>
        </p:spPr>
        <p:txBody>
          <a:bodyPr wrap="square" lIns="0" rIns="0" tIns="0" bIns="0" anchor="t">
            <a:spAutoFit/>
          </a:bodyPr>
          <a:lstStyle/>
          <a:p>
            <a:pPr algn="ctr">
              <a:spcAft>
                <a:spcPts val="400"/>
              </a:spcAft>
            </a:pPr>
            <a:r>
              <a:rPr sz="1000" b="0" i="0">
                <a:solidFill>
                  <a:srgbClr val="9FB2C8"/>
                </a:solidFill>
                <a:latin typeface="Calibri"/>
              </a:rPr>
              <a:t>Graph Runners  ·  CoCo CLI Hackathon, GCC Edition  ·  All data synthetic</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